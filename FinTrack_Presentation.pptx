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59" r:id="rId1"/>
  </p:sldMasterIdLst>
  <p:notesMasterIdLst>
    <p:notesMasterId r:id="rId14"/>
  </p:notesMasterIdLst>
  <p:sldIdLst>
    <p:sldId id="965" r:id="rId2"/>
    <p:sldId id="966" r:id="rId3"/>
    <p:sldId id="1020" r:id="rId4"/>
    <p:sldId id="1021" r:id="rId5"/>
    <p:sldId id="1022" r:id="rId6"/>
    <p:sldId id="1023" r:id="rId7"/>
    <p:sldId id="1024" r:id="rId8"/>
    <p:sldId id="1025" r:id="rId9"/>
    <p:sldId id="1028" r:id="rId10"/>
    <p:sldId id="1027" r:id="rId11"/>
    <p:sldId id="1026" r:id="rId12"/>
    <p:sldId id="1008" r:id="rId1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1pPr>
    <a:lvl2pPr marL="0" marR="0" indent="4572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2pPr>
    <a:lvl3pPr marL="0" marR="0" indent="9144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3pPr>
    <a:lvl4pPr marL="0" marR="0" indent="13716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4pPr>
    <a:lvl5pPr marL="0" marR="0" indent="182880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A02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7F3F4"/>
          </a:solidFill>
        </a:fill>
      </a:tcStyle>
    </a:wholeTbl>
    <a:band2H>
      <a:tcTxStyle/>
      <a:tcStyle>
        <a:tcBdr/>
        <a:fill>
          <a:solidFill>
            <a:srgbClr val="F3F9F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77" autoAdjust="0"/>
    <p:restoredTop sz="94660"/>
  </p:normalViewPr>
  <p:slideViewPr>
    <p:cSldViewPr snapToGrid="0">
      <p:cViewPr varScale="1">
        <p:scale>
          <a:sx n="82" d="100"/>
          <a:sy n="82" d="100"/>
        </p:scale>
        <p:origin x="576" y="5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6" name="Shape 126"/>
          <p:cNvSpPr>
            <a:spLocks noGrp="1" noRot="1" noChangeAspect="1"/>
          </p:cNvSpPr>
          <p:nvPr>
            <p:ph type="sldImg"/>
          </p:nvPr>
        </p:nvSpPr>
        <p:spPr>
          <a:xfrm>
            <a:off x="381000" y="685800"/>
            <a:ext cx="6096000" cy="3429000"/>
          </a:xfrm>
          <a:prstGeom prst="rect">
            <a:avLst/>
          </a:prstGeom>
        </p:spPr>
        <p:txBody>
          <a:bodyPr/>
          <a:lstStyle/>
          <a:p>
            <a:endParaRPr/>
          </a:p>
        </p:txBody>
      </p:sp>
      <p:sp>
        <p:nvSpPr>
          <p:cNvPr id="127" name="Shape 127"/>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2477739982"/>
      </p:ext>
    </p:extLst>
  </p:cSld>
  <p:clrMap bg1="lt1" tx1="dk1" bg2="lt2" tx2="dk2" accent1="accent1" accent2="accent2" accent3="accent3" accent4="accent4" accent5="accent5" accent6="accent6" hlink="hlink" folHlink="folHlink"/>
  <p:notesStyle>
    <a:lvl1pPr latinLnBrk="0">
      <a:spcBef>
        <a:spcPts val="400"/>
      </a:spcBef>
      <a:defRPr sz="1200">
        <a:latin typeface="+mn-lt"/>
        <a:ea typeface="+mn-ea"/>
        <a:cs typeface="+mn-cs"/>
        <a:sym typeface="Arial"/>
      </a:defRPr>
    </a:lvl1pPr>
    <a:lvl2pPr indent="228600" latinLnBrk="0">
      <a:spcBef>
        <a:spcPts val="400"/>
      </a:spcBef>
      <a:defRPr sz="1200">
        <a:latin typeface="+mn-lt"/>
        <a:ea typeface="+mn-ea"/>
        <a:cs typeface="+mn-cs"/>
        <a:sym typeface="Arial"/>
      </a:defRPr>
    </a:lvl2pPr>
    <a:lvl3pPr indent="457200" latinLnBrk="0">
      <a:spcBef>
        <a:spcPts val="400"/>
      </a:spcBef>
      <a:defRPr sz="1200">
        <a:latin typeface="+mn-lt"/>
        <a:ea typeface="+mn-ea"/>
        <a:cs typeface="+mn-cs"/>
        <a:sym typeface="Arial"/>
      </a:defRPr>
    </a:lvl3pPr>
    <a:lvl4pPr indent="685800" latinLnBrk="0">
      <a:spcBef>
        <a:spcPts val="400"/>
      </a:spcBef>
      <a:defRPr sz="1200">
        <a:latin typeface="+mn-lt"/>
        <a:ea typeface="+mn-ea"/>
        <a:cs typeface="+mn-cs"/>
        <a:sym typeface="Arial"/>
      </a:defRPr>
    </a:lvl4pPr>
    <a:lvl5pPr indent="914400" latinLnBrk="0">
      <a:spcBef>
        <a:spcPts val="400"/>
      </a:spcBef>
      <a:defRPr sz="1200">
        <a:latin typeface="+mn-lt"/>
        <a:ea typeface="+mn-ea"/>
        <a:cs typeface="+mn-cs"/>
        <a:sym typeface="Arial"/>
      </a:defRPr>
    </a:lvl5pPr>
    <a:lvl6pPr indent="1143000" latinLnBrk="0">
      <a:spcBef>
        <a:spcPts val="400"/>
      </a:spcBef>
      <a:defRPr sz="1200">
        <a:latin typeface="+mn-lt"/>
        <a:ea typeface="+mn-ea"/>
        <a:cs typeface="+mn-cs"/>
        <a:sym typeface="Arial"/>
      </a:defRPr>
    </a:lvl6pPr>
    <a:lvl7pPr indent="1371600" latinLnBrk="0">
      <a:spcBef>
        <a:spcPts val="400"/>
      </a:spcBef>
      <a:defRPr sz="1200">
        <a:latin typeface="+mn-lt"/>
        <a:ea typeface="+mn-ea"/>
        <a:cs typeface="+mn-cs"/>
        <a:sym typeface="Arial"/>
      </a:defRPr>
    </a:lvl7pPr>
    <a:lvl8pPr indent="1600200" latinLnBrk="0">
      <a:spcBef>
        <a:spcPts val="400"/>
      </a:spcBef>
      <a:defRPr sz="1200">
        <a:latin typeface="+mn-lt"/>
        <a:ea typeface="+mn-ea"/>
        <a:cs typeface="+mn-cs"/>
        <a:sym typeface="Arial"/>
      </a:defRPr>
    </a:lvl8pPr>
    <a:lvl9pPr indent="1828800" latinLnBrk="0">
      <a:spcBef>
        <a:spcPts val="400"/>
      </a:spcBef>
      <a:defRPr sz="1200">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Introduce the team, the guide and the project title. MedShare is a DBMS project for sharing medical equipment between hospitals.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Explain the real problem: some hospitals are short of equipment while others have unused units. There is no shared database to see what is available, so requests and transfers are not tracked. MedShare solves this with one central database.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18371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Read the six objectives. Then explain the three types of users and what each can do. Technology: React frontend, Node + Express backend, MySQL 8 database. The main focus of this project is the database.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70116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Dark boxes are strong entities, light boxes are dependent (transaction) entities. Follow the main path: Region to Hospital to Equipment Units. Hospital raises Equipment Requests, other hospitals send Request Offers, an accepted offer becomes Transfers, and every move is saved in Unit Movements. Unfulfilled requests become Escalations to a Health Authority. Health Authorities have a self-relationship: a district office points to its state office. Government support can be a grant (funding disbursements) or a loan, and a loan has many repayments.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873865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Strong entities like hospitals and equipment units exist on their own. Dependent entities like requests, offers and loan repayments only make sense when linked to a strong entity. Important: they are not classic weak entities, because each still has its own primary key in our tables.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28817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All 19 tables are grouped into four groups. Below are four important tables with their primary keys, foreign keys and unique columns. Note equipment_units has two hospital foreign keys: owner_hospital_id (who owns it) and current_hospital_id (who is holding it now).</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3669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Primary key identifies a row, foreign key links tables, UNIQUE stops duplicates, CHECK enforces rules, ENUM limits values, INDEX makes search faster. Show the three CHECK examples. On the right, each relationship is one-to-many and the foreign key column is written next to it.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91143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1NF: each column has one value. 2NF: every non-key column depends on the whole primary key. 3NF: no non-key column depends on another non-key column. Example: if region_name is kept inside hospitals, it repeats for every hospital in the same region and depends on region_id. So we move it to a separate regions table and keep only region_id as a foreign key in hospitals.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DB350FE-8016-4072-9530-04FB546F7531}"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29839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Procedures: the main steps like create request, make offer, accept offer, dispatch, receive and return. Functions: fn_distance_km uses the Haversine formula, fn_available_count counts available units, fn_calculate_emi calculates the loan EMI. Triggers: for example a hospital cannot offer to its own request, and every change is written to audit_log. Views: ready-made queries for dashboards.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sp_accept_offer runs inside one transaction: it locks the offer and request rows with SELECT FOR UPDATE, checks that units are still available, reserves them, updates the request and notifies the lender, then commits. If anything fails, the handler does ROLLBACK. Because of row locking, two users accepting at the same time cannot reserve the same units. Security: the app uses its own MySQL user with limited privileges, bcrypt passwords, JWT login and role checks.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Walk through the flow from left to right. If no hospital helps, the request is escalated to the health authority. Read the project numbers and seed data. Finish with the conclusion and future scope, then show the demo.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8401C-3D73-9145-9D27-022775352CD7}"/>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8FC3C5-2E28-584B-9E08-C350F04738FA}"/>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3E1AA21-1AC4-EE4A-9EE6-2CF249667C78}"/>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B026A89-F6F6-594C-B1D8-D2FE52E181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25ABD8-565B-E441-A71D-873F53B630F7}"/>
              </a:ext>
            </a:extLst>
          </p:cNvPr>
          <p:cNvSpPr>
            <a:spLocks noGrp="1"/>
          </p:cNvSpPr>
          <p:nvPr>
            <p:ph type="sldNum" sz="quarter" idx="12"/>
          </p:nvPr>
        </p:nvSpPr>
        <p:spPr/>
        <p:txBody>
          <a:bodyPr/>
          <a:lstStyle/>
          <a:p>
            <a:fld id="{71766878-3199-4EAB-94E7-2D6D11070E14}" type="slidenum">
              <a:rPr lang="en-US" smtClean="0"/>
              <a:pPr/>
              <a:t>‹#›</a:t>
            </a:fld>
            <a:endParaRPr lang="en-US"/>
          </a:p>
        </p:txBody>
      </p:sp>
    </p:spTree>
    <p:extLst>
      <p:ext uri="{BB962C8B-B14F-4D97-AF65-F5344CB8AC3E}">
        <p14:creationId xmlns:p14="http://schemas.microsoft.com/office/powerpoint/2010/main" val="3474907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CFECE9-D645-0540-9DA0-AEC7DA1A781C}"/>
              </a:ext>
            </a:extLst>
          </p:cNvPr>
          <p:cNvSpPr>
            <a:spLocks noGrp="1"/>
          </p:cNvSpPr>
          <p:nvPr>
            <p:ph idx="1"/>
          </p:nvPr>
        </p:nvSpPr>
        <p:spPr>
          <a:xfrm>
            <a:off x="341197" y="1137256"/>
            <a:ext cx="11436823" cy="4908082"/>
          </a:xfrm>
        </p:spPr>
        <p:txBody>
          <a:bodyPr/>
          <a:lstStyle>
            <a:lvl1pPr>
              <a:defRPr>
                <a:latin typeface="Georgia" panose="02040502050405020303" pitchFamily="18" charset="0"/>
              </a:defRPr>
            </a:lvl1pPr>
            <a:lvl2pPr>
              <a:defRPr>
                <a:latin typeface="Georgia" panose="02040502050405020303" pitchFamily="18" charset="0"/>
              </a:defRPr>
            </a:lvl2pPr>
            <a:lvl3pPr>
              <a:defRPr>
                <a:latin typeface="Georgia" panose="02040502050405020303" pitchFamily="18" charset="0"/>
              </a:defRPr>
            </a:lvl3pPr>
            <a:lvl4pPr>
              <a:defRPr>
                <a:latin typeface="Georgia" panose="02040502050405020303" pitchFamily="18" charset="0"/>
              </a:defRPr>
            </a:lvl4pPr>
            <a:lvl5pPr>
              <a:defRPr>
                <a:latin typeface="Georgia" panose="02040502050405020303"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FB4E98A-97D9-4526-9E90-BA541F5B53B0}"/>
              </a:ext>
            </a:extLst>
          </p:cNvPr>
          <p:cNvSpPr>
            <a:spLocks noGrp="1"/>
          </p:cNvSpPr>
          <p:nvPr>
            <p:ph type="title" hasCustomPrompt="1"/>
          </p:nvPr>
        </p:nvSpPr>
        <p:spPr>
          <a:xfrm>
            <a:off x="341197" y="348665"/>
            <a:ext cx="11436823" cy="421441"/>
          </a:xfrm>
        </p:spPr>
        <p:txBody>
          <a:bodyPr>
            <a:noAutofit/>
          </a:bodyPr>
          <a:lstStyle>
            <a:lvl1pPr>
              <a:defRPr sz="2400" b="0">
                <a:solidFill>
                  <a:srgbClr val="A4123F"/>
                </a:solidFill>
                <a:latin typeface="Georgia" panose="02040502050405020303" pitchFamily="18" charset="0"/>
              </a:defRPr>
            </a:lvl1pPr>
          </a:lstStyle>
          <a:p>
            <a:r>
              <a:rPr lang="en-US"/>
              <a:t>Click Here To Edit Title</a:t>
            </a:r>
            <a:endParaRPr lang="en-IN"/>
          </a:p>
        </p:txBody>
      </p:sp>
      <p:pic>
        <p:nvPicPr>
          <p:cNvPr id="8" name="Picture 7">
            <a:extLst>
              <a:ext uri="{FF2B5EF4-FFF2-40B4-BE49-F238E27FC236}">
                <a16:creationId xmlns:a16="http://schemas.microsoft.com/office/drawing/2014/main" id="{140DA784-0993-4F43-BA98-733CB6486E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489" y="6412495"/>
            <a:ext cx="12218977" cy="478447"/>
          </a:xfrm>
          <a:prstGeom prst="rect">
            <a:avLst/>
          </a:prstGeom>
        </p:spPr>
      </p:pic>
      <p:pic>
        <p:nvPicPr>
          <p:cNvPr id="9" name="Picture 8">
            <a:extLst>
              <a:ext uri="{FF2B5EF4-FFF2-40B4-BE49-F238E27FC236}">
                <a16:creationId xmlns:a16="http://schemas.microsoft.com/office/drawing/2014/main" id="{0AD13F47-3531-4371-B8DB-59E457D073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45255" y="6520072"/>
            <a:ext cx="1262820" cy="283912"/>
          </a:xfrm>
          <a:prstGeom prst="rect">
            <a:avLst/>
          </a:prstGeom>
        </p:spPr>
      </p:pic>
      <p:sp>
        <p:nvSpPr>
          <p:cNvPr id="6" name="Slide Number Placeholder 5">
            <a:extLst>
              <a:ext uri="{FF2B5EF4-FFF2-40B4-BE49-F238E27FC236}">
                <a16:creationId xmlns:a16="http://schemas.microsoft.com/office/drawing/2014/main" id="{8325ABD8-565B-E441-A71D-873F53B630F7}"/>
              </a:ext>
            </a:extLst>
          </p:cNvPr>
          <p:cNvSpPr>
            <a:spLocks noGrp="1"/>
          </p:cNvSpPr>
          <p:nvPr>
            <p:ph type="sldNum" sz="quarter" idx="12"/>
          </p:nvPr>
        </p:nvSpPr>
        <p:spPr>
          <a:xfrm>
            <a:off x="115959" y="6478755"/>
            <a:ext cx="758687" cy="365125"/>
          </a:xfrm>
        </p:spPr>
        <p:txBody>
          <a:bodyPr/>
          <a:lstStyle>
            <a:lvl1pPr>
              <a:defRPr sz="1200">
                <a:solidFill>
                  <a:schemeClr val="bg1"/>
                </a:solidFill>
              </a:defRPr>
            </a:lvl1pPr>
          </a:lstStyle>
          <a:p>
            <a:fld id="{71766878-3199-4EAB-94E7-2D6D11070E14}" type="slidenum">
              <a:rPr lang="en-US" smtClean="0"/>
              <a:pPr/>
              <a:t>‹#›</a:t>
            </a:fld>
            <a:endParaRPr lang="en-US"/>
          </a:p>
        </p:txBody>
      </p:sp>
    </p:spTree>
    <p:extLst>
      <p:ext uri="{BB962C8B-B14F-4D97-AF65-F5344CB8AC3E}">
        <p14:creationId xmlns:p14="http://schemas.microsoft.com/office/powerpoint/2010/main" val="3786509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0" name="Title Text"/>
          <p:cNvSpPr txBox="1">
            <a:spLocks noGrp="1"/>
          </p:cNvSpPr>
          <p:nvPr>
            <p:ph type="title"/>
          </p:nvPr>
        </p:nvSpPr>
        <p:spPr>
          <a:prstGeom prst="rect">
            <a:avLst/>
          </a:prstGeom>
        </p:spPr>
        <p:txBody>
          <a:bodyPr/>
          <a:lstStyle/>
          <a:p>
            <a:r>
              <a:t>Title Text</a:t>
            </a:r>
          </a:p>
        </p:txBody>
      </p:sp>
    </p:spTree>
    <p:extLst>
      <p:ext uri="{BB962C8B-B14F-4D97-AF65-F5344CB8AC3E}">
        <p14:creationId xmlns:p14="http://schemas.microsoft.com/office/powerpoint/2010/main" val="1296783849"/>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1015E1-575C-CC43-8E0C-38A94C0D07B1}"/>
              </a:ext>
            </a:extLst>
          </p:cNvPr>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D70D65-9225-7C42-BE9D-7E7ACD2302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5A4A-C107-8941-A91D-265C67035296}"/>
              </a:ext>
            </a:extLst>
          </p:cNvPr>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79748F1F-AA4B-E44F-87CA-30B4D3D4B1A6}"/>
              </a:ext>
            </a:extLst>
          </p:cNvPr>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1F76259-99F7-DF4A-8A42-0737A8CCEBF7}"/>
              </a:ext>
            </a:extLst>
          </p:cNvPr>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1766878-3199-4EAB-94E7-2D6D11070E14}" type="slidenum">
              <a:rPr lang="en-US" smtClean="0"/>
              <a:pPr/>
              <a:t>‹#›</a:t>
            </a:fld>
            <a:endParaRPr lang="en-US"/>
          </a:p>
        </p:txBody>
      </p:sp>
    </p:spTree>
    <p:extLst>
      <p:ext uri="{BB962C8B-B14F-4D97-AF65-F5344CB8AC3E}">
        <p14:creationId xmlns:p14="http://schemas.microsoft.com/office/powerpoint/2010/main" val="2034448342"/>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3" r:id="rId3"/>
  </p:sldLayoutIdLst>
  <p:hf hdr="0" ftr="0" dt="0"/>
  <p:txStyles>
    <p:titleStyle>
      <a:lvl1pPr algn="l" defTabSz="685800" rtl="0" eaLnBrk="1" latinLnBrk="0" hangingPunct="1">
        <a:lnSpc>
          <a:spcPct val="90000"/>
        </a:lnSpc>
        <a:spcBef>
          <a:spcPct val="0"/>
        </a:spcBef>
        <a:buNone/>
        <a:defRPr sz="3000" kern="1200">
          <a:solidFill>
            <a:schemeClr val="tx1"/>
          </a:solidFill>
          <a:latin typeface="Georgia" panose="02040502050405020303" pitchFamily="18"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6F7BCD-DE16-49A3-B1A7-AEBDA2E5992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8DECB28-C985-4B5A-9CDD-08CA290545D3}"/>
              </a:ext>
            </a:extLst>
          </p:cNvPr>
          <p:cNvSpPr>
            <a:spLocks noGrp="1"/>
          </p:cNvSpPr>
          <p:nvPr>
            <p:ph type="subTitle" idx="1"/>
          </p:nvPr>
        </p:nvSpPr>
        <p:spPr/>
        <p:txBody>
          <a:bodyPr/>
          <a:lstStyle/>
          <a:p>
            <a:endParaRPr lang="en-US"/>
          </a:p>
        </p:txBody>
      </p:sp>
      <p:sp>
        <p:nvSpPr>
          <p:cNvPr id="4" name="Rectangle 3">
            <a:extLst>
              <a:ext uri="{FF2B5EF4-FFF2-40B4-BE49-F238E27FC236}">
                <a16:creationId xmlns:a16="http://schemas.microsoft.com/office/drawing/2014/main" id="{BC0CFD00-3FA3-41EB-9053-EE933B60616C}"/>
              </a:ext>
            </a:extLst>
          </p:cNvPr>
          <p:cNvSpPr/>
          <p:nvPr/>
        </p:nvSpPr>
        <p:spPr>
          <a:xfrm>
            <a:off x="0" y="-4762"/>
            <a:ext cx="12192000" cy="7213600"/>
          </a:xfrm>
          <a:prstGeom prst="rect">
            <a:avLst/>
          </a:prstGeom>
          <a:solidFill>
            <a:srgbClr val="B811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4400" dirty="0">
              <a:solidFill>
                <a:prstClr val="white"/>
              </a:solidFill>
              <a:latin typeface="Georgia" panose="02040502050405020303" pitchFamily="18" charset="0"/>
            </a:endParaRPr>
          </a:p>
        </p:txBody>
      </p:sp>
      <p:pic>
        <p:nvPicPr>
          <p:cNvPr id="6" name="Picture 5" descr="A picture containing drawing&#10;&#10;Description automatically generated">
            <a:extLst>
              <a:ext uri="{FF2B5EF4-FFF2-40B4-BE49-F238E27FC236}">
                <a16:creationId xmlns:a16="http://schemas.microsoft.com/office/drawing/2014/main" id="{601DD6C4-398E-4151-A3CB-D0D93CDFAAEE}"/>
              </a:ext>
            </a:extLst>
          </p:cNvPr>
          <p:cNvPicPr>
            <a:picLocks noChangeAspect="1"/>
          </p:cNvPicPr>
          <p:nvPr/>
        </p:nvPicPr>
        <p:blipFill>
          <a:blip r:embed="rId3"/>
          <a:stretch>
            <a:fillRect/>
          </a:stretch>
        </p:blipFill>
        <p:spPr>
          <a:xfrm>
            <a:off x="7601101" y="5349875"/>
            <a:ext cx="4590899" cy="1473199"/>
          </a:xfrm>
          <a:prstGeom prst="rect">
            <a:avLst/>
          </a:prstGeom>
        </p:spPr>
      </p:pic>
      <p:sp>
        <p:nvSpPr>
          <p:cNvPr id="9" name="Slide Number Placeholder 1">
            <a:extLst>
              <a:ext uri="{FF2B5EF4-FFF2-40B4-BE49-F238E27FC236}">
                <a16:creationId xmlns:a16="http://schemas.microsoft.com/office/drawing/2014/main" id="{D6331B53-2438-4F04-85AA-8E0753CB5A59}"/>
              </a:ext>
            </a:extLst>
          </p:cNvPr>
          <p:cNvSpPr>
            <a:spLocks noGrp="1"/>
          </p:cNvSpPr>
          <p:nvPr>
            <p:ph type="sldNum" sz="quarter" idx="12"/>
          </p:nvPr>
        </p:nvSpPr>
        <p:spPr>
          <a:xfrm>
            <a:off x="8610600" y="6356350"/>
            <a:ext cx="2743200" cy="365125"/>
          </a:xfrm>
        </p:spPr>
        <p:txBody>
          <a:bodyPr/>
          <a:lstStyle/>
          <a:p>
            <a:fld id="{71766878-3199-4EAB-94E7-2D6D11070E14}" type="slidenum">
              <a:rPr lang="en-US" smtClean="0"/>
              <a:pPr/>
              <a:t>1</a:t>
            </a:fld>
            <a:endParaRPr lang="en-US" dirty="0"/>
          </a:p>
        </p:txBody>
      </p:sp>
      <p:sp>
        <p:nvSpPr>
          <p:cNvPr id="10" name="Rectangle 9">
            <a:extLst>
              <a:ext uri="{FF2B5EF4-FFF2-40B4-BE49-F238E27FC236}">
                <a16:creationId xmlns:a16="http://schemas.microsoft.com/office/drawing/2014/main" id="{4765D4A2-2674-4D26-B5DA-1CFF8AFC3301}"/>
              </a:ext>
            </a:extLst>
          </p:cNvPr>
          <p:cNvSpPr/>
          <p:nvPr/>
        </p:nvSpPr>
        <p:spPr>
          <a:xfrm>
            <a:off x="352430" y="245200"/>
            <a:ext cx="11487140" cy="523220"/>
          </a:xfrm>
          <a:prstGeom prst="rect">
            <a:avLst/>
          </a:prstGeom>
          <a:noFill/>
        </p:spPr>
        <p:txBody>
          <a:bodyPr wrap="square" lIns="91440" tIns="45720" rIns="91440" bIns="45720" anchor="t">
            <a:spAutoFit/>
          </a:bodyPr>
          <a:lstStyle/>
          <a:p>
            <a:pPr>
              <a:defRPr sz="2800" b="1">
                <a:latin typeface="Calibri"/>
              </a:defRPr>
            </a:pPr>
            <a:r>
              <a:t>FINTRACK</a:t>
            </a:r>
          </a:p>
        </p:txBody>
      </p:sp>
      <p:sp>
        <p:nvSpPr>
          <p:cNvPr id="14" name="Team Members     Group No: 13…">
            <a:extLst>
              <a:ext uri="{FF2B5EF4-FFF2-40B4-BE49-F238E27FC236}">
                <a16:creationId xmlns:a16="http://schemas.microsoft.com/office/drawing/2014/main" id="{D2EE4D94-3119-A8EC-3E4E-C059441E1B2A}"/>
              </a:ext>
            </a:extLst>
          </p:cNvPr>
          <p:cNvSpPr txBox="1"/>
          <p:nvPr/>
        </p:nvSpPr>
        <p:spPr>
          <a:xfrm>
            <a:off x="1784417" y="2401956"/>
            <a:ext cx="8883583" cy="254548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noAutofit/>
          </a:bodyPr>
          <a:lstStyle/>
          <a:p>
            <a:r>
              <a:t>Team_No:  13                    		   		 Project  Advisor:  Divya K V</a:t>
            </a:r>
          </a:p>
        </p:txBody>
      </p:sp>
      <p:sp>
        <p:nvSpPr>
          <p:cNvPr id="17" name="TextBox 16"/>
          <p:cNvSpPr txBox="1"/>
          <p:nvPr/>
        </p:nvSpPr>
        <p:spPr>
          <a:xfrm>
            <a:off x="822960" y="841248"/>
            <a:ext cx="10561320" cy="457200"/>
          </a:xfrm>
          <a:prstGeom prst="rect">
            <a:avLst/>
          </a:prstGeom>
          <a:noFill/>
        </p:spPr>
        <p:txBody>
          <a:bodyPr wrap="square" lIns="36576" tIns="36576" rIns="36576" bIns="36576" anchor="t">
            <a:spAutoFit/>
          </a:bodyPr>
          <a:lstStyle/>
          <a:p>
            <a:pPr>
              <a:defRPr sz="1600" b="1">
                <a:latin typeface="Calibri"/>
              </a:defRPr>
            </a:pPr>
            <a:r>
              <a:t>Personal Finance Management &amp; Spend Prediction System</a:t>
            </a:r>
          </a:p>
        </p:txBody>
      </p:sp>
      <p:sp>
        <p:nvSpPr>
          <p:cNvPr id="18" name="TextBox 17"/>
          <p:cNvSpPr txBox="1"/>
          <p:nvPr/>
        </p:nvSpPr>
        <p:spPr>
          <a:xfrm>
            <a:off x="822960" y="1325880"/>
            <a:ext cx="10561320" cy="320088"/>
          </a:xfrm>
          <a:prstGeom prst="rect">
            <a:avLst/>
          </a:prstGeom>
          <a:noFill/>
        </p:spPr>
        <p:txBody>
          <a:bodyPr wrap="square" lIns="36576" tIns="36576" rIns="36576" bIns="36576" anchor="t">
            <a:spAutoFit/>
          </a:bodyPr>
          <a:lstStyle/>
          <a:p>
            <a:r>
              <a:t>22AIE303 – Database Management Systems</a:t>
            </a:r>
          </a:p>
        </p:txBody>
      </p:sp>
      <p:graphicFrame>
        <p:nvGraphicFramePr>
          <p:cNvPr id="5" name="Table 4">
            <a:extLst>
              <a:ext uri="{FF2B5EF4-FFF2-40B4-BE49-F238E27FC236}">
                <a16:creationId xmlns:a16="http://schemas.microsoft.com/office/drawing/2014/main" id="{2BAA7EE0-C9C8-EBBC-183F-39AA66A5DEE3}"/>
              </a:ext>
            </a:extLst>
          </p:cNvPr>
          <p:cNvGraphicFramePr>
            <a:graphicFrameLocks noGrp="1"/>
          </p:cNvGraphicFramePr>
          <p:nvPr>
            <p:extLst>
              <p:ext uri="{D42A27DB-BD31-4B8C-83A1-F6EECF244321}">
                <p14:modId xmlns:p14="http://schemas.microsoft.com/office/powerpoint/2010/main" val="3470673375"/>
              </p:ext>
            </p:extLst>
          </p:nvPr>
        </p:nvGraphicFramePr>
        <p:xfrm>
          <a:off x="2039620" y="3118440"/>
          <a:ext cx="8127999" cy="1112520"/>
        </p:xfrm>
        <a:graphic>
          <a:graphicData uri="http://schemas.openxmlformats.org/drawingml/2006/table">
            <a:tbl>
              <a:tblPr firstRow="1" bandRow="1">
                <a:tableStyleId>{5940675A-B579-460E-94D1-54222C63F5DA}</a:tableStyleId>
              </a:tblPr>
              <a:tblGrid>
                <a:gridCol w="964837">
                  <a:extLst>
                    <a:ext uri="{9D8B030D-6E8A-4147-A177-3AD203B41FA5}">
                      <a16:colId xmlns:a16="http://schemas.microsoft.com/office/drawing/2014/main" val="2848098960"/>
                    </a:ext>
                  </a:extLst>
                </a:gridCol>
                <a:gridCol w="4453829">
                  <a:extLst>
                    <a:ext uri="{9D8B030D-6E8A-4147-A177-3AD203B41FA5}">
                      <a16:colId xmlns:a16="http://schemas.microsoft.com/office/drawing/2014/main" val="2209025043"/>
                    </a:ext>
                  </a:extLst>
                </a:gridCol>
                <a:gridCol w="2709333">
                  <a:extLst>
                    <a:ext uri="{9D8B030D-6E8A-4147-A177-3AD203B41FA5}">
                      <a16:colId xmlns:a16="http://schemas.microsoft.com/office/drawing/2014/main" val="1752322375"/>
                    </a:ext>
                  </a:extLst>
                </a:gridCol>
              </a:tblGrid>
              <a:tr h="370840">
                <a:tc>
                  <a:txBody>
                    <a:bodyPr/>
                    <a:lstStyle/>
                    <a:p>
                      <a:r>
                        <a:t>1</a:t>
                      </a:r>
                    </a:p>
                  </a:txBody>
                  <a:tcPr/>
                </a:tc>
                <a:tc>
                  <a:txBody>
                    <a:bodyPr/>
                    <a:lstStyle/>
                    <a:p>
                      <a:r>
                        <a:t>K. Harshith</a:t>
                      </a:r>
                    </a:p>
                  </a:txBody>
                  <a:tcPr/>
                </a:tc>
                <a:tc>
                  <a:txBody>
                    <a:bodyPr/>
                    <a:lstStyle/>
                    <a:p>
                      <a:r>
                        <a:t>23BD1A0583</a:t>
                      </a:r>
                    </a:p>
                  </a:txBody>
                  <a:tcPr/>
                </a:tc>
                <a:extLst>
                  <a:ext uri="{0D108BD9-81ED-4DB2-BD59-A6C34878D82A}">
                    <a16:rowId xmlns:a16="http://schemas.microsoft.com/office/drawing/2014/main" val="1597931389"/>
                  </a:ext>
                </a:extLst>
              </a:tr>
              <a:tr h="370840">
                <a:tc>
                  <a:txBody>
                    <a:bodyPr/>
                    <a:lstStyle/>
                    <a:p>
                      <a:r>
                        <a:t>2</a:t>
                      </a:r>
                    </a:p>
                  </a:txBody>
                  <a:tcPr/>
                </a:tc>
                <a:tc>
                  <a:txBody>
                    <a:bodyPr/>
                    <a:lstStyle/>
                    <a:p>
                      <a:r>
                        <a:t>P. Manideep</a:t>
                      </a:r>
                    </a:p>
                  </a:txBody>
                  <a:tcPr/>
                </a:tc>
                <a:tc>
                  <a:txBody>
                    <a:bodyPr/>
                    <a:lstStyle/>
                    <a:p>
                      <a:r>
                        <a:t>23BD1A05AQ</a:t>
                      </a:r>
                    </a:p>
                  </a:txBody>
                  <a:tcPr/>
                </a:tc>
                <a:extLst>
                  <a:ext uri="{0D108BD9-81ED-4DB2-BD59-A6C34878D82A}">
                    <a16:rowId xmlns:a16="http://schemas.microsoft.com/office/drawing/2014/main" val="3987390952"/>
                  </a:ext>
                </a:extLst>
              </a:tr>
              <a:tr h="370840">
                <a:tc>
                  <a:txBody>
                    <a:bodyPr/>
                    <a:lstStyle/>
                    <a:p>
                      <a:r>
                        <a:t>3</a:t>
                      </a:r>
                    </a:p>
                  </a:txBody>
                  <a:tcPr/>
                </a:tc>
                <a:tc>
                  <a:txBody>
                    <a:bodyPr/>
                    <a:lstStyle/>
                    <a:p>
                      <a:r>
                        <a:t>K. Rishvik</a:t>
                      </a:r>
                    </a:p>
                  </a:txBody>
                  <a:tcPr/>
                </a:tc>
                <a:tc>
                  <a:txBody>
                    <a:bodyPr/>
                    <a:lstStyle/>
                    <a:p>
                      <a:r>
                        <a:t>23BD1A05AM</a:t>
                      </a:r>
                    </a:p>
                  </a:txBody>
                  <a:tcPr/>
                </a:tc>
                <a:extLst>
                  <a:ext uri="{0D108BD9-81ED-4DB2-BD59-A6C34878D82A}">
                    <a16:rowId xmlns:a16="http://schemas.microsoft.com/office/drawing/2014/main" val="2808924925"/>
                  </a:ext>
                </a:extLst>
              </a:tr>
            </a:tbl>
          </a:graphicData>
        </a:graphic>
      </p:graphicFrame>
    </p:spTree>
    <p:extLst>
      <p:ext uri="{BB962C8B-B14F-4D97-AF65-F5344CB8AC3E}">
        <p14:creationId xmlns:p14="http://schemas.microsoft.com/office/powerpoint/2010/main" val="4123341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Introduction – The Problem</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2</a:t>
            </a:fld>
            <a:endParaRPr lang="en-US" kern="1200">
              <a:solidFill>
                <a:prstClr val="white"/>
              </a:solidFill>
              <a:latin typeface="Calibri"/>
              <a:ea typeface="+mn-ea"/>
              <a:cs typeface="+mn-cs"/>
            </a:endParaRPr>
          </a:p>
        </p:txBody>
      </p:sp>
      <p:sp>
        <p:nvSpPr>
          <p:cNvPr id="5" name="TextBox 4"/>
          <p:cNvSpPr txBox="1"/>
          <p:nvPr/>
        </p:nvSpPr>
        <p:spPr>
          <a:xfrm>
            <a:off x="411480" y="640080"/>
            <a:ext cx="5943600" cy="411480"/>
          </a:xfrm>
          <a:prstGeom prst="rect">
            <a:avLst/>
          </a:prstGeom>
          <a:noFill/>
        </p:spPr>
        <p:txBody>
          <a:bodyPr wrap="square" lIns="36576" tIns="36576" rIns="36576" bIns="36576" anchor="t">
            <a:spAutoFit/>
          </a:bodyPr>
          <a:lstStyle/>
          <a:p>
            <a:pPr algn="l"/>
            <a:r>
              <a:rPr sz="2000" b="1" i="0">
                <a:solidFill>
                  <a:srgbClr val="B8114F"/>
                </a:solidFill>
                <a:latin typeface="Calibri"/>
              </a:rPr>
              <a:t>Problem in simple words</a:t>
            </a:r>
          </a:p>
        </p:txBody>
      </p:sp>
      <p:sp>
        <p:nvSpPr>
          <p:cNvPr id="6" name="Rounded Rectangle 5"/>
          <p:cNvSpPr/>
          <p:nvPr/>
        </p:nvSpPr>
        <p:spPr>
          <a:xfrm>
            <a:off x="411480" y="11887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66928" y="1289304"/>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warn_w.png"/>
          <p:cNvPicPr>
            <a:picLocks noChangeAspect="1"/>
          </p:cNvPicPr>
          <p:nvPr/>
        </p:nvPicPr>
        <p:blipFill>
          <a:blip r:embed="rId3"/>
          <a:stretch>
            <a:fillRect/>
          </a:stretch>
        </p:blipFill>
        <p:spPr>
          <a:xfrm>
            <a:off x="698601" y="1420977"/>
            <a:ext cx="285292" cy="285292"/>
          </a:xfrm>
          <a:prstGeom prst="rect">
            <a:avLst/>
          </a:prstGeom>
        </p:spPr>
      </p:pic>
      <p:sp>
        <p:nvSpPr>
          <p:cNvPr id="9" name="TextBox 8"/>
          <p:cNvSpPr txBox="1"/>
          <p:nvPr/>
        </p:nvSpPr>
        <p:spPr>
          <a:xfrm>
            <a:off x="1280160" y="1188720"/>
            <a:ext cx="4846320" cy="749808"/>
          </a:xfrm>
          <a:prstGeom prst="rect">
            <a:avLst/>
          </a:prstGeom>
          <a:noFill/>
        </p:spPr>
        <p:txBody>
          <a:bodyPr wrap="square" lIns="36576" tIns="36576" rIns="36576" bIns="36576" anchor="ctr">
            <a:spAutoFit/>
          </a:bodyPr>
          <a:lstStyle/>
          <a:p>
            <a:r>
              <a:t>Users hold balances across multiple bank accounts, cards &amp; digital wallets.</a:t>
            </a:r>
          </a:p>
        </p:txBody>
      </p:sp>
      <p:sp>
        <p:nvSpPr>
          <p:cNvPr id="10" name="Rounded Rectangle 9"/>
          <p:cNvSpPr/>
          <p:nvPr/>
        </p:nvSpPr>
        <p:spPr>
          <a:xfrm>
            <a:off x="411480" y="21031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566928" y="2203703"/>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hospital_w.png"/>
          <p:cNvPicPr>
            <a:picLocks noChangeAspect="1"/>
          </p:cNvPicPr>
          <p:nvPr/>
        </p:nvPicPr>
        <p:blipFill>
          <a:blip r:embed="rId4"/>
          <a:stretch>
            <a:fillRect/>
          </a:stretch>
        </p:blipFill>
        <p:spPr>
          <a:xfrm>
            <a:off x="698601" y="2335377"/>
            <a:ext cx="285292" cy="285292"/>
          </a:xfrm>
          <a:prstGeom prst="rect">
            <a:avLst/>
          </a:prstGeom>
        </p:spPr>
      </p:pic>
      <p:sp>
        <p:nvSpPr>
          <p:cNvPr id="13" name="TextBox 12"/>
          <p:cNvSpPr txBox="1"/>
          <p:nvPr/>
        </p:nvSpPr>
        <p:spPr>
          <a:xfrm>
            <a:off x="1280160" y="2103120"/>
            <a:ext cx="4846320" cy="749808"/>
          </a:xfrm>
          <a:prstGeom prst="rect">
            <a:avLst/>
          </a:prstGeom>
          <a:noFill/>
        </p:spPr>
        <p:txBody>
          <a:bodyPr wrap="square" lIns="36576" tIns="36576" rIns="36576" bIns="36576" anchor="ctr">
            <a:spAutoFit/>
          </a:bodyPr>
          <a:lstStyle/>
          <a:p>
            <a:r>
              <a:t>Lack of unified tracking leads to unmonitored spending and budget leaks.</a:t>
            </a:r>
          </a:p>
        </p:txBody>
      </p:sp>
      <p:sp>
        <p:nvSpPr>
          <p:cNvPr id="14" name="Rounded Rectangle 13"/>
          <p:cNvSpPr/>
          <p:nvPr/>
        </p:nvSpPr>
        <p:spPr>
          <a:xfrm>
            <a:off x="411480" y="30175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566928" y="3118103"/>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search_w.png"/>
          <p:cNvPicPr>
            <a:picLocks noChangeAspect="1"/>
          </p:cNvPicPr>
          <p:nvPr/>
        </p:nvPicPr>
        <p:blipFill>
          <a:blip r:embed="rId5"/>
          <a:stretch>
            <a:fillRect/>
          </a:stretch>
        </p:blipFill>
        <p:spPr>
          <a:xfrm>
            <a:off x="698601" y="3249777"/>
            <a:ext cx="285292" cy="285292"/>
          </a:xfrm>
          <a:prstGeom prst="rect">
            <a:avLst/>
          </a:prstGeom>
        </p:spPr>
      </p:pic>
      <p:sp>
        <p:nvSpPr>
          <p:cNvPr id="17" name="TextBox 16"/>
          <p:cNvSpPr txBox="1"/>
          <p:nvPr/>
        </p:nvSpPr>
        <p:spPr>
          <a:xfrm>
            <a:off x="1280160" y="3017520"/>
            <a:ext cx="4846320" cy="749808"/>
          </a:xfrm>
          <a:prstGeom prst="rect">
            <a:avLst/>
          </a:prstGeom>
          <a:noFill/>
        </p:spPr>
        <p:txBody>
          <a:bodyPr wrap="square" lIns="36576" tIns="36576" rIns="36576" bIns="36576" anchor="ctr">
            <a:spAutoFit/>
          </a:bodyPr>
          <a:lstStyle/>
          <a:p>
            <a:r>
              <a:t>Manual spreadsheets are delayed, error-prone, and lack live alerts.</a:t>
            </a:r>
          </a:p>
        </p:txBody>
      </p:sp>
      <p:sp>
        <p:nvSpPr>
          <p:cNvPr id="18" name="Rounded Rectangle 17"/>
          <p:cNvSpPr/>
          <p:nvPr/>
        </p:nvSpPr>
        <p:spPr>
          <a:xfrm>
            <a:off x="411480" y="3931920"/>
            <a:ext cx="585216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66928" y="4032504"/>
            <a:ext cx="548640" cy="54864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history_w.png"/>
          <p:cNvPicPr>
            <a:picLocks noChangeAspect="1"/>
          </p:cNvPicPr>
          <p:nvPr/>
        </p:nvPicPr>
        <p:blipFill>
          <a:blip r:embed="rId6"/>
          <a:stretch>
            <a:fillRect/>
          </a:stretch>
        </p:blipFill>
        <p:spPr>
          <a:xfrm>
            <a:off x="698601" y="4164177"/>
            <a:ext cx="285292" cy="285292"/>
          </a:xfrm>
          <a:prstGeom prst="rect">
            <a:avLst/>
          </a:prstGeom>
        </p:spPr>
      </p:pic>
      <p:sp>
        <p:nvSpPr>
          <p:cNvPr id="21" name="TextBox 20"/>
          <p:cNvSpPr txBox="1"/>
          <p:nvPr/>
        </p:nvSpPr>
        <p:spPr>
          <a:xfrm>
            <a:off x="1280160" y="3931920"/>
            <a:ext cx="4846320" cy="749808"/>
          </a:xfrm>
          <a:prstGeom prst="rect">
            <a:avLst/>
          </a:prstGeom>
          <a:noFill/>
        </p:spPr>
        <p:txBody>
          <a:bodyPr wrap="square" lIns="36576" tIns="36576" rIns="36576" bIns="36576" anchor="ctr">
            <a:spAutoFit/>
          </a:bodyPr>
          <a:lstStyle/>
          <a:p>
            <a:r>
              <a:t>Recurring subscriptions silently deduct money without scheduled tracking.</a:t>
            </a:r>
          </a:p>
        </p:txBody>
      </p:sp>
      <p:sp>
        <p:nvSpPr>
          <p:cNvPr id="22" name="Rounded Rectangle 21"/>
          <p:cNvSpPr/>
          <p:nvPr/>
        </p:nvSpPr>
        <p:spPr>
          <a:xfrm>
            <a:off x="6629400" y="731520"/>
            <a:ext cx="5148072" cy="4343400"/>
          </a:xfrm>
          <a:prstGeom prst="roundRect">
            <a:avLst>
              <a:gd name="adj" fmla="val 2526"/>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858000" y="868680"/>
            <a:ext cx="4663440" cy="411480"/>
          </a:xfrm>
          <a:prstGeom prst="rect">
            <a:avLst/>
          </a:prstGeom>
          <a:noFill/>
        </p:spPr>
        <p:txBody>
          <a:bodyPr wrap="square" lIns="36576" tIns="36576" rIns="36576" bIns="36576" anchor="t">
            <a:spAutoFit/>
          </a:bodyPr>
          <a:lstStyle/>
          <a:p>
            <a:pPr algn="l"/>
            <a:r>
              <a:rPr sz="2200" b="1" i="0">
                <a:solidFill>
                  <a:srgbClr val="FFFFFF"/>
                </a:solidFill>
                <a:latin typeface="Calibri"/>
              </a:rPr>
              <a:t>Main Idea</a:t>
            </a:r>
          </a:p>
        </p:txBody>
      </p:sp>
      <p:pic>
        <p:nvPicPr>
          <p:cNvPr id="24" name="Picture 23" descr="hospital_w.png"/>
          <p:cNvPicPr>
            <a:picLocks noChangeAspect="1"/>
          </p:cNvPicPr>
          <p:nvPr/>
        </p:nvPicPr>
        <p:blipFill>
          <a:blip r:embed="rId4"/>
          <a:stretch>
            <a:fillRect/>
          </a:stretch>
        </p:blipFill>
        <p:spPr>
          <a:xfrm>
            <a:off x="7223759" y="1600200"/>
            <a:ext cx="731520" cy="731520"/>
          </a:xfrm>
          <a:prstGeom prst="rect">
            <a:avLst/>
          </a:prstGeom>
        </p:spPr>
      </p:pic>
      <p:sp>
        <p:nvSpPr>
          <p:cNvPr id="25" name="TextBox 24"/>
          <p:cNvSpPr txBox="1"/>
          <p:nvPr/>
        </p:nvSpPr>
        <p:spPr>
          <a:xfrm>
            <a:off x="6812280" y="2423160"/>
            <a:ext cx="1554480" cy="640080"/>
          </a:xfrm>
          <a:prstGeom prst="rect">
            <a:avLst/>
          </a:prstGeom>
          <a:noFill/>
        </p:spPr>
        <p:txBody>
          <a:bodyPr wrap="square" lIns="36576" tIns="36576" rIns="36576" bIns="36576" anchor="t">
            <a:spAutoFit/>
          </a:bodyPr>
          <a:lstStyle/>
          <a:p>
            <a:r>
              <a:t>User / Accounts</a:t>
            </a:r>
          </a:p>
          <a:p>
            <a:r>
              <a:t>log transactions</a:t>
            </a:r>
          </a:p>
        </p:txBody>
      </p:sp>
      <p:cxnSp>
        <p:nvCxnSpPr>
          <p:cNvPr id="26" name="Connector 25"/>
          <p:cNvCxnSpPr/>
          <p:nvPr/>
        </p:nvCxnSpPr>
        <p:spPr>
          <a:xfrm>
            <a:off x="8046720" y="1965960"/>
            <a:ext cx="640080" cy="0"/>
          </a:xfrm>
          <a:prstGeom prst="line">
            <a:avLst/>
          </a:prstGeom>
          <a:ln w="254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27" name="Picture 26" descr="database_w.png"/>
          <p:cNvPicPr>
            <a:picLocks noChangeAspect="1"/>
          </p:cNvPicPr>
          <p:nvPr/>
        </p:nvPicPr>
        <p:blipFill>
          <a:blip r:embed="rId7"/>
          <a:stretch>
            <a:fillRect/>
          </a:stretch>
        </p:blipFill>
        <p:spPr>
          <a:xfrm>
            <a:off x="8869680" y="1600200"/>
            <a:ext cx="731520" cy="731520"/>
          </a:xfrm>
          <a:prstGeom prst="rect">
            <a:avLst/>
          </a:prstGeom>
        </p:spPr>
      </p:pic>
      <p:sp>
        <p:nvSpPr>
          <p:cNvPr id="28" name="TextBox 27"/>
          <p:cNvSpPr txBox="1"/>
          <p:nvPr/>
        </p:nvSpPr>
        <p:spPr>
          <a:xfrm>
            <a:off x="8458200" y="2423160"/>
            <a:ext cx="1554480" cy="640080"/>
          </a:xfrm>
          <a:prstGeom prst="rect">
            <a:avLst/>
          </a:prstGeom>
          <a:noFill/>
        </p:spPr>
        <p:txBody>
          <a:bodyPr wrap="square" lIns="36576" tIns="36576" rIns="36576" bIns="36576" anchor="t">
            <a:spAutoFit/>
          </a:bodyPr>
          <a:lstStyle/>
          <a:p>
            <a:r>
              <a:t>FinTrack</a:t>
            </a:r>
          </a:p>
          <a:p>
            <a:r>
              <a:t>Oracle 19c</a:t>
            </a:r>
          </a:p>
        </p:txBody>
      </p:sp>
      <p:cxnSp>
        <p:nvCxnSpPr>
          <p:cNvPr id="29" name="Connector 28"/>
          <p:cNvCxnSpPr/>
          <p:nvPr/>
        </p:nvCxnSpPr>
        <p:spPr>
          <a:xfrm>
            <a:off x="9692640" y="1965960"/>
            <a:ext cx="640079" cy="0"/>
          </a:xfrm>
          <a:prstGeom prst="line">
            <a:avLst/>
          </a:prstGeom>
          <a:ln w="254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0" name="Picture 29" descr="hospital_w.png"/>
          <p:cNvPicPr>
            <a:picLocks noChangeAspect="1"/>
          </p:cNvPicPr>
          <p:nvPr/>
        </p:nvPicPr>
        <p:blipFill>
          <a:blip r:embed="rId4"/>
          <a:stretch>
            <a:fillRect/>
          </a:stretch>
        </p:blipFill>
        <p:spPr>
          <a:xfrm>
            <a:off x="10515600" y="1600200"/>
            <a:ext cx="731520" cy="731520"/>
          </a:xfrm>
          <a:prstGeom prst="rect">
            <a:avLst/>
          </a:prstGeom>
        </p:spPr>
      </p:pic>
      <p:sp>
        <p:nvSpPr>
          <p:cNvPr id="31" name="TextBox 30"/>
          <p:cNvSpPr txBox="1"/>
          <p:nvPr/>
        </p:nvSpPr>
        <p:spPr>
          <a:xfrm>
            <a:off x="10104120" y="2423160"/>
            <a:ext cx="1554480" cy="640080"/>
          </a:xfrm>
          <a:prstGeom prst="rect">
            <a:avLst/>
          </a:prstGeom>
          <a:noFill/>
        </p:spPr>
        <p:txBody>
          <a:bodyPr wrap="square" lIns="36576" tIns="36576" rIns="36576" bIns="36576" anchor="t">
            <a:spAutoFit/>
          </a:bodyPr>
          <a:lstStyle/>
          <a:p>
            <a:r>
              <a:t>Budgets &amp; Forecast</a:t>
            </a:r>
          </a:p>
          <a:p>
            <a:r>
              <a:t>active guardrails</a:t>
            </a:r>
          </a:p>
        </p:txBody>
      </p:sp>
      <p:sp>
        <p:nvSpPr>
          <p:cNvPr id="32" name="TextBox 31"/>
          <p:cNvSpPr txBox="1"/>
          <p:nvPr/>
        </p:nvSpPr>
        <p:spPr>
          <a:xfrm>
            <a:off x="6858000" y="3337560"/>
            <a:ext cx="4709160" cy="2011680"/>
          </a:xfrm>
          <a:prstGeom prst="rect">
            <a:avLst/>
          </a:prstGeom>
          <a:noFill/>
        </p:spPr>
        <p:txBody>
          <a:bodyPr wrap="square" lIns="36576" tIns="36576" rIns="36576" bIns="36576" anchor="t">
            <a:spAutoFit/>
          </a:bodyPr>
          <a:lstStyle/>
          <a:p>
            <a:r>
              <a:t>FinTrack uses a centralized relational database to manage multi-account personal finances.</a:t>
            </a:r>
          </a:p>
        </p:txBody>
      </p:sp>
      <p:sp>
        <p:nvSpPr>
          <p:cNvPr id="33" name="TextBox 32"/>
          <p:cNvSpPr txBox="1"/>
          <p:nvPr/>
        </p:nvSpPr>
        <p:spPr>
          <a:xfrm>
            <a:off x="411480" y="5029200"/>
            <a:ext cx="5852160" cy="822960"/>
          </a:xfrm>
          <a:prstGeom prst="rect">
            <a:avLst/>
          </a:prstGeom>
          <a:noFill/>
        </p:spPr>
        <p:txBody>
          <a:bodyPr wrap="square" lIns="36576" tIns="36576" rIns="36576" bIns="36576" anchor="t">
            <a:spAutoFit/>
          </a:bodyPr>
          <a:lstStyle/>
          <a:p>
            <a:r>
              <a:t>DBMS focus: all users, accounts, transactions, budgets, subscriptions and predictions are stored in one Oracle 19c database.</a:t>
            </a:r>
          </a:p>
        </p:txBody>
      </p:sp>
    </p:spTree>
    <p:extLst>
      <p:ext uri="{BB962C8B-B14F-4D97-AF65-F5344CB8AC3E}">
        <p14:creationId xmlns:p14="http://schemas.microsoft.com/office/powerpoint/2010/main" val="29162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Project Objectives &amp; System Overview</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3</a:t>
            </a:fld>
            <a:endParaRPr lang="en-US" kern="1200">
              <a:solidFill>
                <a:prstClr val="white"/>
              </a:solidFill>
              <a:latin typeface="Calibri"/>
              <a:ea typeface="+mn-ea"/>
              <a:cs typeface="+mn-cs"/>
            </a:endParaRPr>
          </a:p>
        </p:txBody>
      </p:sp>
      <p:sp>
        <p:nvSpPr>
          <p:cNvPr id="5" name="TextBox 4"/>
          <p:cNvSpPr txBox="1"/>
          <p:nvPr/>
        </p:nvSpPr>
        <p:spPr>
          <a:xfrm>
            <a:off x="411480" y="640080"/>
            <a:ext cx="3566160" cy="365760"/>
          </a:xfrm>
          <a:prstGeom prst="rect">
            <a:avLst/>
          </a:prstGeom>
          <a:noFill/>
        </p:spPr>
        <p:txBody>
          <a:bodyPr wrap="square" lIns="36576" tIns="36576" rIns="36576" bIns="36576" anchor="t">
            <a:spAutoFit/>
          </a:bodyPr>
          <a:lstStyle/>
          <a:p>
            <a:pPr algn="l"/>
            <a:r>
              <a:rPr sz="1800" b="1" i="0">
                <a:solidFill>
                  <a:srgbClr val="B8114F"/>
                </a:solidFill>
                <a:latin typeface="Calibri"/>
              </a:rPr>
              <a:t>Objectives</a:t>
            </a:r>
          </a:p>
        </p:txBody>
      </p:sp>
      <p:pic>
        <p:nvPicPr>
          <p:cNvPr id="6" name="Picture 5" descr="check.png"/>
          <p:cNvPicPr>
            <a:picLocks noChangeAspect="1"/>
          </p:cNvPicPr>
          <p:nvPr/>
        </p:nvPicPr>
        <p:blipFill>
          <a:blip r:embed="rId3"/>
          <a:stretch>
            <a:fillRect/>
          </a:stretch>
        </p:blipFill>
        <p:spPr>
          <a:xfrm>
            <a:off x="457200" y="1188720"/>
            <a:ext cx="292608" cy="292608"/>
          </a:xfrm>
          <a:prstGeom prst="rect">
            <a:avLst/>
          </a:prstGeom>
        </p:spPr>
      </p:pic>
      <p:sp>
        <p:nvSpPr>
          <p:cNvPr id="7" name="TextBox 6"/>
          <p:cNvSpPr txBox="1"/>
          <p:nvPr/>
        </p:nvSpPr>
        <p:spPr>
          <a:xfrm>
            <a:off x="868680" y="1097280"/>
            <a:ext cx="3017520" cy="566928"/>
          </a:xfrm>
          <a:prstGeom prst="rect">
            <a:avLst/>
          </a:prstGeom>
          <a:noFill/>
        </p:spPr>
        <p:txBody>
          <a:bodyPr wrap="square" lIns="36576" tIns="36576" rIns="36576" bIns="36576" anchor="ctr">
            <a:spAutoFit/>
          </a:bodyPr>
          <a:lstStyle/>
          <a:p>
            <a:r>
              <a:t>Maintain a centralized multi-account ledger.</a:t>
            </a:r>
          </a:p>
        </p:txBody>
      </p:sp>
      <p:pic>
        <p:nvPicPr>
          <p:cNvPr id="8" name="Picture 7" descr="check.png"/>
          <p:cNvPicPr>
            <a:picLocks noChangeAspect="1"/>
          </p:cNvPicPr>
          <p:nvPr/>
        </p:nvPicPr>
        <p:blipFill>
          <a:blip r:embed="rId3"/>
          <a:stretch>
            <a:fillRect/>
          </a:stretch>
        </p:blipFill>
        <p:spPr>
          <a:xfrm>
            <a:off x="457200" y="1847088"/>
            <a:ext cx="292608" cy="292608"/>
          </a:xfrm>
          <a:prstGeom prst="rect">
            <a:avLst/>
          </a:prstGeom>
        </p:spPr>
      </p:pic>
      <p:sp>
        <p:nvSpPr>
          <p:cNvPr id="9" name="TextBox 8"/>
          <p:cNvSpPr txBox="1"/>
          <p:nvPr/>
        </p:nvSpPr>
        <p:spPr>
          <a:xfrm>
            <a:off x="868680" y="1755648"/>
            <a:ext cx="3017520" cy="566928"/>
          </a:xfrm>
          <a:prstGeom prst="rect">
            <a:avLst/>
          </a:prstGeom>
          <a:noFill/>
        </p:spPr>
        <p:txBody>
          <a:bodyPr wrap="square" lIns="36576" tIns="36576" rIns="36576" bIns="36576" anchor="ctr">
            <a:spAutoFit/>
          </a:bodyPr>
          <a:lstStyle/>
          <a:p>
            <a:r>
              <a:t>Enforce real-time balance updates via triggers.</a:t>
            </a:r>
          </a:p>
        </p:txBody>
      </p:sp>
      <p:pic>
        <p:nvPicPr>
          <p:cNvPr id="10" name="Picture 9" descr="check.png"/>
          <p:cNvPicPr>
            <a:picLocks noChangeAspect="1"/>
          </p:cNvPicPr>
          <p:nvPr/>
        </p:nvPicPr>
        <p:blipFill>
          <a:blip r:embed="rId3"/>
          <a:stretch>
            <a:fillRect/>
          </a:stretch>
        </p:blipFill>
        <p:spPr>
          <a:xfrm>
            <a:off x="457200" y="2505456"/>
            <a:ext cx="292608" cy="292608"/>
          </a:xfrm>
          <a:prstGeom prst="rect">
            <a:avLst/>
          </a:prstGeom>
        </p:spPr>
      </p:pic>
      <p:sp>
        <p:nvSpPr>
          <p:cNvPr id="11" name="TextBox 10"/>
          <p:cNvSpPr txBox="1"/>
          <p:nvPr/>
        </p:nvSpPr>
        <p:spPr>
          <a:xfrm>
            <a:off x="868680" y="2414015"/>
            <a:ext cx="3017520" cy="566928"/>
          </a:xfrm>
          <a:prstGeom prst="rect">
            <a:avLst/>
          </a:prstGeom>
          <a:noFill/>
        </p:spPr>
        <p:txBody>
          <a:bodyPr wrap="square" lIns="36576" tIns="36576" rIns="36576" bIns="36576" anchor="ctr">
            <a:spAutoFit/>
          </a:bodyPr>
          <a:lstStyle/>
          <a:p>
            <a:r>
              <a:t>Provide 50/30/20 salary onboarding &amp; budgets.</a:t>
            </a:r>
          </a:p>
        </p:txBody>
      </p:sp>
      <p:pic>
        <p:nvPicPr>
          <p:cNvPr id="12" name="Picture 11" descr="check.png"/>
          <p:cNvPicPr>
            <a:picLocks noChangeAspect="1"/>
          </p:cNvPicPr>
          <p:nvPr/>
        </p:nvPicPr>
        <p:blipFill>
          <a:blip r:embed="rId3"/>
          <a:stretch>
            <a:fillRect/>
          </a:stretch>
        </p:blipFill>
        <p:spPr>
          <a:xfrm>
            <a:off x="457200" y="3163824"/>
            <a:ext cx="292608" cy="292608"/>
          </a:xfrm>
          <a:prstGeom prst="rect">
            <a:avLst/>
          </a:prstGeom>
        </p:spPr>
      </p:pic>
      <p:sp>
        <p:nvSpPr>
          <p:cNvPr id="13" name="TextBox 12"/>
          <p:cNvSpPr txBox="1"/>
          <p:nvPr/>
        </p:nvSpPr>
        <p:spPr>
          <a:xfrm>
            <a:off x="868680" y="3072384"/>
            <a:ext cx="3017520" cy="566928"/>
          </a:xfrm>
          <a:prstGeom prst="rect">
            <a:avLst/>
          </a:prstGeom>
          <a:noFill/>
        </p:spPr>
        <p:txBody>
          <a:bodyPr wrap="square" lIns="36576" tIns="36576" rIns="36576" bIns="36576" anchor="ctr">
            <a:spAutoFit/>
          </a:bodyPr>
          <a:lstStyle/>
          <a:p>
            <a:r>
              <a:t>Automate recurring billing &amp; subscriptions.</a:t>
            </a:r>
          </a:p>
        </p:txBody>
      </p:sp>
      <p:pic>
        <p:nvPicPr>
          <p:cNvPr id="14" name="Picture 13" descr="check.png"/>
          <p:cNvPicPr>
            <a:picLocks noChangeAspect="1"/>
          </p:cNvPicPr>
          <p:nvPr/>
        </p:nvPicPr>
        <p:blipFill>
          <a:blip r:embed="rId3"/>
          <a:stretch>
            <a:fillRect/>
          </a:stretch>
        </p:blipFill>
        <p:spPr>
          <a:xfrm>
            <a:off x="457200" y="3822191"/>
            <a:ext cx="292608" cy="292608"/>
          </a:xfrm>
          <a:prstGeom prst="rect">
            <a:avLst/>
          </a:prstGeom>
        </p:spPr>
      </p:pic>
      <p:sp>
        <p:nvSpPr>
          <p:cNvPr id="15" name="TextBox 14"/>
          <p:cNvSpPr txBox="1"/>
          <p:nvPr/>
        </p:nvSpPr>
        <p:spPr>
          <a:xfrm>
            <a:off x="868680" y="3730752"/>
            <a:ext cx="3017520" cy="566928"/>
          </a:xfrm>
          <a:prstGeom prst="rect">
            <a:avLst/>
          </a:prstGeom>
          <a:noFill/>
        </p:spPr>
        <p:txBody>
          <a:bodyPr wrap="square" lIns="36576" tIns="36576" rIns="36576" bIns="36576" anchor="ctr">
            <a:spAutoFit/>
          </a:bodyPr>
          <a:lstStyle/>
          <a:p>
            <a:r>
              <a:t>Generate 3-month forecasts via SQL window functions.</a:t>
            </a:r>
          </a:p>
        </p:txBody>
      </p:sp>
      <p:pic>
        <p:nvPicPr>
          <p:cNvPr id="16" name="Picture 15" descr="check.png"/>
          <p:cNvPicPr>
            <a:picLocks noChangeAspect="1"/>
          </p:cNvPicPr>
          <p:nvPr/>
        </p:nvPicPr>
        <p:blipFill>
          <a:blip r:embed="rId3"/>
          <a:stretch>
            <a:fillRect/>
          </a:stretch>
        </p:blipFill>
        <p:spPr>
          <a:xfrm>
            <a:off x="457200" y="4480559"/>
            <a:ext cx="292608" cy="292608"/>
          </a:xfrm>
          <a:prstGeom prst="rect">
            <a:avLst/>
          </a:prstGeom>
        </p:spPr>
      </p:pic>
      <p:sp>
        <p:nvSpPr>
          <p:cNvPr id="17" name="TextBox 16"/>
          <p:cNvSpPr txBox="1"/>
          <p:nvPr/>
        </p:nvSpPr>
        <p:spPr>
          <a:xfrm>
            <a:off x="868680" y="4389120"/>
            <a:ext cx="3017520" cy="566928"/>
          </a:xfrm>
          <a:prstGeom prst="rect">
            <a:avLst/>
          </a:prstGeom>
          <a:noFill/>
        </p:spPr>
        <p:txBody>
          <a:bodyPr wrap="square" lIns="36576" tIns="36576" rIns="36576" bIns="36576" anchor="ctr">
            <a:spAutoFit/>
          </a:bodyPr>
          <a:lstStyle/>
          <a:p>
            <a:r>
              <a:t>Maintain ACID consistency and security controls.</a:t>
            </a:r>
          </a:p>
        </p:txBody>
      </p:sp>
      <p:sp>
        <p:nvSpPr>
          <p:cNvPr id="18" name="TextBox 17"/>
          <p:cNvSpPr txBox="1"/>
          <p:nvPr/>
        </p:nvSpPr>
        <p:spPr>
          <a:xfrm>
            <a:off x="4160520" y="640080"/>
            <a:ext cx="4023360" cy="365760"/>
          </a:xfrm>
          <a:prstGeom prst="rect">
            <a:avLst/>
          </a:prstGeom>
          <a:noFill/>
        </p:spPr>
        <p:txBody>
          <a:bodyPr wrap="square" lIns="36576" tIns="36576" rIns="36576" bIns="36576" anchor="t">
            <a:spAutoFit/>
          </a:bodyPr>
          <a:lstStyle/>
          <a:p>
            <a:pPr algn="l"/>
            <a:r>
              <a:rPr sz="1800" b="1" i="0">
                <a:solidFill>
                  <a:srgbClr val="B8114F"/>
                </a:solidFill>
                <a:latin typeface="Calibri"/>
              </a:rPr>
              <a:t>Users</a:t>
            </a:r>
          </a:p>
        </p:txBody>
      </p:sp>
      <p:sp>
        <p:nvSpPr>
          <p:cNvPr id="19" name="Rounded Rectangle 18"/>
          <p:cNvSpPr/>
          <p:nvPr/>
        </p:nvSpPr>
        <p:spPr>
          <a:xfrm>
            <a:off x="4160520" y="1097280"/>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297680" y="1234439"/>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staff_w.png"/>
          <p:cNvPicPr>
            <a:picLocks noChangeAspect="1"/>
          </p:cNvPicPr>
          <p:nvPr/>
        </p:nvPicPr>
        <p:blipFill>
          <a:blip r:embed="rId4"/>
          <a:stretch>
            <a:fillRect/>
          </a:stretch>
        </p:blipFill>
        <p:spPr>
          <a:xfrm>
            <a:off x="4418380" y="1355140"/>
            <a:ext cx="261518" cy="261518"/>
          </a:xfrm>
          <a:prstGeom prst="rect">
            <a:avLst/>
          </a:prstGeom>
        </p:spPr>
      </p:pic>
      <p:sp>
        <p:nvSpPr>
          <p:cNvPr id="22" name="TextBox 21"/>
          <p:cNvSpPr txBox="1"/>
          <p:nvPr/>
        </p:nvSpPr>
        <p:spPr>
          <a:xfrm>
            <a:off x="4937760" y="1188720"/>
            <a:ext cx="3154680" cy="365760"/>
          </a:xfrm>
          <a:prstGeom prst="rect">
            <a:avLst/>
          </a:prstGeom>
          <a:noFill/>
        </p:spPr>
        <p:txBody>
          <a:bodyPr wrap="square" lIns="36576" tIns="36576" rIns="36576" bIns="36576" anchor="t">
            <a:spAutoFit/>
          </a:bodyPr>
          <a:lstStyle/>
          <a:p>
            <a:r>
              <a:t>Regular User</a:t>
            </a:r>
          </a:p>
        </p:txBody>
      </p:sp>
      <p:sp>
        <p:nvSpPr>
          <p:cNvPr id="23" name="TextBox 22"/>
          <p:cNvSpPr txBox="1"/>
          <p:nvPr/>
        </p:nvSpPr>
        <p:spPr>
          <a:xfrm>
            <a:off x="4937760" y="1536192"/>
            <a:ext cx="3154680" cy="749808"/>
          </a:xfrm>
          <a:prstGeom prst="rect">
            <a:avLst/>
          </a:prstGeom>
          <a:noFill/>
        </p:spPr>
        <p:txBody>
          <a:bodyPr wrap="square" lIns="36576" tIns="36576" rIns="36576" bIns="36576" anchor="t">
            <a:spAutoFit/>
          </a:bodyPr>
          <a:lstStyle/>
          <a:p>
            <a:r>
              <a:t>Record transactions • Manage accounts • Set 50/30/20 budgets • Transfer funds • View forecasts</a:t>
            </a:r>
          </a:p>
        </p:txBody>
      </p:sp>
      <p:sp>
        <p:nvSpPr>
          <p:cNvPr id="24" name="Rounded Rectangle 23"/>
          <p:cNvSpPr/>
          <p:nvPr/>
        </p:nvSpPr>
        <p:spPr>
          <a:xfrm>
            <a:off x="4160520" y="2450591"/>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Oval 24"/>
          <p:cNvSpPr/>
          <p:nvPr/>
        </p:nvSpPr>
        <p:spPr>
          <a:xfrm>
            <a:off x="4297680" y="2587751"/>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officer_w.png"/>
          <p:cNvPicPr>
            <a:picLocks noChangeAspect="1"/>
          </p:cNvPicPr>
          <p:nvPr/>
        </p:nvPicPr>
        <p:blipFill>
          <a:blip r:embed="rId5"/>
          <a:stretch>
            <a:fillRect/>
          </a:stretch>
        </p:blipFill>
        <p:spPr>
          <a:xfrm>
            <a:off x="4418380" y="2708452"/>
            <a:ext cx="261518" cy="261518"/>
          </a:xfrm>
          <a:prstGeom prst="rect">
            <a:avLst/>
          </a:prstGeom>
        </p:spPr>
      </p:pic>
      <p:sp>
        <p:nvSpPr>
          <p:cNvPr id="27" name="TextBox 26"/>
          <p:cNvSpPr txBox="1"/>
          <p:nvPr/>
        </p:nvSpPr>
        <p:spPr>
          <a:xfrm>
            <a:off x="4937760" y="2542032"/>
            <a:ext cx="3154680" cy="365760"/>
          </a:xfrm>
          <a:prstGeom prst="rect">
            <a:avLst/>
          </a:prstGeom>
          <a:noFill/>
        </p:spPr>
        <p:txBody>
          <a:bodyPr wrap="square" lIns="36576" tIns="36576" rIns="36576" bIns="36576" anchor="t">
            <a:spAutoFit/>
          </a:bodyPr>
          <a:lstStyle/>
          <a:p>
            <a:r>
              <a:t>Financial Planner</a:t>
            </a:r>
          </a:p>
        </p:txBody>
      </p:sp>
      <p:sp>
        <p:nvSpPr>
          <p:cNvPr id="28" name="TextBox 27"/>
          <p:cNvSpPr txBox="1"/>
          <p:nvPr/>
        </p:nvSpPr>
        <p:spPr>
          <a:xfrm>
            <a:off x="4937760" y="2889503"/>
            <a:ext cx="3154680" cy="749808"/>
          </a:xfrm>
          <a:prstGeom prst="rect">
            <a:avLst/>
          </a:prstGeom>
          <a:noFill/>
        </p:spPr>
        <p:txBody>
          <a:bodyPr wrap="square" lIns="36576" tIns="36576" rIns="36576" bIns="36576" anchor="t">
            <a:spAutoFit/>
          </a:bodyPr>
          <a:lstStyle/>
          <a:p>
            <a:r>
              <a:t>Review budget thresholds • Rebalance income allocation • Track cashflow anomaly alerts</a:t>
            </a:r>
          </a:p>
        </p:txBody>
      </p:sp>
      <p:sp>
        <p:nvSpPr>
          <p:cNvPr id="29" name="Rounded Rectangle 28"/>
          <p:cNvSpPr/>
          <p:nvPr/>
        </p:nvSpPr>
        <p:spPr>
          <a:xfrm>
            <a:off x="4160520" y="3803904"/>
            <a:ext cx="4023360" cy="1216152"/>
          </a:xfrm>
          <a:prstGeom prst="roundRect">
            <a:avLst>
              <a:gd name="adj" fmla="val 9022"/>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4297680" y="3941064"/>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admin_w.png"/>
          <p:cNvPicPr>
            <a:picLocks noChangeAspect="1"/>
          </p:cNvPicPr>
          <p:nvPr/>
        </p:nvPicPr>
        <p:blipFill>
          <a:blip r:embed="rId6"/>
          <a:stretch>
            <a:fillRect/>
          </a:stretch>
        </p:blipFill>
        <p:spPr>
          <a:xfrm>
            <a:off x="4418380" y="4061764"/>
            <a:ext cx="261518" cy="261518"/>
          </a:xfrm>
          <a:prstGeom prst="rect">
            <a:avLst/>
          </a:prstGeom>
        </p:spPr>
      </p:pic>
      <p:sp>
        <p:nvSpPr>
          <p:cNvPr id="32" name="TextBox 31"/>
          <p:cNvSpPr txBox="1"/>
          <p:nvPr/>
        </p:nvSpPr>
        <p:spPr>
          <a:xfrm>
            <a:off x="4937760" y="3895344"/>
            <a:ext cx="3154680" cy="365760"/>
          </a:xfrm>
          <a:prstGeom prst="rect">
            <a:avLst/>
          </a:prstGeom>
          <a:noFill/>
        </p:spPr>
        <p:txBody>
          <a:bodyPr wrap="square" lIns="36576" tIns="36576" rIns="36576" bIns="36576" anchor="t">
            <a:spAutoFit/>
          </a:bodyPr>
          <a:lstStyle/>
          <a:p>
            <a:r>
              <a:t>System Admin</a:t>
            </a:r>
          </a:p>
        </p:txBody>
      </p:sp>
      <p:sp>
        <p:nvSpPr>
          <p:cNvPr id="33" name="TextBox 32"/>
          <p:cNvSpPr txBox="1"/>
          <p:nvPr/>
        </p:nvSpPr>
        <p:spPr>
          <a:xfrm>
            <a:off x="4937760" y="4242816"/>
            <a:ext cx="3154680" cy="749808"/>
          </a:xfrm>
          <a:prstGeom prst="rect">
            <a:avLst/>
          </a:prstGeom>
          <a:noFill/>
        </p:spPr>
        <p:txBody>
          <a:bodyPr wrap="square" lIns="36576" tIns="36576" rIns="36576" bIns="36576" anchor="t">
            <a:spAutoFit/>
          </a:bodyPr>
          <a:lstStyle/>
          <a:p>
            <a:r>
              <a:t>Manage users &amp; accounts • Inspect database tables • Monitor system metrics • View audit logs</a:t>
            </a:r>
          </a:p>
        </p:txBody>
      </p:sp>
      <p:sp>
        <p:nvSpPr>
          <p:cNvPr id="34" name="TextBox 33"/>
          <p:cNvSpPr txBox="1"/>
          <p:nvPr/>
        </p:nvSpPr>
        <p:spPr>
          <a:xfrm>
            <a:off x="8412480" y="640080"/>
            <a:ext cx="3383280" cy="365760"/>
          </a:xfrm>
          <a:prstGeom prst="rect">
            <a:avLst/>
          </a:prstGeom>
          <a:noFill/>
        </p:spPr>
        <p:txBody>
          <a:bodyPr wrap="square" lIns="36576" tIns="36576" rIns="36576" bIns="36576" anchor="t">
            <a:spAutoFit/>
          </a:bodyPr>
          <a:lstStyle/>
          <a:p>
            <a:pPr algn="l"/>
            <a:r>
              <a:rPr sz="1800" b="1" i="0">
                <a:solidFill>
                  <a:srgbClr val="B8114F"/>
                </a:solidFill>
                <a:latin typeface="Calibri"/>
              </a:rPr>
              <a:t>Technology</a:t>
            </a:r>
          </a:p>
        </p:txBody>
      </p:sp>
      <p:sp>
        <p:nvSpPr>
          <p:cNvPr id="35" name="Rounded Rectangle 34"/>
          <p:cNvSpPr/>
          <p:nvPr/>
        </p:nvSpPr>
        <p:spPr>
          <a:xfrm>
            <a:off x="8412480" y="1097280"/>
            <a:ext cx="3364992" cy="822960"/>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6" name="Picture 35" descr="react.png"/>
          <p:cNvPicPr>
            <a:picLocks noChangeAspect="1"/>
          </p:cNvPicPr>
          <p:nvPr/>
        </p:nvPicPr>
        <p:blipFill>
          <a:blip r:embed="rId7"/>
          <a:stretch>
            <a:fillRect/>
          </a:stretch>
        </p:blipFill>
        <p:spPr>
          <a:xfrm>
            <a:off x="8549640" y="1280160"/>
            <a:ext cx="457200" cy="457200"/>
          </a:xfrm>
          <a:prstGeom prst="rect">
            <a:avLst/>
          </a:prstGeom>
        </p:spPr>
      </p:pic>
      <p:sp>
        <p:nvSpPr>
          <p:cNvPr id="37" name="TextBox 36"/>
          <p:cNvSpPr txBox="1"/>
          <p:nvPr/>
        </p:nvSpPr>
        <p:spPr>
          <a:xfrm>
            <a:off x="9144000" y="1170432"/>
            <a:ext cx="2560320" cy="329184"/>
          </a:xfrm>
          <a:prstGeom prst="rect">
            <a:avLst/>
          </a:prstGeom>
          <a:noFill/>
        </p:spPr>
        <p:txBody>
          <a:bodyPr wrap="square" lIns="36576" tIns="36576" rIns="36576" bIns="36576" anchor="t">
            <a:spAutoFit/>
          </a:bodyPr>
          <a:lstStyle/>
          <a:p>
            <a:r>
              <a:t>Frontend</a:t>
            </a:r>
          </a:p>
        </p:txBody>
      </p:sp>
      <p:sp>
        <p:nvSpPr>
          <p:cNvPr id="38" name="TextBox 37"/>
          <p:cNvSpPr txBox="1"/>
          <p:nvPr/>
        </p:nvSpPr>
        <p:spPr>
          <a:xfrm>
            <a:off x="9144000" y="1499616"/>
            <a:ext cx="2560320" cy="329184"/>
          </a:xfrm>
          <a:prstGeom prst="rect">
            <a:avLst/>
          </a:prstGeom>
          <a:noFill/>
        </p:spPr>
        <p:txBody>
          <a:bodyPr wrap="square" lIns="36576" tIns="36576" rIns="36576" bIns="36576" anchor="t">
            <a:spAutoFit/>
          </a:bodyPr>
          <a:lstStyle/>
          <a:p>
            <a:r>
              <a:t>Bootstrap 5 + Chart.js + PWA</a:t>
            </a:r>
          </a:p>
        </p:txBody>
      </p:sp>
      <p:cxnSp>
        <p:nvCxnSpPr>
          <p:cNvPr id="39" name="Connector 38"/>
          <p:cNvCxnSpPr/>
          <p:nvPr/>
        </p:nvCxnSpPr>
        <p:spPr>
          <a:xfrm>
            <a:off x="10094976" y="1920240"/>
            <a:ext cx="0" cy="1828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412480" y="2103120"/>
            <a:ext cx="3364992" cy="822960"/>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1" name="Picture 40" descr="node.png"/>
          <p:cNvPicPr>
            <a:picLocks noChangeAspect="1"/>
          </p:cNvPicPr>
          <p:nvPr/>
        </p:nvPicPr>
        <p:blipFill>
          <a:blip r:embed="rId8"/>
          <a:stretch>
            <a:fillRect/>
          </a:stretch>
        </p:blipFill>
        <p:spPr>
          <a:xfrm>
            <a:off x="8549640" y="2286000"/>
            <a:ext cx="457200" cy="457200"/>
          </a:xfrm>
          <a:prstGeom prst="rect">
            <a:avLst/>
          </a:prstGeom>
        </p:spPr>
      </p:pic>
      <p:sp>
        <p:nvSpPr>
          <p:cNvPr id="42" name="TextBox 41"/>
          <p:cNvSpPr txBox="1"/>
          <p:nvPr/>
        </p:nvSpPr>
        <p:spPr>
          <a:xfrm>
            <a:off x="9144000" y="2176272"/>
            <a:ext cx="2560320" cy="329184"/>
          </a:xfrm>
          <a:prstGeom prst="rect">
            <a:avLst/>
          </a:prstGeom>
          <a:noFill/>
        </p:spPr>
        <p:txBody>
          <a:bodyPr wrap="square" lIns="36576" tIns="36576" rIns="36576" bIns="36576" anchor="t">
            <a:spAutoFit/>
          </a:bodyPr>
          <a:lstStyle/>
          <a:p>
            <a:r>
              <a:t>Backend</a:t>
            </a:r>
          </a:p>
        </p:txBody>
      </p:sp>
      <p:sp>
        <p:nvSpPr>
          <p:cNvPr id="43" name="TextBox 42"/>
          <p:cNvSpPr txBox="1"/>
          <p:nvPr/>
        </p:nvSpPr>
        <p:spPr>
          <a:xfrm>
            <a:off x="9144000" y="2505456"/>
            <a:ext cx="2560320" cy="329184"/>
          </a:xfrm>
          <a:prstGeom prst="rect">
            <a:avLst/>
          </a:prstGeom>
          <a:noFill/>
        </p:spPr>
        <p:txBody>
          <a:bodyPr wrap="square" lIns="36576" tIns="36576" rIns="36576" bIns="36576" anchor="t">
            <a:spAutoFit/>
          </a:bodyPr>
          <a:lstStyle/>
          <a:p>
            <a:r>
              <a:t>Python 3.12 + Flask</a:t>
            </a:r>
          </a:p>
        </p:txBody>
      </p:sp>
      <p:cxnSp>
        <p:nvCxnSpPr>
          <p:cNvPr id="44" name="Connector 43"/>
          <p:cNvCxnSpPr/>
          <p:nvPr/>
        </p:nvCxnSpPr>
        <p:spPr>
          <a:xfrm>
            <a:off x="10094976" y="2926079"/>
            <a:ext cx="0" cy="182881"/>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412480" y="3108960"/>
            <a:ext cx="3364992" cy="8229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6" name="Picture 45" descr="mysql_w.png"/>
          <p:cNvPicPr>
            <a:picLocks noChangeAspect="1"/>
          </p:cNvPicPr>
          <p:nvPr/>
        </p:nvPicPr>
        <p:blipFill>
          <a:blip r:embed="rId9"/>
          <a:stretch>
            <a:fillRect/>
          </a:stretch>
        </p:blipFill>
        <p:spPr>
          <a:xfrm>
            <a:off x="8549640" y="3291840"/>
            <a:ext cx="457200" cy="457200"/>
          </a:xfrm>
          <a:prstGeom prst="rect">
            <a:avLst/>
          </a:prstGeom>
        </p:spPr>
      </p:pic>
      <p:sp>
        <p:nvSpPr>
          <p:cNvPr id="47" name="TextBox 46"/>
          <p:cNvSpPr txBox="1"/>
          <p:nvPr/>
        </p:nvSpPr>
        <p:spPr>
          <a:xfrm>
            <a:off x="9144000" y="3182112"/>
            <a:ext cx="2560320" cy="329184"/>
          </a:xfrm>
          <a:prstGeom prst="rect">
            <a:avLst/>
          </a:prstGeom>
          <a:noFill/>
        </p:spPr>
        <p:txBody>
          <a:bodyPr wrap="square" lIns="36576" tIns="36576" rIns="36576" bIns="36576" anchor="t">
            <a:spAutoFit/>
          </a:bodyPr>
          <a:lstStyle/>
          <a:p>
            <a:r>
              <a:t>Database</a:t>
            </a:r>
          </a:p>
        </p:txBody>
      </p:sp>
      <p:sp>
        <p:nvSpPr>
          <p:cNvPr id="48" name="TextBox 47"/>
          <p:cNvSpPr txBox="1"/>
          <p:nvPr/>
        </p:nvSpPr>
        <p:spPr>
          <a:xfrm>
            <a:off x="9144000" y="3511296"/>
            <a:ext cx="2560320" cy="273921"/>
          </a:xfrm>
          <a:prstGeom prst="rect">
            <a:avLst/>
          </a:prstGeom>
          <a:noFill/>
        </p:spPr>
        <p:txBody>
          <a:bodyPr wrap="square" lIns="36576" tIns="36576" rIns="36576" bIns="36576" anchor="t">
            <a:spAutoFit/>
          </a:bodyPr>
          <a:lstStyle/>
          <a:p>
            <a:r>
              <a:t>Oracle Database 19c</a:t>
            </a:r>
          </a:p>
        </p:txBody>
      </p:sp>
      <p:sp>
        <p:nvSpPr>
          <p:cNvPr id="50" name="Rounded Rectangle 49"/>
          <p:cNvSpPr/>
          <p:nvPr/>
        </p:nvSpPr>
        <p:spPr>
          <a:xfrm>
            <a:off x="411480" y="5257800"/>
            <a:ext cx="11365992" cy="6858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1" name="Picture 50" descr="database.png"/>
          <p:cNvPicPr>
            <a:picLocks noChangeAspect="1"/>
          </p:cNvPicPr>
          <p:nvPr/>
        </p:nvPicPr>
        <p:blipFill>
          <a:blip r:embed="rId10"/>
          <a:stretch>
            <a:fillRect/>
          </a:stretch>
        </p:blipFill>
        <p:spPr>
          <a:xfrm>
            <a:off x="566928" y="5376672"/>
            <a:ext cx="438912" cy="438912"/>
          </a:xfrm>
          <a:prstGeom prst="rect">
            <a:avLst/>
          </a:prstGeom>
        </p:spPr>
      </p:pic>
      <p:sp>
        <p:nvSpPr>
          <p:cNvPr id="52" name="TextBox 51"/>
          <p:cNvSpPr txBox="1"/>
          <p:nvPr/>
        </p:nvSpPr>
        <p:spPr>
          <a:xfrm>
            <a:off x="1143000" y="5257800"/>
            <a:ext cx="10515600" cy="685800"/>
          </a:xfrm>
          <a:prstGeom prst="rect">
            <a:avLst/>
          </a:prstGeom>
          <a:noFill/>
        </p:spPr>
        <p:txBody>
          <a:bodyPr wrap="square" lIns="36576" tIns="36576" rIns="36576" bIns="36576" anchor="ctr">
            <a:spAutoFit/>
          </a:bodyPr>
          <a:lstStyle/>
          <a:p>
            <a:r>
              <a:t>Database focus:  Tables, relationships, constraints, procedures, functions, triggers, views, and window functions.</a:t>
            </a:r>
          </a:p>
        </p:txBody>
      </p:sp>
    </p:spTree>
    <p:extLst>
      <p:ext uri="{BB962C8B-B14F-4D97-AF65-F5344CB8AC3E}">
        <p14:creationId xmlns:p14="http://schemas.microsoft.com/office/powerpoint/2010/main" val="3500239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ER Diagram – FinTrack</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4</a:t>
            </a:fld>
            <a:endParaRPr lang="en-US" kern="1200">
              <a:solidFill>
                <a:prstClr val="white"/>
              </a:solidFill>
              <a:latin typeface="Calibri"/>
              <a:ea typeface="+mn-ea"/>
              <a:cs typeface="+mn-cs"/>
            </a:endParaRPr>
          </a:p>
        </p:txBody>
      </p:sp>
      <p:cxnSp>
        <p:nvCxnSpPr>
          <p:cNvPr id="5" name="Connector 4"/>
          <p:cNvCxnSpPr/>
          <p:nvPr/>
        </p:nvCxnSpPr>
        <p:spPr>
          <a:xfrm>
            <a:off x="3154679"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399"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7" name="Connector 6"/>
          <p:cNvCxnSpPr/>
          <p:nvPr/>
        </p:nvCxnSpPr>
        <p:spPr>
          <a:xfrm>
            <a:off x="3941063" y="960120"/>
            <a:ext cx="2340865"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882896" y="731520"/>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9" name="Connector 8"/>
          <p:cNvCxnSpPr/>
          <p:nvPr/>
        </p:nvCxnSpPr>
        <p:spPr>
          <a:xfrm flipH="1" flipV="1">
            <a:off x="1672819" y="1188720"/>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12848" y="1248156"/>
            <a:ext cx="502920" cy="201168"/>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1" name="Connector 10"/>
          <p:cNvCxnSpPr/>
          <p:nvPr/>
        </p:nvCxnSpPr>
        <p:spPr>
          <a:xfrm>
            <a:off x="1197864"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243584"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3" name="Connector 12"/>
          <p:cNvCxnSpPr/>
          <p:nvPr/>
        </p:nvCxnSpPr>
        <p:spPr>
          <a:xfrm>
            <a:off x="3154679" y="2130552"/>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399" y="2263139"/>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15" name="Connector 14"/>
          <p:cNvCxnSpPr/>
          <p:nvPr/>
        </p:nvCxnSpPr>
        <p:spPr>
          <a:xfrm>
            <a:off x="1984248" y="2843784"/>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47672" y="2615184"/>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17" name="Connector 16"/>
          <p:cNvCxnSpPr/>
          <p:nvPr/>
        </p:nvCxnSpPr>
        <p:spPr>
          <a:xfrm>
            <a:off x="3941063" y="1901952"/>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904487" y="1673352"/>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19" name="Connector 18"/>
          <p:cNvCxnSpPr/>
          <p:nvPr/>
        </p:nvCxnSpPr>
        <p:spPr>
          <a:xfrm>
            <a:off x="5111496" y="2130552"/>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157216" y="2263139"/>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1" name="Connector 20"/>
          <p:cNvCxnSpPr/>
          <p:nvPr/>
        </p:nvCxnSpPr>
        <p:spPr>
          <a:xfrm>
            <a:off x="5111496" y="3072384"/>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57216" y="3204972"/>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3" name="Connector 22"/>
          <p:cNvCxnSpPr/>
          <p:nvPr/>
        </p:nvCxnSpPr>
        <p:spPr>
          <a:xfrm>
            <a:off x="3154679" y="3072384"/>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00399" y="3204972"/>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25" name="Connector 24"/>
          <p:cNvCxnSpPr/>
          <p:nvPr/>
        </p:nvCxnSpPr>
        <p:spPr>
          <a:xfrm flipH="1">
            <a:off x="3941063" y="3785616"/>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04487" y="3557016"/>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27" name="Connector 26"/>
          <p:cNvCxnSpPr/>
          <p:nvPr/>
        </p:nvCxnSpPr>
        <p:spPr>
          <a:xfrm>
            <a:off x="5897880" y="1901952"/>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61304" y="1673352"/>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29" name="Connector 28"/>
          <p:cNvCxnSpPr/>
          <p:nvPr/>
        </p:nvCxnSpPr>
        <p:spPr>
          <a:xfrm>
            <a:off x="7068312" y="1188720"/>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114032" y="1321307"/>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1" name="Connector 30"/>
          <p:cNvCxnSpPr/>
          <p:nvPr/>
        </p:nvCxnSpPr>
        <p:spPr>
          <a:xfrm>
            <a:off x="7854696" y="960120"/>
            <a:ext cx="384048"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18120" y="731520"/>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33" name="Connector 32"/>
          <p:cNvCxnSpPr/>
          <p:nvPr/>
        </p:nvCxnSpPr>
        <p:spPr>
          <a:xfrm>
            <a:off x="7068312" y="2130552"/>
            <a:ext cx="0" cy="1426464"/>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14032" y="2734056"/>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5" name="Connector 34"/>
          <p:cNvCxnSpPr/>
          <p:nvPr/>
        </p:nvCxnSpPr>
        <p:spPr>
          <a:xfrm>
            <a:off x="7068312" y="4014216"/>
            <a:ext cx="0"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14032" y="4146804"/>
            <a:ext cx="502920" cy="219456"/>
          </a:xfrm>
          <a:prstGeom prst="rect">
            <a:avLst/>
          </a:prstGeom>
          <a:noFill/>
        </p:spPr>
        <p:txBody>
          <a:bodyPr wrap="square" lIns="0" tIns="0" rIns="0" bIns="0" anchor="t">
            <a:spAutoFit/>
          </a:bodyPr>
          <a:lstStyle/>
          <a:p>
            <a:pPr algn="l"/>
            <a:r>
              <a:rPr sz="900" b="1" i="0">
                <a:solidFill>
                  <a:srgbClr val="B8114F"/>
                </a:solidFill>
                <a:latin typeface="Calibri"/>
              </a:rPr>
              <a:t>1 : N</a:t>
            </a:r>
          </a:p>
        </p:txBody>
      </p:sp>
      <p:cxnSp>
        <p:nvCxnSpPr>
          <p:cNvPr id="37" name="Connector 36"/>
          <p:cNvCxnSpPr/>
          <p:nvPr/>
        </p:nvCxnSpPr>
        <p:spPr>
          <a:xfrm>
            <a:off x="7543267" y="4014216"/>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083295" y="4073652"/>
            <a:ext cx="502920" cy="201168"/>
          </a:xfrm>
          <a:prstGeom prst="rect">
            <a:avLst/>
          </a:prstGeom>
          <a:noFill/>
        </p:spPr>
        <p:txBody>
          <a:bodyPr wrap="square" lIns="0" tIns="0" rIns="0" bIns="0" anchor="t">
            <a:spAutoFit/>
          </a:bodyPr>
          <a:lstStyle/>
          <a:p>
            <a:pPr algn="l"/>
            <a:r>
              <a:rPr sz="900" b="1" i="0">
                <a:solidFill>
                  <a:srgbClr val="B8114F"/>
                </a:solidFill>
                <a:latin typeface="Calibri"/>
              </a:rPr>
              <a:t>1 : 1</a:t>
            </a:r>
          </a:p>
        </p:txBody>
      </p:sp>
      <p:cxnSp>
        <p:nvCxnSpPr>
          <p:cNvPr id="39" name="Connector 38"/>
          <p:cNvCxnSpPr/>
          <p:nvPr/>
        </p:nvCxnSpPr>
        <p:spPr>
          <a:xfrm>
            <a:off x="9811511" y="4727448"/>
            <a:ext cx="384049"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774936" y="4498848"/>
            <a:ext cx="457200" cy="182880"/>
          </a:xfrm>
          <a:prstGeom prst="rect">
            <a:avLst/>
          </a:prstGeom>
          <a:noFill/>
        </p:spPr>
        <p:txBody>
          <a:bodyPr wrap="square" lIns="0" tIns="0" rIns="0" bIns="0" anchor="t">
            <a:spAutoFit/>
          </a:bodyPr>
          <a:lstStyle/>
          <a:p>
            <a:pPr algn="ctr"/>
            <a:r>
              <a:rPr sz="850" b="1" i="0">
                <a:solidFill>
                  <a:srgbClr val="B8114F"/>
                </a:solidFill>
                <a:latin typeface="Calibri"/>
              </a:rPr>
              <a:t>1:N</a:t>
            </a:r>
          </a:p>
        </p:txBody>
      </p:sp>
      <p:cxnSp>
        <p:nvCxnSpPr>
          <p:cNvPr id="41" name="Connector 40"/>
          <p:cNvCxnSpPr/>
          <p:nvPr/>
        </p:nvCxnSpPr>
        <p:spPr>
          <a:xfrm>
            <a:off x="3629635" y="3072384"/>
            <a:ext cx="1006905" cy="484632"/>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169664" y="3131820"/>
            <a:ext cx="502920" cy="201168"/>
          </a:xfrm>
          <a:prstGeom prst="rect">
            <a:avLst/>
          </a:prstGeom>
          <a:noFill/>
        </p:spPr>
        <p:txBody>
          <a:bodyPr wrap="square" lIns="0" tIns="0" rIns="0" bIns="0" anchor="t">
            <a:spAutoFit/>
          </a:bodyPr>
          <a:lstStyle/>
          <a:p>
            <a:pPr algn="l"/>
            <a:r>
              <a:rPr sz="900" b="1" i="0">
                <a:solidFill>
                  <a:srgbClr val="B8114F"/>
                </a:solidFill>
                <a:latin typeface="Calibri"/>
              </a:rPr>
              <a:t>1 : N</a:t>
            </a:r>
          </a:p>
        </p:txBody>
      </p:sp>
      <p:sp>
        <p:nvSpPr>
          <p:cNvPr id="43" name="Rectangle 42"/>
          <p:cNvSpPr/>
          <p:nvPr/>
        </p:nvSpPr>
        <p:spPr>
          <a:xfrm>
            <a:off x="411480"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11480" y="731520"/>
            <a:ext cx="1572768" cy="457200"/>
          </a:xfrm>
          <a:prstGeom prst="rect">
            <a:avLst/>
          </a:prstGeom>
          <a:noFill/>
        </p:spPr>
        <p:txBody>
          <a:bodyPr wrap="square" lIns="0" tIns="0" rIns="0" bIns="0" anchor="ctr">
            <a:spAutoFit/>
          </a:bodyPr>
          <a:lstStyle/>
          <a:p>
            <a:r>
              <a:t>USERS</a:t>
            </a:r>
          </a:p>
        </p:txBody>
      </p:sp>
      <p:sp>
        <p:nvSpPr>
          <p:cNvPr id="45" name="Rectangle 44"/>
          <p:cNvSpPr/>
          <p:nvPr/>
        </p:nvSpPr>
        <p:spPr>
          <a:xfrm>
            <a:off x="2368296"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2368296" y="731520"/>
            <a:ext cx="1572768" cy="457200"/>
          </a:xfrm>
          <a:prstGeom prst="rect">
            <a:avLst/>
          </a:prstGeom>
          <a:noFill/>
        </p:spPr>
        <p:txBody>
          <a:bodyPr wrap="square" lIns="0" tIns="0" rIns="0" bIns="0" anchor="ctr">
            <a:spAutoFit/>
          </a:bodyPr>
          <a:lstStyle/>
          <a:p>
            <a:r>
              <a:t>CATEGORIES</a:t>
            </a:r>
          </a:p>
        </p:txBody>
      </p:sp>
      <p:sp>
        <p:nvSpPr>
          <p:cNvPr id="47" name="Rectangle 46"/>
          <p:cNvSpPr/>
          <p:nvPr/>
        </p:nvSpPr>
        <p:spPr>
          <a:xfrm>
            <a:off x="6281928"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281928" y="731520"/>
            <a:ext cx="1572768" cy="457200"/>
          </a:xfrm>
          <a:prstGeom prst="rect">
            <a:avLst/>
          </a:prstGeom>
          <a:noFill/>
        </p:spPr>
        <p:txBody>
          <a:bodyPr wrap="square" lIns="0" tIns="0" rIns="0" bIns="0" anchor="ctr">
            <a:spAutoFit/>
          </a:bodyPr>
          <a:lstStyle/>
          <a:p>
            <a:r>
              <a:t>ACCOUNTS</a:t>
            </a:r>
          </a:p>
        </p:txBody>
      </p:sp>
      <p:sp>
        <p:nvSpPr>
          <p:cNvPr id="49" name="Rectangle 48"/>
          <p:cNvSpPr/>
          <p:nvPr/>
        </p:nvSpPr>
        <p:spPr>
          <a:xfrm>
            <a:off x="8238744" y="731520"/>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8238744" y="731520"/>
            <a:ext cx="1572768" cy="457200"/>
          </a:xfrm>
          <a:prstGeom prst="rect">
            <a:avLst/>
          </a:prstGeom>
          <a:noFill/>
        </p:spPr>
        <p:txBody>
          <a:bodyPr wrap="square" lIns="0" tIns="0" rIns="0" bIns="0" anchor="ctr">
            <a:spAutoFit/>
          </a:bodyPr>
          <a:lstStyle/>
          <a:p>
            <a:r>
              <a:t>ALERTS</a:t>
            </a:r>
          </a:p>
        </p:txBody>
      </p:sp>
      <p:sp>
        <p:nvSpPr>
          <p:cNvPr id="51" name="Rectangle 50"/>
          <p:cNvSpPr/>
          <p:nvPr/>
        </p:nvSpPr>
        <p:spPr>
          <a:xfrm>
            <a:off x="10195560" y="731520"/>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10195560" y="731520"/>
            <a:ext cx="1572768" cy="457200"/>
          </a:xfrm>
          <a:prstGeom prst="rect">
            <a:avLst/>
          </a:prstGeom>
          <a:noFill/>
        </p:spPr>
        <p:txBody>
          <a:bodyPr wrap="square" lIns="0" tIns="0" rIns="0" bIns="0" anchor="ctr">
            <a:spAutoFit/>
          </a:bodyPr>
          <a:lstStyle/>
          <a:p>
            <a:r>
              <a:t>BUDGET_RULES</a:t>
            </a:r>
          </a:p>
        </p:txBody>
      </p:sp>
      <p:sp>
        <p:nvSpPr>
          <p:cNvPr id="53" name="Rectangle 52"/>
          <p:cNvSpPr/>
          <p:nvPr/>
        </p:nvSpPr>
        <p:spPr>
          <a:xfrm>
            <a:off x="411480"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411480" y="1673352"/>
            <a:ext cx="1572768" cy="457200"/>
          </a:xfrm>
          <a:prstGeom prst="rect">
            <a:avLst/>
          </a:prstGeom>
          <a:noFill/>
        </p:spPr>
        <p:txBody>
          <a:bodyPr wrap="square" lIns="0" tIns="0" rIns="0" bIns="0" anchor="ctr">
            <a:spAutoFit/>
          </a:bodyPr>
          <a:lstStyle/>
          <a:p>
            <a:r>
              <a:t>SALARY_PLANS</a:t>
            </a:r>
          </a:p>
        </p:txBody>
      </p:sp>
      <p:sp>
        <p:nvSpPr>
          <p:cNvPr id="55" name="Rectangle 54"/>
          <p:cNvSpPr/>
          <p:nvPr/>
        </p:nvSpPr>
        <p:spPr>
          <a:xfrm>
            <a:off x="2368296" y="1673352"/>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368296" y="1673352"/>
            <a:ext cx="1572768" cy="457200"/>
          </a:xfrm>
          <a:prstGeom prst="rect">
            <a:avLst/>
          </a:prstGeom>
          <a:noFill/>
        </p:spPr>
        <p:txBody>
          <a:bodyPr wrap="square" lIns="0" tIns="0" rIns="0" bIns="0" anchor="ctr">
            <a:spAutoFit/>
          </a:bodyPr>
          <a:lstStyle/>
          <a:p>
            <a:r>
              <a:t>RECURRING_RULES</a:t>
            </a:r>
          </a:p>
        </p:txBody>
      </p:sp>
      <p:sp>
        <p:nvSpPr>
          <p:cNvPr id="57" name="Rectangle 56"/>
          <p:cNvSpPr/>
          <p:nvPr/>
        </p:nvSpPr>
        <p:spPr>
          <a:xfrm>
            <a:off x="4325112"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4325112" y="1673352"/>
            <a:ext cx="1572768" cy="457200"/>
          </a:xfrm>
          <a:prstGeom prst="rect">
            <a:avLst/>
          </a:prstGeom>
          <a:noFill/>
        </p:spPr>
        <p:txBody>
          <a:bodyPr wrap="square" lIns="0" tIns="0" rIns="0" bIns="0" anchor="ctr">
            <a:spAutoFit/>
          </a:bodyPr>
          <a:lstStyle/>
          <a:p>
            <a:r>
              <a:t>TRANSACTIONS</a:t>
            </a:r>
          </a:p>
        </p:txBody>
      </p:sp>
      <p:sp>
        <p:nvSpPr>
          <p:cNvPr id="59" name="Rectangle 58"/>
          <p:cNvSpPr/>
          <p:nvPr/>
        </p:nvSpPr>
        <p:spPr>
          <a:xfrm>
            <a:off x="6281928" y="1673352"/>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6281928" y="1673352"/>
            <a:ext cx="1572768" cy="457200"/>
          </a:xfrm>
          <a:prstGeom prst="rect">
            <a:avLst/>
          </a:prstGeom>
          <a:noFill/>
        </p:spPr>
        <p:txBody>
          <a:bodyPr wrap="square" lIns="0" tIns="0" rIns="0" bIns="0" anchor="ctr">
            <a:spAutoFit/>
          </a:bodyPr>
          <a:lstStyle/>
          <a:p>
            <a:r>
              <a:t>BUDGETS</a:t>
            </a:r>
          </a:p>
        </p:txBody>
      </p:sp>
      <p:sp>
        <p:nvSpPr>
          <p:cNvPr id="61" name="Rectangle 60"/>
          <p:cNvSpPr/>
          <p:nvPr/>
        </p:nvSpPr>
        <p:spPr>
          <a:xfrm>
            <a:off x="411480" y="2615184"/>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411480" y="2615184"/>
            <a:ext cx="1572768" cy="457200"/>
          </a:xfrm>
          <a:prstGeom prst="rect">
            <a:avLst/>
          </a:prstGeom>
          <a:noFill/>
        </p:spPr>
        <p:txBody>
          <a:bodyPr wrap="square" lIns="0" tIns="0" rIns="0" bIns="0" anchor="ctr">
            <a:spAutoFit/>
          </a:bodyPr>
          <a:lstStyle/>
          <a:p>
            <a:r>
              <a:t>PREDICTIONS</a:t>
            </a:r>
          </a:p>
        </p:txBody>
      </p:sp>
      <p:sp>
        <p:nvSpPr>
          <p:cNvPr id="63" name="Rectangle 62"/>
          <p:cNvSpPr/>
          <p:nvPr/>
        </p:nvSpPr>
        <p:spPr>
          <a:xfrm>
            <a:off x="2368296" y="2615184"/>
            <a:ext cx="1572768" cy="457200"/>
          </a:xfrm>
          <a:prstGeom prst="rect">
            <a:avLst/>
          </a:prstGeom>
          <a:solidFill>
            <a:srgbClr val="B8114F"/>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2368296" y="2615184"/>
            <a:ext cx="1572768" cy="457200"/>
          </a:xfrm>
          <a:prstGeom prst="rect">
            <a:avLst/>
          </a:prstGeom>
          <a:noFill/>
        </p:spPr>
        <p:txBody>
          <a:bodyPr wrap="square" lIns="0" tIns="0" rIns="0" bIns="0" anchor="ctr">
            <a:spAutoFit/>
          </a:bodyPr>
          <a:lstStyle/>
          <a:p>
            <a:r>
              <a:t>TRANSFER_LOGS</a:t>
            </a:r>
          </a:p>
        </p:txBody>
      </p:sp>
      <p:sp>
        <p:nvSpPr>
          <p:cNvPr id="65" name="Rectangle 64"/>
          <p:cNvSpPr/>
          <p:nvPr/>
        </p:nvSpPr>
        <p:spPr>
          <a:xfrm>
            <a:off x="4325112" y="2615184"/>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325112" y="2615184"/>
            <a:ext cx="1572768" cy="457200"/>
          </a:xfrm>
          <a:prstGeom prst="rect">
            <a:avLst/>
          </a:prstGeom>
          <a:noFill/>
        </p:spPr>
        <p:txBody>
          <a:bodyPr wrap="square" lIns="0" tIns="0" rIns="0" bIns="0" anchor="ctr">
            <a:spAutoFit/>
          </a:bodyPr>
          <a:lstStyle/>
          <a:p>
            <a:r>
              <a:t>AUDIT_TRAIL</a:t>
            </a:r>
          </a:p>
        </p:txBody>
      </p:sp>
      <p:sp>
        <p:nvSpPr>
          <p:cNvPr id="67" name="Rectangle 66"/>
          <p:cNvSpPr/>
          <p:nvPr/>
        </p:nvSpPr>
        <p:spPr>
          <a:xfrm>
            <a:off x="10195560" y="2615184"/>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10195560" y="2615184"/>
            <a:ext cx="1572768" cy="457200"/>
          </a:xfrm>
          <a:prstGeom prst="rect">
            <a:avLst/>
          </a:prstGeom>
          <a:noFill/>
        </p:spPr>
        <p:txBody>
          <a:bodyPr wrap="square" lIns="0" tIns="0" rIns="0" bIns="0" anchor="ctr">
            <a:spAutoFit/>
          </a:bodyPr>
          <a:lstStyle/>
          <a:p>
            <a:r>
              <a:t>BALANCE_HISTORY</a:t>
            </a:r>
          </a:p>
        </p:txBody>
      </p:sp>
      <p:sp>
        <p:nvSpPr>
          <p:cNvPr id="69" name="Rectangle 68"/>
          <p:cNvSpPr/>
          <p:nvPr/>
        </p:nvSpPr>
        <p:spPr>
          <a:xfrm>
            <a:off x="2368296"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2368296" y="3557016"/>
            <a:ext cx="1572768" cy="457200"/>
          </a:xfrm>
          <a:prstGeom prst="rect">
            <a:avLst/>
          </a:prstGeom>
          <a:noFill/>
        </p:spPr>
        <p:txBody>
          <a:bodyPr wrap="square" lIns="0" tIns="0" rIns="0" bIns="0" anchor="ctr">
            <a:spAutoFit/>
          </a:bodyPr>
          <a:lstStyle/>
          <a:p>
            <a:r>
              <a:t>MONTHLY_AGGREGATES</a:t>
            </a:r>
          </a:p>
        </p:txBody>
      </p:sp>
      <p:sp>
        <p:nvSpPr>
          <p:cNvPr id="71" name="Rectangle 70"/>
          <p:cNvSpPr/>
          <p:nvPr/>
        </p:nvSpPr>
        <p:spPr>
          <a:xfrm>
            <a:off x="4325112"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325112" y="3557016"/>
            <a:ext cx="1572768" cy="457200"/>
          </a:xfrm>
          <a:prstGeom prst="rect">
            <a:avLst/>
          </a:prstGeom>
          <a:noFill/>
        </p:spPr>
        <p:txBody>
          <a:bodyPr wrap="square" lIns="0" tIns="0" rIns="0" bIns="0" anchor="ctr">
            <a:spAutoFit/>
          </a:bodyPr>
          <a:lstStyle/>
          <a:p>
            <a:r>
              <a:t>TRANSFERS</a:t>
            </a:r>
          </a:p>
        </p:txBody>
      </p:sp>
      <p:sp>
        <p:nvSpPr>
          <p:cNvPr id="73" name="Rectangle 72"/>
          <p:cNvSpPr/>
          <p:nvPr/>
        </p:nvSpPr>
        <p:spPr>
          <a:xfrm>
            <a:off x="6281928" y="3557016"/>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6281928" y="3557016"/>
            <a:ext cx="1572768" cy="457200"/>
          </a:xfrm>
          <a:prstGeom prst="rect">
            <a:avLst/>
          </a:prstGeom>
          <a:noFill/>
        </p:spPr>
        <p:txBody>
          <a:bodyPr wrap="square" lIns="0" tIns="0" rIns="0" bIns="0" anchor="ctr">
            <a:spAutoFit/>
          </a:bodyPr>
          <a:lstStyle/>
          <a:p>
            <a:r>
              <a:t>SAVINGS_GOALS</a:t>
            </a:r>
          </a:p>
        </p:txBody>
      </p:sp>
      <p:sp>
        <p:nvSpPr>
          <p:cNvPr id="75" name="Rectangle 74"/>
          <p:cNvSpPr/>
          <p:nvPr/>
        </p:nvSpPr>
        <p:spPr>
          <a:xfrm>
            <a:off x="6281928"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6281928" y="4498848"/>
            <a:ext cx="1572768" cy="457200"/>
          </a:xfrm>
          <a:prstGeom prst="rect">
            <a:avLst/>
          </a:prstGeom>
          <a:noFill/>
        </p:spPr>
        <p:txBody>
          <a:bodyPr wrap="square" lIns="0" tIns="0" rIns="0" bIns="0" anchor="ctr">
            <a:spAutoFit/>
          </a:bodyPr>
          <a:lstStyle/>
          <a:p>
            <a:r>
              <a:t>EXPENSE_FORECASTS</a:t>
            </a:r>
          </a:p>
        </p:txBody>
      </p:sp>
      <p:sp>
        <p:nvSpPr>
          <p:cNvPr id="77" name="Rectangle 76"/>
          <p:cNvSpPr/>
          <p:nvPr/>
        </p:nvSpPr>
        <p:spPr>
          <a:xfrm>
            <a:off x="8238744"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238744" y="4498848"/>
            <a:ext cx="1572768" cy="457200"/>
          </a:xfrm>
          <a:prstGeom prst="rect">
            <a:avLst/>
          </a:prstGeom>
          <a:noFill/>
        </p:spPr>
        <p:txBody>
          <a:bodyPr wrap="square" lIns="0" tIns="0" rIns="0" bIns="0" anchor="ctr">
            <a:spAutoFit/>
          </a:bodyPr>
          <a:lstStyle/>
          <a:p>
            <a:r>
              <a:t>REPORTS</a:t>
            </a:r>
          </a:p>
        </p:txBody>
      </p:sp>
      <p:sp>
        <p:nvSpPr>
          <p:cNvPr id="79" name="Rectangle 78"/>
          <p:cNvSpPr/>
          <p:nvPr/>
        </p:nvSpPr>
        <p:spPr>
          <a:xfrm>
            <a:off x="10195560" y="4498848"/>
            <a:ext cx="1572768" cy="457200"/>
          </a:xfrm>
          <a:prstGeom prst="rect">
            <a:avLst/>
          </a:prstGeom>
          <a:solidFill>
            <a:srgbClr val="FBE3EC"/>
          </a:solidFill>
          <a:ln w="15875">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10195560" y="4498848"/>
            <a:ext cx="1572768" cy="457200"/>
          </a:xfrm>
          <a:prstGeom prst="rect">
            <a:avLst/>
          </a:prstGeom>
          <a:noFill/>
        </p:spPr>
        <p:txBody>
          <a:bodyPr wrap="square" lIns="0" tIns="0" rIns="0" bIns="0" anchor="ctr">
            <a:spAutoFit/>
          </a:bodyPr>
          <a:lstStyle/>
          <a:p>
            <a:r>
              <a:t>SECURITY_LOGS</a:t>
            </a:r>
          </a:p>
        </p:txBody>
      </p:sp>
      <p:cxnSp>
        <p:nvCxnSpPr>
          <p:cNvPr id="81" name="Connector 80"/>
          <p:cNvCxnSpPr/>
          <p:nvPr/>
        </p:nvCxnSpPr>
        <p:spPr>
          <a:xfrm flipV="1">
            <a:off x="6693408" y="603504"/>
            <a:ext cx="0" cy="128016"/>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6693408" y="603504"/>
            <a:ext cx="914400" cy="0"/>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607808" y="603504"/>
            <a:ext cx="0" cy="128016"/>
          </a:xfrm>
          <a:prstGeom prst="line">
            <a:avLst/>
          </a:prstGeom>
          <a:ln w="15875">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8019288" y="548640"/>
            <a:ext cx="822960" cy="182880"/>
          </a:xfrm>
          <a:prstGeom prst="rect">
            <a:avLst/>
          </a:prstGeom>
          <a:noFill/>
        </p:spPr>
        <p:txBody>
          <a:bodyPr wrap="square" lIns="36576" tIns="36576" rIns="36576" bIns="36576" anchor="t">
            <a:spAutoFit/>
          </a:bodyPr>
          <a:lstStyle/>
          <a:p>
            <a:pPr algn="l"/>
            <a:endParaRPr/>
          </a:p>
        </p:txBody>
      </p:sp>
      <p:sp>
        <p:nvSpPr>
          <p:cNvPr id="85" name="TextBox 84"/>
          <p:cNvSpPr txBox="1"/>
          <p:nvPr/>
        </p:nvSpPr>
        <p:spPr>
          <a:xfrm>
            <a:off x="10195560" y="1216152"/>
            <a:ext cx="1572768" cy="365760"/>
          </a:xfrm>
          <a:prstGeom prst="rect">
            <a:avLst/>
          </a:prstGeom>
          <a:noFill/>
        </p:spPr>
        <p:txBody>
          <a:bodyPr wrap="square" lIns="0" tIns="0" rIns="0" bIns="0" anchor="t">
            <a:spAutoFit/>
          </a:bodyPr>
          <a:lstStyle/>
          <a:p>
            <a:r>
              <a:t>timing per cycle</a:t>
            </a:r>
          </a:p>
          <a:p>
            <a:r>
              <a:t>(lookup table)</a:t>
            </a:r>
          </a:p>
        </p:txBody>
      </p:sp>
      <p:sp>
        <p:nvSpPr>
          <p:cNvPr id="86" name="TextBox 85"/>
          <p:cNvSpPr txBox="1"/>
          <p:nvPr/>
        </p:nvSpPr>
        <p:spPr>
          <a:xfrm>
            <a:off x="10195560" y="3099815"/>
            <a:ext cx="1572768" cy="365760"/>
          </a:xfrm>
          <a:prstGeom prst="rect">
            <a:avLst/>
          </a:prstGeom>
          <a:noFill/>
        </p:spPr>
        <p:txBody>
          <a:bodyPr wrap="square" lIns="0" tIns="0" rIns="0" bIns="0" anchor="t">
            <a:spAutoFit/>
          </a:bodyPr>
          <a:lstStyle/>
          <a:p>
            <a:r>
              <a:t>change history,</a:t>
            </a:r>
          </a:p>
          <a:p>
            <a:r>
              <a:t>filled by triggers</a:t>
            </a:r>
          </a:p>
        </p:txBody>
      </p:sp>
      <p:sp>
        <p:nvSpPr>
          <p:cNvPr id="87" name="Rounded Rectangle 86"/>
          <p:cNvSpPr/>
          <p:nvPr/>
        </p:nvSpPr>
        <p:spPr>
          <a:xfrm>
            <a:off x="411480" y="5257800"/>
            <a:ext cx="11365992" cy="1051560"/>
          </a:xfrm>
          <a:prstGeom prst="roundRect">
            <a:avLst>
              <a:gd name="adj" fmla="val 10434"/>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Rectangle 87"/>
          <p:cNvSpPr/>
          <p:nvPr/>
        </p:nvSpPr>
        <p:spPr>
          <a:xfrm>
            <a:off x="594360" y="5440680"/>
            <a:ext cx="411480" cy="274320"/>
          </a:xfrm>
          <a:prstGeom prst="rect">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Box 88"/>
          <p:cNvSpPr txBox="1"/>
          <p:nvPr/>
        </p:nvSpPr>
        <p:spPr>
          <a:xfrm>
            <a:off x="1097280" y="5413248"/>
            <a:ext cx="2926080" cy="320040"/>
          </a:xfrm>
          <a:prstGeom prst="rect">
            <a:avLst/>
          </a:prstGeom>
          <a:noFill/>
        </p:spPr>
        <p:txBody>
          <a:bodyPr wrap="square" lIns="36576" tIns="36576" rIns="36576" bIns="36576" anchor="t">
            <a:spAutoFit/>
          </a:bodyPr>
          <a:lstStyle/>
          <a:p>
            <a:pPr algn="l"/>
            <a:r>
              <a:rPr sz="1200" b="0" i="0">
                <a:solidFill>
                  <a:srgbClr val="222222"/>
                </a:solidFill>
                <a:latin typeface="Calibri"/>
              </a:rPr>
              <a:t>Strong / independent entity</a:t>
            </a:r>
          </a:p>
        </p:txBody>
      </p:sp>
      <p:sp>
        <p:nvSpPr>
          <p:cNvPr id="90" name="Rectangle 89"/>
          <p:cNvSpPr/>
          <p:nvPr/>
        </p:nvSpPr>
        <p:spPr>
          <a:xfrm>
            <a:off x="594360" y="5852160"/>
            <a:ext cx="411480" cy="274320"/>
          </a:xfrm>
          <a:prstGeom prst="rect">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1097280" y="5824728"/>
            <a:ext cx="2926080" cy="320040"/>
          </a:xfrm>
          <a:prstGeom prst="rect">
            <a:avLst/>
          </a:prstGeom>
          <a:noFill/>
        </p:spPr>
        <p:txBody>
          <a:bodyPr wrap="square" lIns="36576" tIns="36576" rIns="36576" bIns="36576" anchor="t">
            <a:spAutoFit/>
          </a:bodyPr>
          <a:lstStyle/>
          <a:p>
            <a:pPr algn="l"/>
            <a:r>
              <a:rPr sz="1200" b="0" i="0">
                <a:solidFill>
                  <a:srgbClr val="222222"/>
                </a:solidFill>
                <a:latin typeface="Calibri"/>
              </a:rPr>
              <a:t>Dependent / transaction entity</a:t>
            </a:r>
          </a:p>
        </p:txBody>
      </p:sp>
      <p:cxnSp>
        <p:nvCxnSpPr>
          <p:cNvPr id="92" name="Connector 91"/>
          <p:cNvCxnSpPr/>
          <p:nvPr/>
        </p:nvCxnSpPr>
        <p:spPr>
          <a:xfrm>
            <a:off x="3931920" y="5577840"/>
            <a:ext cx="594360" cy="0"/>
          </a:xfrm>
          <a:prstGeom prst="line">
            <a:avLst/>
          </a:prstGeom>
          <a:ln w="15875">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4617720" y="5413248"/>
            <a:ext cx="2743200" cy="320040"/>
          </a:xfrm>
          <a:prstGeom prst="rect">
            <a:avLst/>
          </a:prstGeom>
          <a:noFill/>
        </p:spPr>
        <p:txBody>
          <a:bodyPr wrap="square" lIns="36576" tIns="36576" rIns="36576" bIns="36576" anchor="t">
            <a:spAutoFit/>
          </a:bodyPr>
          <a:lstStyle/>
          <a:p>
            <a:pPr algn="l"/>
            <a:r>
              <a:rPr sz="1200" b="1" i="0">
                <a:solidFill>
                  <a:srgbClr val="B8114F"/>
                </a:solidFill>
                <a:latin typeface="Calibri"/>
              </a:rPr>
              <a:t>1 : N</a:t>
            </a:r>
            <a:r>
              <a:rPr sz="1200" b="0" i="0">
                <a:solidFill>
                  <a:srgbClr val="222222"/>
                </a:solidFill>
                <a:latin typeface="Calibri"/>
              </a:rPr>
              <a:t>  one-to-many (arrow → many side)</a:t>
            </a:r>
          </a:p>
        </p:txBody>
      </p:sp>
      <p:cxnSp>
        <p:nvCxnSpPr>
          <p:cNvPr id="94" name="Connector 93"/>
          <p:cNvCxnSpPr/>
          <p:nvPr/>
        </p:nvCxnSpPr>
        <p:spPr>
          <a:xfrm flipV="1">
            <a:off x="3977639" y="5916168"/>
            <a:ext cx="0" cy="164592"/>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3977639" y="5916168"/>
            <a:ext cx="457201" cy="0"/>
          </a:xfrm>
          <a:prstGeom prst="line">
            <a:avLst/>
          </a:prstGeom>
          <a:ln w="15875">
            <a:solidFill>
              <a:srgbClr val="B8114F"/>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34840" y="5916168"/>
            <a:ext cx="0" cy="164592"/>
          </a:xfrm>
          <a:prstGeom prst="line">
            <a:avLst/>
          </a:prstGeom>
          <a:ln w="15875">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4617720" y="5824728"/>
            <a:ext cx="2743200" cy="320040"/>
          </a:xfrm>
          <a:prstGeom prst="rect">
            <a:avLst/>
          </a:prstGeom>
          <a:noFill/>
        </p:spPr>
        <p:txBody>
          <a:bodyPr wrap="square" lIns="36576" tIns="36576" rIns="36576" bIns="36576" anchor="t">
            <a:spAutoFit/>
          </a:bodyPr>
          <a:lstStyle/>
          <a:p>
            <a:r>
              <a:t>Relational mapping on Oracle 19c engine</a:t>
            </a:r>
          </a:p>
        </p:txBody>
      </p:sp>
    </p:spTree>
    <p:extLst>
      <p:ext uri="{BB962C8B-B14F-4D97-AF65-F5344CB8AC3E}">
        <p14:creationId xmlns:p14="http://schemas.microsoft.com/office/powerpoint/2010/main" val="3499854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Strong and Dependent Entities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5</a:t>
            </a:fld>
            <a:endParaRPr lang="en-US" kern="1200">
              <a:solidFill>
                <a:prstClr val="white"/>
              </a:solidFill>
              <a:latin typeface="Calibri"/>
              <a:ea typeface="+mn-ea"/>
              <a:cs typeface="+mn-cs"/>
            </a:endParaRPr>
          </a:p>
        </p:txBody>
      </p:sp>
      <p:sp>
        <p:nvSpPr>
          <p:cNvPr id="5" name="Rectangle 4"/>
          <p:cNvSpPr/>
          <p:nvPr/>
        </p:nvSpPr>
        <p:spPr>
          <a:xfrm>
            <a:off x="411480" y="658368"/>
            <a:ext cx="3977639" cy="438912"/>
          </a:xfrm>
          <a:prstGeom prst="rect">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02920" y="658368"/>
            <a:ext cx="3840480" cy="438912"/>
          </a:xfrm>
          <a:prstGeom prst="rect">
            <a:avLst/>
          </a:prstGeom>
          <a:noFill/>
        </p:spPr>
        <p:txBody>
          <a:bodyPr wrap="square" lIns="36576" tIns="36576" rIns="36576" bIns="36576" anchor="ctr">
            <a:spAutoFit/>
          </a:bodyPr>
          <a:lstStyle/>
          <a:p>
            <a:r>
              <a:t>Strong / Independent Entities (3)</a:t>
            </a:r>
          </a:p>
        </p:txBody>
      </p:sp>
      <p:sp>
        <p:nvSpPr>
          <p:cNvPr id="7" name="Rectangle 6"/>
          <p:cNvSpPr/>
          <p:nvPr/>
        </p:nvSpPr>
        <p:spPr>
          <a:xfrm>
            <a:off x="411480" y="118872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02920" y="1188720"/>
            <a:ext cx="365760" cy="310896"/>
          </a:xfrm>
          <a:prstGeom prst="rect">
            <a:avLst/>
          </a:prstGeom>
          <a:noFill/>
        </p:spPr>
        <p:txBody>
          <a:bodyPr wrap="square" lIns="0" tIns="0" rIns="0" bIns="0" anchor="ctr">
            <a:spAutoFit/>
          </a:bodyPr>
          <a:lstStyle/>
          <a:p>
            <a:pPr algn="l"/>
            <a:r>
              <a:rPr sz="1200" b="1" i="0">
                <a:solidFill>
                  <a:srgbClr val="B8114F"/>
                </a:solidFill>
                <a:latin typeface="Calibri"/>
              </a:rPr>
              <a:t>1.</a:t>
            </a:r>
          </a:p>
        </p:txBody>
      </p:sp>
      <p:sp>
        <p:nvSpPr>
          <p:cNvPr id="9" name="TextBox 8"/>
          <p:cNvSpPr txBox="1"/>
          <p:nvPr/>
        </p:nvSpPr>
        <p:spPr>
          <a:xfrm>
            <a:off x="868680" y="1188720"/>
            <a:ext cx="3474720" cy="310896"/>
          </a:xfrm>
          <a:prstGeom prst="rect">
            <a:avLst/>
          </a:prstGeom>
          <a:noFill/>
        </p:spPr>
        <p:txBody>
          <a:bodyPr wrap="square" lIns="0" tIns="0" rIns="0" bIns="0" anchor="ctr">
            <a:spAutoFit/>
          </a:bodyPr>
          <a:lstStyle/>
          <a:p>
            <a:r>
              <a:t>users</a:t>
            </a:r>
          </a:p>
        </p:txBody>
      </p:sp>
      <p:sp>
        <p:nvSpPr>
          <p:cNvPr id="10" name="Rectangle 9"/>
          <p:cNvSpPr/>
          <p:nvPr/>
        </p:nvSpPr>
        <p:spPr>
          <a:xfrm>
            <a:off x="411480" y="155448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1554480"/>
            <a:ext cx="365760" cy="310896"/>
          </a:xfrm>
          <a:prstGeom prst="rect">
            <a:avLst/>
          </a:prstGeom>
          <a:noFill/>
        </p:spPr>
        <p:txBody>
          <a:bodyPr wrap="square" lIns="0" tIns="0" rIns="0" bIns="0" anchor="ctr">
            <a:spAutoFit/>
          </a:bodyPr>
          <a:lstStyle/>
          <a:p>
            <a:pPr algn="l"/>
            <a:r>
              <a:rPr sz="1200" b="1" i="0">
                <a:solidFill>
                  <a:srgbClr val="B8114F"/>
                </a:solidFill>
                <a:latin typeface="Calibri"/>
              </a:rPr>
              <a:t>2.</a:t>
            </a:r>
          </a:p>
        </p:txBody>
      </p:sp>
      <p:sp>
        <p:nvSpPr>
          <p:cNvPr id="12" name="TextBox 11"/>
          <p:cNvSpPr txBox="1"/>
          <p:nvPr/>
        </p:nvSpPr>
        <p:spPr>
          <a:xfrm>
            <a:off x="868680" y="1554480"/>
            <a:ext cx="3474720" cy="310896"/>
          </a:xfrm>
          <a:prstGeom prst="rect">
            <a:avLst/>
          </a:prstGeom>
          <a:noFill/>
        </p:spPr>
        <p:txBody>
          <a:bodyPr wrap="square" lIns="0" tIns="0" rIns="0" bIns="0" anchor="ctr">
            <a:spAutoFit/>
          </a:bodyPr>
          <a:lstStyle/>
          <a:p>
            <a:r>
              <a:t>accounts</a:t>
            </a:r>
          </a:p>
        </p:txBody>
      </p:sp>
      <p:sp>
        <p:nvSpPr>
          <p:cNvPr id="13" name="Rectangle 12"/>
          <p:cNvSpPr/>
          <p:nvPr/>
        </p:nvSpPr>
        <p:spPr>
          <a:xfrm>
            <a:off x="411480" y="192024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2920" y="1920240"/>
            <a:ext cx="365760" cy="310896"/>
          </a:xfrm>
          <a:prstGeom prst="rect">
            <a:avLst/>
          </a:prstGeom>
          <a:noFill/>
        </p:spPr>
        <p:txBody>
          <a:bodyPr wrap="square" lIns="0" tIns="0" rIns="0" bIns="0" anchor="ctr">
            <a:spAutoFit/>
          </a:bodyPr>
          <a:lstStyle/>
          <a:p>
            <a:pPr algn="l"/>
            <a:r>
              <a:rPr sz="1200" b="1" i="0">
                <a:solidFill>
                  <a:srgbClr val="B8114F"/>
                </a:solidFill>
                <a:latin typeface="Calibri"/>
              </a:rPr>
              <a:t>3.</a:t>
            </a:r>
          </a:p>
        </p:txBody>
      </p:sp>
      <p:sp>
        <p:nvSpPr>
          <p:cNvPr id="15" name="TextBox 14"/>
          <p:cNvSpPr txBox="1"/>
          <p:nvPr/>
        </p:nvSpPr>
        <p:spPr>
          <a:xfrm>
            <a:off x="868680" y="1920240"/>
            <a:ext cx="3474720" cy="310896"/>
          </a:xfrm>
          <a:prstGeom prst="rect">
            <a:avLst/>
          </a:prstGeom>
          <a:noFill/>
        </p:spPr>
        <p:txBody>
          <a:bodyPr wrap="square" lIns="0" tIns="0" rIns="0" bIns="0" anchor="ctr">
            <a:spAutoFit/>
          </a:bodyPr>
          <a:lstStyle/>
          <a:p>
            <a:r>
              <a:t>categories</a:t>
            </a:r>
          </a:p>
        </p:txBody>
      </p:sp>
      <p:sp>
        <p:nvSpPr>
          <p:cNvPr id="16" name="Rectangle 15"/>
          <p:cNvSpPr/>
          <p:nvPr/>
        </p:nvSpPr>
        <p:spPr>
          <a:xfrm>
            <a:off x="-18288000" y="228600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8288000" y="2286000"/>
            <a:ext cx="365760" cy="310896"/>
          </a:xfrm>
          <a:prstGeom prst="rect">
            <a:avLst/>
          </a:prstGeom>
          <a:noFill/>
        </p:spPr>
        <p:txBody>
          <a:bodyPr wrap="square" lIns="0" tIns="0" rIns="0" bIns="0" anchor="ctr">
            <a:spAutoFit/>
          </a:bodyPr>
          <a:lstStyle/>
          <a:p>
            <a:pPr algn="l"/>
            <a:r>
              <a:rPr sz="1200" b="1" i="0">
                <a:solidFill>
                  <a:srgbClr val="B8114F"/>
                </a:solidFill>
                <a:latin typeface="Calibri"/>
              </a:rPr>
              <a:t>4.</a:t>
            </a:r>
          </a:p>
        </p:txBody>
      </p:sp>
      <p:sp>
        <p:nvSpPr>
          <p:cNvPr id="18" name="TextBox 17"/>
          <p:cNvSpPr txBox="1"/>
          <p:nvPr/>
        </p:nvSpPr>
        <p:spPr>
          <a:xfrm>
            <a:off x="-18288000" y="228600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users</a:t>
            </a:r>
          </a:p>
        </p:txBody>
      </p:sp>
      <p:sp>
        <p:nvSpPr>
          <p:cNvPr id="19" name="Rectangle 18"/>
          <p:cNvSpPr/>
          <p:nvPr/>
        </p:nvSpPr>
        <p:spPr>
          <a:xfrm>
            <a:off x="-18288000" y="265176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8288000" y="2651760"/>
            <a:ext cx="365760" cy="310896"/>
          </a:xfrm>
          <a:prstGeom prst="rect">
            <a:avLst/>
          </a:prstGeom>
          <a:noFill/>
        </p:spPr>
        <p:txBody>
          <a:bodyPr wrap="square" lIns="0" tIns="0" rIns="0" bIns="0" anchor="ctr">
            <a:spAutoFit/>
          </a:bodyPr>
          <a:lstStyle/>
          <a:p>
            <a:pPr algn="l"/>
            <a:r>
              <a:rPr sz="1200" b="1" i="0">
                <a:solidFill>
                  <a:srgbClr val="B8114F"/>
                </a:solidFill>
                <a:latin typeface="Calibri"/>
              </a:rPr>
              <a:t>5.</a:t>
            </a:r>
          </a:p>
        </p:txBody>
      </p:sp>
      <p:sp>
        <p:nvSpPr>
          <p:cNvPr id="21" name="TextBox 20"/>
          <p:cNvSpPr txBox="1"/>
          <p:nvPr/>
        </p:nvSpPr>
        <p:spPr>
          <a:xfrm>
            <a:off x="-18288000" y="265176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equipment_categories</a:t>
            </a:r>
          </a:p>
        </p:txBody>
      </p:sp>
      <p:sp>
        <p:nvSpPr>
          <p:cNvPr id="22" name="Rectangle 21"/>
          <p:cNvSpPr/>
          <p:nvPr/>
        </p:nvSpPr>
        <p:spPr>
          <a:xfrm>
            <a:off x="-18288000" y="301752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8288000" y="3017520"/>
            <a:ext cx="365760" cy="310896"/>
          </a:xfrm>
          <a:prstGeom prst="rect">
            <a:avLst/>
          </a:prstGeom>
          <a:noFill/>
        </p:spPr>
        <p:txBody>
          <a:bodyPr wrap="square" lIns="0" tIns="0" rIns="0" bIns="0" anchor="ctr">
            <a:spAutoFit/>
          </a:bodyPr>
          <a:lstStyle/>
          <a:p>
            <a:pPr algn="l"/>
            <a:r>
              <a:rPr sz="1200" b="1" i="0">
                <a:solidFill>
                  <a:srgbClr val="B8114F"/>
                </a:solidFill>
                <a:latin typeface="Calibri"/>
              </a:rPr>
              <a:t>6.</a:t>
            </a:r>
          </a:p>
        </p:txBody>
      </p:sp>
      <p:sp>
        <p:nvSpPr>
          <p:cNvPr id="24" name="TextBox 23"/>
          <p:cNvSpPr txBox="1"/>
          <p:nvPr/>
        </p:nvSpPr>
        <p:spPr>
          <a:xfrm>
            <a:off x="-18288000" y="301752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escalation_rules</a:t>
            </a:r>
          </a:p>
        </p:txBody>
      </p:sp>
      <p:sp>
        <p:nvSpPr>
          <p:cNvPr id="25" name="Rectangle 24"/>
          <p:cNvSpPr/>
          <p:nvPr/>
        </p:nvSpPr>
        <p:spPr>
          <a:xfrm>
            <a:off x="-18288000" y="3383280"/>
            <a:ext cx="3977639" cy="310896"/>
          </a:xfrm>
          <a:prstGeom prst="rect">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8288000" y="3383280"/>
            <a:ext cx="365760" cy="310896"/>
          </a:xfrm>
          <a:prstGeom prst="rect">
            <a:avLst/>
          </a:prstGeom>
          <a:noFill/>
        </p:spPr>
        <p:txBody>
          <a:bodyPr wrap="square" lIns="0" tIns="0" rIns="0" bIns="0" anchor="ctr">
            <a:spAutoFit/>
          </a:bodyPr>
          <a:lstStyle/>
          <a:p>
            <a:pPr algn="l"/>
            <a:r>
              <a:rPr sz="1200" b="1" i="0">
                <a:solidFill>
                  <a:srgbClr val="B8114F"/>
                </a:solidFill>
                <a:latin typeface="Calibri"/>
              </a:rPr>
              <a:t>7.</a:t>
            </a:r>
          </a:p>
        </p:txBody>
      </p:sp>
      <p:sp>
        <p:nvSpPr>
          <p:cNvPr id="27" name="TextBox 26"/>
          <p:cNvSpPr txBox="1"/>
          <p:nvPr/>
        </p:nvSpPr>
        <p:spPr>
          <a:xfrm>
            <a:off x="-18288000" y="3383280"/>
            <a:ext cx="3474720" cy="310896"/>
          </a:xfrm>
          <a:prstGeom prst="rect">
            <a:avLst/>
          </a:prstGeom>
          <a:noFill/>
        </p:spPr>
        <p:txBody>
          <a:bodyPr wrap="square" lIns="0" tIns="0" rIns="0" bIns="0" anchor="ctr">
            <a:spAutoFit/>
          </a:bodyPr>
          <a:lstStyle/>
          <a:p>
            <a:pPr algn="l"/>
            <a:r>
              <a:rPr sz="1200" b="0" i="0">
                <a:solidFill>
                  <a:srgbClr val="222222"/>
                </a:solidFill>
                <a:latin typeface="Courier New"/>
              </a:rPr>
              <a:t>equipment_units</a:t>
            </a:r>
          </a:p>
        </p:txBody>
      </p:sp>
      <p:sp>
        <p:nvSpPr>
          <p:cNvPr id="28" name="TextBox 27"/>
          <p:cNvSpPr txBox="1"/>
          <p:nvPr/>
        </p:nvSpPr>
        <p:spPr>
          <a:xfrm>
            <a:off x="411480" y="2194560"/>
            <a:ext cx="3977639" cy="777240"/>
          </a:xfrm>
          <a:prstGeom prst="rect">
            <a:avLst/>
          </a:prstGeom>
          <a:noFill/>
        </p:spPr>
        <p:txBody>
          <a:bodyPr wrap="square" lIns="36576" tIns="36576" rIns="36576" bIns="36576" anchor="t">
            <a:spAutoFit/>
          </a:bodyPr>
          <a:lstStyle/>
          <a:p>
            <a:r>
              <a:t>Why independent? They have their own identity and primary key and can be referenced by other tables.</a:t>
            </a:r>
          </a:p>
        </p:txBody>
      </p:sp>
      <p:sp>
        <p:nvSpPr>
          <p:cNvPr id="29" name="Rectangle 28"/>
          <p:cNvSpPr/>
          <p:nvPr/>
        </p:nvSpPr>
        <p:spPr>
          <a:xfrm>
            <a:off x="4617720" y="658368"/>
            <a:ext cx="7159752" cy="438912"/>
          </a:xfrm>
          <a:prstGeom prst="rect">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709160" y="658368"/>
            <a:ext cx="6949440" cy="438912"/>
          </a:xfrm>
          <a:prstGeom prst="rect">
            <a:avLst/>
          </a:prstGeom>
          <a:noFill/>
        </p:spPr>
        <p:txBody>
          <a:bodyPr wrap="square" lIns="36576" tIns="36576" rIns="36576" bIns="36576" anchor="ctr">
            <a:spAutoFit/>
          </a:bodyPr>
          <a:lstStyle/>
          <a:p>
            <a:r>
              <a:t>Dependent / Transaction Entities (5)</a:t>
            </a:r>
          </a:p>
        </p:txBody>
      </p:sp>
      <p:sp>
        <p:nvSpPr>
          <p:cNvPr id="31" name="Rectangle 30"/>
          <p:cNvSpPr/>
          <p:nvPr/>
        </p:nvSpPr>
        <p:spPr>
          <a:xfrm>
            <a:off x="4617720" y="11887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709159" y="1188720"/>
            <a:ext cx="411480" cy="310896"/>
          </a:xfrm>
          <a:prstGeom prst="rect">
            <a:avLst/>
          </a:prstGeom>
          <a:noFill/>
        </p:spPr>
        <p:txBody>
          <a:bodyPr wrap="square" lIns="0" tIns="0" rIns="0" bIns="0" anchor="ctr">
            <a:spAutoFit/>
          </a:bodyPr>
          <a:lstStyle/>
          <a:p>
            <a:pPr algn="l"/>
            <a:r>
              <a:rPr sz="1200" b="1" i="0">
                <a:solidFill>
                  <a:srgbClr val="B8114F"/>
                </a:solidFill>
                <a:latin typeface="Calibri"/>
              </a:rPr>
              <a:t>1.</a:t>
            </a:r>
          </a:p>
        </p:txBody>
      </p:sp>
      <p:sp>
        <p:nvSpPr>
          <p:cNvPr id="33" name="TextBox 32"/>
          <p:cNvSpPr txBox="1"/>
          <p:nvPr/>
        </p:nvSpPr>
        <p:spPr>
          <a:xfrm>
            <a:off x="5120640" y="1188720"/>
            <a:ext cx="3017520" cy="310896"/>
          </a:xfrm>
          <a:prstGeom prst="rect">
            <a:avLst/>
          </a:prstGeom>
          <a:noFill/>
        </p:spPr>
        <p:txBody>
          <a:bodyPr wrap="square" lIns="0" tIns="0" rIns="0" bIns="0" anchor="ctr">
            <a:spAutoFit/>
          </a:bodyPr>
          <a:lstStyle/>
          <a:p>
            <a:r>
              <a:t>transactions</a:t>
            </a:r>
          </a:p>
        </p:txBody>
      </p:sp>
      <p:sp>
        <p:nvSpPr>
          <p:cNvPr id="34" name="Rectangle 33"/>
          <p:cNvSpPr/>
          <p:nvPr/>
        </p:nvSpPr>
        <p:spPr>
          <a:xfrm>
            <a:off x="4617720" y="155448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709159" y="1554480"/>
            <a:ext cx="411480" cy="310896"/>
          </a:xfrm>
          <a:prstGeom prst="rect">
            <a:avLst/>
          </a:prstGeom>
          <a:noFill/>
        </p:spPr>
        <p:txBody>
          <a:bodyPr wrap="square" lIns="0" tIns="0" rIns="0" bIns="0" anchor="ctr">
            <a:spAutoFit/>
          </a:bodyPr>
          <a:lstStyle/>
          <a:p>
            <a:pPr algn="l"/>
            <a:r>
              <a:rPr sz="1200" b="1" i="0">
                <a:solidFill>
                  <a:srgbClr val="B8114F"/>
                </a:solidFill>
                <a:latin typeface="Calibri"/>
              </a:rPr>
              <a:t>2.</a:t>
            </a:r>
          </a:p>
        </p:txBody>
      </p:sp>
      <p:sp>
        <p:nvSpPr>
          <p:cNvPr id="36" name="TextBox 35"/>
          <p:cNvSpPr txBox="1"/>
          <p:nvPr/>
        </p:nvSpPr>
        <p:spPr>
          <a:xfrm>
            <a:off x="5120640" y="1554480"/>
            <a:ext cx="3017520" cy="310896"/>
          </a:xfrm>
          <a:prstGeom prst="rect">
            <a:avLst/>
          </a:prstGeom>
          <a:noFill/>
        </p:spPr>
        <p:txBody>
          <a:bodyPr wrap="square" lIns="0" tIns="0" rIns="0" bIns="0" anchor="ctr">
            <a:spAutoFit/>
          </a:bodyPr>
          <a:lstStyle/>
          <a:p>
            <a:r>
              <a:t>budgets</a:t>
            </a:r>
          </a:p>
        </p:txBody>
      </p:sp>
      <p:sp>
        <p:nvSpPr>
          <p:cNvPr id="37" name="Rectangle 36"/>
          <p:cNvSpPr/>
          <p:nvPr/>
        </p:nvSpPr>
        <p:spPr>
          <a:xfrm>
            <a:off x="4617720" y="192024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709159" y="1920240"/>
            <a:ext cx="411480" cy="310896"/>
          </a:xfrm>
          <a:prstGeom prst="rect">
            <a:avLst/>
          </a:prstGeom>
          <a:noFill/>
        </p:spPr>
        <p:txBody>
          <a:bodyPr wrap="square" lIns="0" tIns="0" rIns="0" bIns="0" anchor="ctr">
            <a:spAutoFit/>
          </a:bodyPr>
          <a:lstStyle/>
          <a:p>
            <a:pPr algn="l"/>
            <a:r>
              <a:rPr sz="1200" b="1" i="0">
                <a:solidFill>
                  <a:srgbClr val="B8114F"/>
                </a:solidFill>
                <a:latin typeface="Calibri"/>
              </a:rPr>
              <a:t>3.</a:t>
            </a:r>
          </a:p>
        </p:txBody>
      </p:sp>
      <p:sp>
        <p:nvSpPr>
          <p:cNvPr id="39" name="TextBox 38"/>
          <p:cNvSpPr txBox="1"/>
          <p:nvPr/>
        </p:nvSpPr>
        <p:spPr>
          <a:xfrm>
            <a:off x="5120640" y="1920240"/>
            <a:ext cx="3017520" cy="310896"/>
          </a:xfrm>
          <a:prstGeom prst="rect">
            <a:avLst/>
          </a:prstGeom>
          <a:noFill/>
        </p:spPr>
        <p:txBody>
          <a:bodyPr wrap="square" lIns="0" tIns="0" rIns="0" bIns="0" anchor="ctr">
            <a:spAutoFit/>
          </a:bodyPr>
          <a:lstStyle/>
          <a:p>
            <a:r>
              <a:t>recurring_rules</a:t>
            </a:r>
          </a:p>
        </p:txBody>
      </p:sp>
      <p:sp>
        <p:nvSpPr>
          <p:cNvPr id="40" name="Rectangle 39"/>
          <p:cNvSpPr/>
          <p:nvPr/>
        </p:nvSpPr>
        <p:spPr>
          <a:xfrm>
            <a:off x="4617720" y="228600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709159" y="2286000"/>
            <a:ext cx="411480" cy="310896"/>
          </a:xfrm>
          <a:prstGeom prst="rect">
            <a:avLst/>
          </a:prstGeom>
          <a:noFill/>
        </p:spPr>
        <p:txBody>
          <a:bodyPr wrap="square" lIns="0" tIns="0" rIns="0" bIns="0" anchor="ctr">
            <a:spAutoFit/>
          </a:bodyPr>
          <a:lstStyle/>
          <a:p>
            <a:pPr algn="l"/>
            <a:r>
              <a:rPr sz="1200" b="1" i="0">
                <a:solidFill>
                  <a:srgbClr val="B8114F"/>
                </a:solidFill>
                <a:latin typeface="Calibri"/>
              </a:rPr>
              <a:t>4.</a:t>
            </a:r>
          </a:p>
        </p:txBody>
      </p:sp>
      <p:sp>
        <p:nvSpPr>
          <p:cNvPr id="42" name="TextBox 41"/>
          <p:cNvSpPr txBox="1"/>
          <p:nvPr/>
        </p:nvSpPr>
        <p:spPr>
          <a:xfrm>
            <a:off x="5120640" y="2286000"/>
            <a:ext cx="3017520" cy="310896"/>
          </a:xfrm>
          <a:prstGeom prst="rect">
            <a:avLst/>
          </a:prstGeom>
          <a:noFill/>
        </p:spPr>
        <p:txBody>
          <a:bodyPr wrap="square" lIns="0" tIns="0" rIns="0" bIns="0" anchor="ctr">
            <a:spAutoFit/>
          </a:bodyPr>
          <a:lstStyle/>
          <a:p>
            <a:r>
              <a:t>alerts</a:t>
            </a:r>
          </a:p>
        </p:txBody>
      </p:sp>
      <p:sp>
        <p:nvSpPr>
          <p:cNvPr id="43" name="Rectangle 42"/>
          <p:cNvSpPr/>
          <p:nvPr/>
        </p:nvSpPr>
        <p:spPr>
          <a:xfrm>
            <a:off x="4617720" y="265176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709159" y="2651760"/>
            <a:ext cx="411480" cy="310896"/>
          </a:xfrm>
          <a:prstGeom prst="rect">
            <a:avLst/>
          </a:prstGeom>
          <a:noFill/>
        </p:spPr>
        <p:txBody>
          <a:bodyPr wrap="square" lIns="0" tIns="0" rIns="0" bIns="0" anchor="ctr">
            <a:spAutoFit/>
          </a:bodyPr>
          <a:lstStyle/>
          <a:p>
            <a:pPr algn="l"/>
            <a:r>
              <a:rPr sz="1200" b="1" i="0">
                <a:solidFill>
                  <a:srgbClr val="B8114F"/>
                </a:solidFill>
                <a:latin typeface="Calibri"/>
              </a:rPr>
              <a:t>5.</a:t>
            </a:r>
          </a:p>
        </p:txBody>
      </p:sp>
      <p:sp>
        <p:nvSpPr>
          <p:cNvPr id="45" name="TextBox 44"/>
          <p:cNvSpPr txBox="1"/>
          <p:nvPr/>
        </p:nvSpPr>
        <p:spPr>
          <a:xfrm>
            <a:off x="5120640" y="2651760"/>
            <a:ext cx="3017520" cy="310896"/>
          </a:xfrm>
          <a:prstGeom prst="rect">
            <a:avLst/>
          </a:prstGeom>
          <a:noFill/>
        </p:spPr>
        <p:txBody>
          <a:bodyPr wrap="square" lIns="0" tIns="0" rIns="0" bIns="0" anchor="ctr">
            <a:spAutoFit/>
          </a:bodyPr>
          <a:lstStyle/>
          <a:p>
            <a:r>
              <a:t>predictions</a:t>
            </a:r>
          </a:p>
        </p:txBody>
      </p:sp>
      <p:sp>
        <p:nvSpPr>
          <p:cNvPr id="46" name="Rectangle 45"/>
          <p:cNvSpPr/>
          <p:nvPr/>
        </p:nvSpPr>
        <p:spPr>
          <a:xfrm>
            <a:off x="-18288000" y="30175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8288000" y="3017520"/>
            <a:ext cx="411480" cy="310896"/>
          </a:xfrm>
          <a:prstGeom prst="rect">
            <a:avLst/>
          </a:prstGeom>
          <a:noFill/>
        </p:spPr>
        <p:txBody>
          <a:bodyPr wrap="square" lIns="0" tIns="0" rIns="0" bIns="0" anchor="ctr">
            <a:spAutoFit/>
          </a:bodyPr>
          <a:lstStyle/>
          <a:p>
            <a:pPr algn="l"/>
            <a:r>
              <a:rPr sz="1200" b="1" i="0">
                <a:solidFill>
                  <a:srgbClr val="B8114F"/>
                </a:solidFill>
                <a:latin typeface="Calibri"/>
              </a:rPr>
              <a:t>6.</a:t>
            </a:r>
          </a:p>
        </p:txBody>
      </p:sp>
      <p:sp>
        <p:nvSpPr>
          <p:cNvPr id="48" name="TextBox 47"/>
          <p:cNvSpPr txBox="1"/>
          <p:nvPr/>
        </p:nvSpPr>
        <p:spPr>
          <a:xfrm>
            <a:off x="-18288000" y="30175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notifications</a:t>
            </a:r>
          </a:p>
        </p:txBody>
      </p:sp>
      <p:sp>
        <p:nvSpPr>
          <p:cNvPr id="49" name="Rectangle 48"/>
          <p:cNvSpPr/>
          <p:nvPr/>
        </p:nvSpPr>
        <p:spPr>
          <a:xfrm>
            <a:off x="-18288000" y="11887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8288000" y="1188720"/>
            <a:ext cx="411480" cy="310896"/>
          </a:xfrm>
          <a:prstGeom prst="rect">
            <a:avLst/>
          </a:prstGeom>
          <a:noFill/>
        </p:spPr>
        <p:txBody>
          <a:bodyPr wrap="square" lIns="0" tIns="0" rIns="0" bIns="0" anchor="ctr">
            <a:spAutoFit/>
          </a:bodyPr>
          <a:lstStyle/>
          <a:p>
            <a:pPr algn="l"/>
            <a:r>
              <a:rPr sz="1200" b="1" i="0">
                <a:solidFill>
                  <a:srgbClr val="B8114F"/>
                </a:solidFill>
                <a:latin typeface="Calibri"/>
              </a:rPr>
              <a:t>7.</a:t>
            </a:r>
          </a:p>
        </p:txBody>
      </p:sp>
      <p:sp>
        <p:nvSpPr>
          <p:cNvPr id="51" name="TextBox 50"/>
          <p:cNvSpPr txBox="1"/>
          <p:nvPr/>
        </p:nvSpPr>
        <p:spPr>
          <a:xfrm>
            <a:off x="-18288000" y="11887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audit_log</a:t>
            </a:r>
          </a:p>
        </p:txBody>
      </p:sp>
      <p:sp>
        <p:nvSpPr>
          <p:cNvPr id="52" name="Rectangle 51"/>
          <p:cNvSpPr/>
          <p:nvPr/>
        </p:nvSpPr>
        <p:spPr>
          <a:xfrm>
            <a:off x="-18288000" y="155448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8288000" y="1554480"/>
            <a:ext cx="411480" cy="310896"/>
          </a:xfrm>
          <a:prstGeom prst="rect">
            <a:avLst/>
          </a:prstGeom>
          <a:noFill/>
        </p:spPr>
        <p:txBody>
          <a:bodyPr wrap="square" lIns="0" tIns="0" rIns="0" bIns="0" anchor="ctr">
            <a:spAutoFit/>
          </a:bodyPr>
          <a:lstStyle/>
          <a:p>
            <a:pPr algn="l"/>
            <a:r>
              <a:rPr sz="1200" b="1" i="0">
                <a:solidFill>
                  <a:srgbClr val="B8114F"/>
                </a:solidFill>
                <a:latin typeface="Calibri"/>
              </a:rPr>
              <a:t>8.</a:t>
            </a:r>
          </a:p>
        </p:txBody>
      </p:sp>
      <p:sp>
        <p:nvSpPr>
          <p:cNvPr id="54" name="TextBox 53"/>
          <p:cNvSpPr txBox="1"/>
          <p:nvPr/>
        </p:nvSpPr>
        <p:spPr>
          <a:xfrm>
            <a:off x="-18288000" y="155448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category_proposals</a:t>
            </a:r>
          </a:p>
        </p:txBody>
      </p:sp>
      <p:sp>
        <p:nvSpPr>
          <p:cNvPr id="55" name="Rectangle 54"/>
          <p:cNvSpPr/>
          <p:nvPr/>
        </p:nvSpPr>
        <p:spPr>
          <a:xfrm>
            <a:off x="-18288000" y="192024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8288000" y="1920240"/>
            <a:ext cx="411480" cy="310896"/>
          </a:xfrm>
          <a:prstGeom prst="rect">
            <a:avLst/>
          </a:prstGeom>
          <a:noFill/>
        </p:spPr>
        <p:txBody>
          <a:bodyPr wrap="square" lIns="0" tIns="0" rIns="0" bIns="0" anchor="ctr">
            <a:spAutoFit/>
          </a:bodyPr>
          <a:lstStyle/>
          <a:p>
            <a:pPr algn="l"/>
            <a:r>
              <a:rPr sz="1200" b="1" i="0">
                <a:solidFill>
                  <a:srgbClr val="B8114F"/>
                </a:solidFill>
                <a:latin typeface="Calibri"/>
              </a:rPr>
              <a:t>9.</a:t>
            </a:r>
          </a:p>
        </p:txBody>
      </p:sp>
      <p:sp>
        <p:nvSpPr>
          <p:cNvPr id="57" name="TextBox 56"/>
          <p:cNvSpPr txBox="1"/>
          <p:nvPr/>
        </p:nvSpPr>
        <p:spPr>
          <a:xfrm>
            <a:off x="-18288000" y="192024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government_support_requests</a:t>
            </a:r>
          </a:p>
        </p:txBody>
      </p:sp>
      <p:sp>
        <p:nvSpPr>
          <p:cNvPr id="58" name="Rectangle 57"/>
          <p:cNvSpPr/>
          <p:nvPr/>
        </p:nvSpPr>
        <p:spPr>
          <a:xfrm>
            <a:off x="-18288000" y="228600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18288000" y="2286000"/>
            <a:ext cx="411480" cy="310896"/>
          </a:xfrm>
          <a:prstGeom prst="rect">
            <a:avLst/>
          </a:prstGeom>
          <a:noFill/>
        </p:spPr>
        <p:txBody>
          <a:bodyPr wrap="square" lIns="0" tIns="0" rIns="0" bIns="0" anchor="ctr">
            <a:spAutoFit/>
          </a:bodyPr>
          <a:lstStyle/>
          <a:p>
            <a:pPr algn="l"/>
            <a:r>
              <a:rPr sz="1200" b="1" i="0">
                <a:solidFill>
                  <a:srgbClr val="B8114F"/>
                </a:solidFill>
                <a:latin typeface="Calibri"/>
              </a:rPr>
              <a:t>10.</a:t>
            </a:r>
          </a:p>
        </p:txBody>
      </p:sp>
      <p:sp>
        <p:nvSpPr>
          <p:cNvPr id="60" name="TextBox 59"/>
          <p:cNvSpPr txBox="1"/>
          <p:nvPr/>
        </p:nvSpPr>
        <p:spPr>
          <a:xfrm>
            <a:off x="-18288000" y="228600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funding_disbursements</a:t>
            </a:r>
          </a:p>
        </p:txBody>
      </p:sp>
      <p:sp>
        <p:nvSpPr>
          <p:cNvPr id="61" name="Rectangle 60"/>
          <p:cNvSpPr/>
          <p:nvPr/>
        </p:nvSpPr>
        <p:spPr>
          <a:xfrm>
            <a:off x="-18288000" y="265176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18288000" y="2651760"/>
            <a:ext cx="411480" cy="310896"/>
          </a:xfrm>
          <a:prstGeom prst="rect">
            <a:avLst/>
          </a:prstGeom>
          <a:noFill/>
        </p:spPr>
        <p:txBody>
          <a:bodyPr wrap="square" lIns="0" tIns="0" rIns="0" bIns="0" anchor="ctr">
            <a:spAutoFit/>
          </a:bodyPr>
          <a:lstStyle/>
          <a:p>
            <a:pPr algn="l"/>
            <a:r>
              <a:rPr sz="1200" b="1" i="0">
                <a:solidFill>
                  <a:srgbClr val="B8114F"/>
                </a:solidFill>
                <a:latin typeface="Calibri"/>
              </a:rPr>
              <a:t>11.</a:t>
            </a:r>
          </a:p>
        </p:txBody>
      </p:sp>
      <p:sp>
        <p:nvSpPr>
          <p:cNvPr id="63" name="TextBox 62"/>
          <p:cNvSpPr txBox="1"/>
          <p:nvPr/>
        </p:nvSpPr>
        <p:spPr>
          <a:xfrm>
            <a:off x="-18288000" y="265176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loans</a:t>
            </a:r>
          </a:p>
        </p:txBody>
      </p:sp>
      <p:sp>
        <p:nvSpPr>
          <p:cNvPr id="64" name="Rectangle 63"/>
          <p:cNvSpPr/>
          <p:nvPr/>
        </p:nvSpPr>
        <p:spPr>
          <a:xfrm>
            <a:off x="-18288000" y="3017520"/>
            <a:ext cx="3529584" cy="310896"/>
          </a:xfrm>
          <a:prstGeom prst="rect">
            <a:avLst/>
          </a:prstGeom>
          <a:solidFill>
            <a:srgbClr val="FFFFFF"/>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18288000" y="3017520"/>
            <a:ext cx="411480" cy="310896"/>
          </a:xfrm>
          <a:prstGeom prst="rect">
            <a:avLst/>
          </a:prstGeom>
          <a:noFill/>
        </p:spPr>
        <p:txBody>
          <a:bodyPr wrap="square" lIns="0" tIns="0" rIns="0" bIns="0" anchor="ctr">
            <a:spAutoFit/>
          </a:bodyPr>
          <a:lstStyle/>
          <a:p>
            <a:pPr algn="l"/>
            <a:r>
              <a:rPr sz="1200" b="1" i="0">
                <a:solidFill>
                  <a:srgbClr val="B8114F"/>
                </a:solidFill>
                <a:latin typeface="Calibri"/>
              </a:rPr>
              <a:t>12.</a:t>
            </a:r>
          </a:p>
        </p:txBody>
      </p:sp>
      <p:sp>
        <p:nvSpPr>
          <p:cNvPr id="66" name="TextBox 65"/>
          <p:cNvSpPr txBox="1"/>
          <p:nvPr/>
        </p:nvSpPr>
        <p:spPr>
          <a:xfrm>
            <a:off x="-18288000" y="3017520"/>
            <a:ext cx="3017520" cy="310896"/>
          </a:xfrm>
          <a:prstGeom prst="rect">
            <a:avLst/>
          </a:prstGeom>
          <a:noFill/>
        </p:spPr>
        <p:txBody>
          <a:bodyPr wrap="square" lIns="0" tIns="0" rIns="0" bIns="0" anchor="ctr">
            <a:spAutoFit/>
          </a:bodyPr>
          <a:lstStyle/>
          <a:p>
            <a:pPr algn="l"/>
            <a:r>
              <a:rPr sz="1150" b="0" i="0">
                <a:solidFill>
                  <a:srgbClr val="222222"/>
                </a:solidFill>
                <a:latin typeface="Courier New"/>
              </a:rPr>
              <a:t>loan_repayments</a:t>
            </a:r>
          </a:p>
        </p:txBody>
      </p:sp>
      <p:sp>
        <p:nvSpPr>
          <p:cNvPr id="67" name="TextBox 66"/>
          <p:cNvSpPr txBox="1"/>
          <p:nvPr/>
        </p:nvSpPr>
        <p:spPr>
          <a:xfrm>
            <a:off x="4617720" y="2788920"/>
            <a:ext cx="7159752" cy="365760"/>
          </a:xfrm>
          <a:prstGeom prst="rect">
            <a:avLst/>
          </a:prstGeom>
          <a:noFill/>
        </p:spPr>
        <p:txBody>
          <a:bodyPr wrap="square" lIns="36576" tIns="36576" rIns="36576" bIns="36576" anchor="t">
            <a:spAutoFit/>
          </a:bodyPr>
          <a:lstStyle/>
          <a:p>
            <a:r>
              <a:t>Why dependent? They represent activities, transactions or records related to other entities.</a:t>
            </a:r>
          </a:p>
        </p:txBody>
      </p:sp>
      <p:sp>
        <p:nvSpPr>
          <p:cNvPr id="68" name="Rounded Rectangle 67"/>
          <p:cNvSpPr/>
          <p:nvPr/>
        </p:nvSpPr>
        <p:spPr>
          <a:xfrm>
            <a:off x="4617720" y="3200400"/>
            <a:ext cx="7159752" cy="731520"/>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4754880" y="3200400"/>
            <a:ext cx="6903720" cy="731520"/>
          </a:xfrm>
          <a:prstGeom prst="rect">
            <a:avLst/>
          </a:prstGeom>
          <a:noFill/>
        </p:spPr>
        <p:txBody>
          <a:bodyPr wrap="square" lIns="36576" tIns="36576" rIns="36576" bIns="36576" anchor="ctr">
            <a:spAutoFit/>
          </a:bodyPr>
          <a:lstStyle/>
          <a:p>
            <a:r>
              <a:t>Note: These are dependent or transaction entities because their meaning depends on other entities. They still have their own primary keys in our relational implementation.</a:t>
            </a:r>
          </a:p>
        </p:txBody>
      </p:sp>
      <p:sp>
        <p:nvSpPr>
          <p:cNvPr id="70" name="TextBox 69"/>
          <p:cNvSpPr txBox="1"/>
          <p:nvPr/>
        </p:nvSpPr>
        <p:spPr>
          <a:xfrm>
            <a:off x="411480" y="4645152"/>
            <a:ext cx="2743200" cy="320040"/>
          </a:xfrm>
          <a:prstGeom prst="rect">
            <a:avLst/>
          </a:prstGeom>
          <a:noFill/>
        </p:spPr>
        <p:txBody>
          <a:bodyPr wrap="square" lIns="36576" tIns="36576" rIns="36576" bIns="36576" anchor="t">
            <a:spAutoFit/>
          </a:bodyPr>
          <a:lstStyle/>
          <a:p>
            <a:pPr algn="l"/>
            <a:r>
              <a:rPr sz="1400" b="1" i="0">
                <a:solidFill>
                  <a:srgbClr val="B8114F"/>
                </a:solidFill>
                <a:latin typeface="Calibri"/>
              </a:rPr>
              <a:t>Examples</a:t>
            </a:r>
          </a:p>
        </p:txBody>
      </p:sp>
      <p:sp>
        <p:nvSpPr>
          <p:cNvPr id="71" name="Rounded Rectangle 70"/>
          <p:cNvSpPr/>
          <p:nvPr/>
        </p:nvSpPr>
        <p:spPr>
          <a:xfrm>
            <a:off x="41148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502920" y="5001768"/>
            <a:ext cx="3474720" cy="301752"/>
          </a:xfrm>
          <a:prstGeom prst="rect">
            <a:avLst/>
          </a:prstGeom>
          <a:noFill/>
        </p:spPr>
        <p:txBody>
          <a:bodyPr wrap="square" lIns="0" tIns="0" rIns="0" bIns="0" anchor="t">
            <a:spAutoFit/>
          </a:bodyPr>
          <a:lstStyle/>
          <a:p>
            <a:r>
              <a:t>transactions</a:t>
            </a:r>
          </a:p>
        </p:txBody>
      </p:sp>
      <p:sp>
        <p:nvSpPr>
          <p:cNvPr id="73" name="TextBox 72"/>
          <p:cNvSpPr txBox="1"/>
          <p:nvPr/>
        </p:nvSpPr>
        <p:spPr>
          <a:xfrm>
            <a:off x="502920" y="5303520"/>
            <a:ext cx="3474720" cy="301752"/>
          </a:xfrm>
          <a:prstGeom prst="rect">
            <a:avLst/>
          </a:prstGeom>
          <a:noFill/>
        </p:spPr>
        <p:txBody>
          <a:bodyPr wrap="square" lIns="0" tIns="0" rIns="0" bIns="0" anchor="t">
            <a:spAutoFit/>
          </a:bodyPr>
          <a:lstStyle/>
          <a:p>
            <a:r>
              <a:t>depends on → accounts + categories</a:t>
            </a:r>
          </a:p>
        </p:txBody>
      </p:sp>
      <p:sp>
        <p:nvSpPr>
          <p:cNvPr id="74" name="Rounded Rectangle 73"/>
          <p:cNvSpPr/>
          <p:nvPr/>
        </p:nvSpPr>
        <p:spPr>
          <a:xfrm>
            <a:off x="420624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97679" y="5001768"/>
            <a:ext cx="3474720" cy="301752"/>
          </a:xfrm>
          <a:prstGeom prst="rect">
            <a:avLst/>
          </a:prstGeom>
          <a:noFill/>
        </p:spPr>
        <p:txBody>
          <a:bodyPr wrap="square" lIns="0" tIns="0" rIns="0" bIns="0" anchor="t">
            <a:spAutoFit/>
          </a:bodyPr>
          <a:lstStyle/>
          <a:p>
            <a:r>
              <a:t>budgets</a:t>
            </a:r>
          </a:p>
        </p:txBody>
      </p:sp>
      <p:sp>
        <p:nvSpPr>
          <p:cNvPr id="76" name="TextBox 75"/>
          <p:cNvSpPr txBox="1"/>
          <p:nvPr/>
        </p:nvSpPr>
        <p:spPr>
          <a:xfrm>
            <a:off x="4297679" y="5303520"/>
            <a:ext cx="3474720" cy="301752"/>
          </a:xfrm>
          <a:prstGeom prst="rect">
            <a:avLst/>
          </a:prstGeom>
          <a:noFill/>
        </p:spPr>
        <p:txBody>
          <a:bodyPr wrap="square" lIns="0" tIns="0" rIns="0" bIns="0" anchor="t">
            <a:spAutoFit/>
          </a:bodyPr>
          <a:lstStyle/>
          <a:p>
            <a:r>
              <a:t>depends on → users + categories</a:t>
            </a:r>
          </a:p>
        </p:txBody>
      </p:sp>
      <p:sp>
        <p:nvSpPr>
          <p:cNvPr id="77" name="Rounded Rectangle 76"/>
          <p:cNvSpPr/>
          <p:nvPr/>
        </p:nvSpPr>
        <p:spPr>
          <a:xfrm>
            <a:off x="8001000" y="4983480"/>
            <a:ext cx="3657600" cy="658368"/>
          </a:xfrm>
          <a:prstGeom prst="roundRect">
            <a:avLst>
              <a:gd name="adj" fmla="val 12000"/>
            </a:avLst>
          </a:prstGeom>
          <a:solidFill>
            <a:srgbClr val="FFFFFF"/>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092440" y="5001768"/>
            <a:ext cx="3474720" cy="301752"/>
          </a:xfrm>
          <a:prstGeom prst="rect">
            <a:avLst/>
          </a:prstGeom>
          <a:noFill/>
        </p:spPr>
        <p:txBody>
          <a:bodyPr wrap="square" lIns="0" tIns="0" rIns="0" bIns="0" anchor="t">
            <a:spAutoFit/>
          </a:bodyPr>
          <a:lstStyle/>
          <a:p>
            <a:r>
              <a:t>recurring_rules</a:t>
            </a:r>
          </a:p>
        </p:txBody>
      </p:sp>
      <p:sp>
        <p:nvSpPr>
          <p:cNvPr id="79" name="TextBox 78"/>
          <p:cNvSpPr txBox="1"/>
          <p:nvPr/>
        </p:nvSpPr>
        <p:spPr>
          <a:xfrm>
            <a:off x="8092440" y="5303520"/>
            <a:ext cx="3474720" cy="301752"/>
          </a:xfrm>
          <a:prstGeom prst="rect">
            <a:avLst/>
          </a:prstGeom>
          <a:noFill/>
        </p:spPr>
        <p:txBody>
          <a:bodyPr wrap="square" lIns="0" tIns="0" rIns="0" bIns="0" anchor="t">
            <a:spAutoFit/>
          </a:bodyPr>
          <a:lstStyle/>
          <a:p>
            <a:r>
              <a:t>depends on → accounts + categories</a:t>
            </a:r>
          </a:p>
        </p:txBody>
      </p:sp>
      <p:sp>
        <p:nvSpPr>
          <p:cNvPr id="80" name="Rounded Rectangle 79"/>
          <p:cNvSpPr/>
          <p:nvPr/>
        </p:nvSpPr>
        <p:spPr>
          <a:xfrm>
            <a:off x="411480" y="5760720"/>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48640" y="5760720"/>
            <a:ext cx="11064240" cy="457200"/>
          </a:xfrm>
          <a:prstGeom prst="rect">
            <a:avLst/>
          </a:prstGeom>
          <a:noFill/>
        </p:spPr>
        <p:txBody>
          <a:bodyPr wrap="square" lIns="36576" tIns="36576" rIns="36576" bIns="36576" anchor="ctr">
            <a:spAutoFit/>
          </a:bodyPr>
          <a:lstStyle/>
          <a:p>
            <a:r>
              <a:t>Simple explanation:  “Strong entities represent the main objects in the system. Dependent entities represent activities or records associated with those objects.”</a:t>
            </a:r>
          </a:p>
        </p:txBody>
      </p:sp>
    </p:spTree>
    <p:extLst>
      <p:ext uri="{BB962C8B-B14F-4D97-AF65-F5344CB8AC3E}">
        <p14:creationId xmlns:p14="http://schemas.microsoft.com/office/powerpoint/2010/main" val="404639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Relational Schema – 8 Tables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6</a:t>
            </a:fld>
            <a:endParaRPr lang="en-US" kern="1200">
              <a:solidFill>
                <a:prstClr val="white"/>
              </a:solidFill>
              <a:latin typeface="Calibri"/>
              <a:ea typeface="+mn-ea"/>
              <a:cs typeface="+mn-cs"/>
            </a:endParaRPr>
          </a:p>
        </p:txBody>
      </p:sp>
      <p:sp>
        <p:nvSpPr>
          <p:cNvPr id="5" name="Rounded Rectangle 4"/>
          <p:cNvSpPr/>
          <p:nvPr/>
        </p:nvSpPr>
        <p:spPr>
          <a:xfrm>
            <a:off x="411480"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ounded Rectangle 5"/>
          <p:cNvSpPr/>
          <p:nvPr/>
        </p:nvSpPr>
        <p:spPr>
          <a:xfrm>
            <a:off x="411480"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11480" y="658368"/>
            <a:ext cx="2743200" cy="365760"/>
          </a:xfrm>
          <a:prstGeom prst="rect">
            <a:avLst/>
          </a:prstGeom>
          <a:noFill/>
        </p:spPr>
        <p:txBody>
          <a:bodyPr wrap="square" lIns="0" tIns="0" rIns="0" bIns="0" anchor="ctr">
            <a:spAutoFit/>
          </a:bodyPr>
          <a:lstStyle/>
          <a:p>
            <a:r>
              <a:t>Group 1 – User &amp; Accounts</a:t>
            </a:r>
          </a:p>
        </p:txBody>
      </p:sp>
      <p:sp>
        <p:nvSpPr>
          <p:cNvPr id="8" name="TextBox 7"/>
          <p:cNvSpPr txBox="1"/>
          <p:nvPr/>
        </p:nvSpPr>
        <p:spPr>
          <a:xfrm>
            <a:off x="521208" y="1078992"/>
            <a:ext cx="2606040" cy="1645920"/>
          </a:xfrm>
          <a:prstGeom prst="rect">
            <a:avLst/>
          </a:prstGeom>
          <a:noFill/>
        </p:spPr>
        <p:txBody>
          <a:bodyPr wrap="square" lIns="36576" tIns="36576" rIns="36576" bIns="36576" anchor="t">
            <a:spAutoFit/>
          </a:bodyPr>
          <a:lstStyle/>
          <a:p>
            <a:r>
              <a:t>1. users </a:t>
            </a:r>
          </a:p>
          <a:p>
            <a:r>
              <a:t> 2. accounts </a:t>
            </a:r>
          </a:p>
          <a:p>
            <a:r>
              <a:t> 3. categories</a:t>
            </a:r>
          </a:p>
        </p:txBody>
      </p:sp>
      <p:sp>
        <p:nvSpPr>
          <p:cNvPr id="9" name="Rounded Rectangle 8"/>
          <p:cNvSpPr/>
          <p:nvPr/>
        </p:nvSpPr>
        <p:spPr>
          <a:xfrm>
            <a:off x="3282696"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3282696"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282696" y="658368"/>
            <a:ext cx="2743200" cy="365760"/>
          </a:xfrm>
          <a:prstGeom prst="rect">
            <a:avLst/>
          </a:prstGeom>
          <a:noFill/>
        </p:spPr>
        <p:txBody>
          <a:bodyPr wrap="square" lIns="0" tIns="0" rIns="0" bIns="0" anchor="ctr">
            <a:spAutoFit/>
          </a:bodyPr>
          <a:lstStyle/>
          <a:p>
            <a:r>
              <a:t>Group 2 – Ledger &amp; Transfers</a:t>
            </a:r>
          </a:p>
        </p:txBody>
      </p:sp>
      <p:sp>
        <p:nvSpPr>
          <p:cNvPr id="12" name="TextBox 11"/>
          <p:cNvSpPr txBox="1"/>
          <p:nvPr/>
        </p:nvSpPr>
        <p:spPr>
          <a:xfrm>
            <a:off x="3392424" y="1078992"/>
            <a:ext cx="2606040" cy="1645920"/>
          </a:xfrm>
          <a:prstGeom prst="rect">
            <a:avLst/>
          </a:prstGeom>
          <a:noFill/>
        </p:spPr>
        <p:txBody>
          <a:bodyPr wrap="square" lIns="36576" tIns="36576" rIns="36576" bIns="36576" anchor="t">
            <a:spAutoFit/>
          </a:bodyPr>
          <a:lstStyle/>
          <a:p>
            <a:r>
              <a:t>4. transactions</a:t>
            </a:r>
          </a:p>
        </p:txBody>
      </p:sp>
      <p:sp>
        <p:nvSpPr>
          <p:cNvPr id="13" name="Rounded Rectangle 12"/>
          <p:cNvSpPr/>
          <p:nvPr/>
        </p:nvSpPr>
        <p:spPr>
          <a:xfrm>
            <a:off x="6153912"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6153912"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153912" y="658368"/>
            <a:ext cx="2743200" cy="365760"/>
          </a:xfrm>
          <a:prstGeom prst="rect">
            <a:avLst/>
          </a:prstGeom>
          <a:noFill/>
        </p:spPr>
        <p:txBody>
          <a:bodyPr wrap="square" lIns="0" tIns="0" rIns="0" bIns="0" anchor="ctr">
            <a:spAutoFit/>
          </a:bodyPr>
          <a:lstStyle/>
          <a:p>
            <a:r>
              <a:t>Group 3 – Budgeting &amp; Subscriptions</a:t>
            </a:r>
          </a:p>
        </p:txBody>
      </p:sp>
      <p:sp>
        <p:nvSpPr>
          <p:cNvPr id="16" name="TextBox 15"/>
          <p:cNvSpPr txBox="1"/>
          <p:nvPr/>
        </p:nvSpPr>
        <p:spPr>
          <a:xfrm>
            <a:off x="6263640" y="1078992"/>
            <a:ext cx="2606040" cy="1645920"/>
          </a:xfrm>
          <a:prstGeom prst="rect">
            <a:avLst/>
          </a:prstGeom>
          <a:noFill/>
        </p:spPr>
        <p:txBody>
          <a:bodyPr wrap="square" lIns="36576" tIns="36576" rIns="36576" bIns="36576" anchor="t">
            <a:spAutoFit/>
          </a:bodyPr>
          <a:lstStyle/>
          <a:p>
            <a:r>
              <a:t>5. budgets </a:t>
            </a:r>
          </a:p>
          <a:p>
            <a:r>
              <a:t> 6. recurring_rules</a:t>
            </a:r>
          </a:p>
        </p:txBody>
      </p:sp>
      <p:sp>
        <p:nvSpPr>
          <p:cNvPr id="17" name="Rounded Rectangle 16"/>
          <p:cNvSpPr/>
          <p:nvPr/>
        </p:nvSpPr>
        <p:spPr>
          <a:xfrm>
            <a:off x="9025128" y="658368"/>
            <a:ext cx="2743200" cy="1691640"/>
          </a:xfrm>
          <a:prstGeom prst="roundRect">
            <a:avLst>
              <a:gd name="adj" fmla="val 6486"/>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9025128" y="658368"/>
            <a:ext cx="2743200" cy="36576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025128" y="658368"/>
            <a:ext cx="2743200" cy="365760"/>
          </a:xfrm>
          <a:prstGeom prst="rect">
            <a:avLst/>
          </a:prstGeom>
          <a:noFill/>
        </p:spPr>
        <p:txBody>
          <a:bodyPr wrap="square" lIns="0" tIns="0" rIns="0" bIns="0" anchor="ctr">
            <a:spAutoFit/>
          </a:bodyPr>
          <a:lstStyle/>
          <a:p>
            <a:r>
              <a:t>Group 4 – Alerts &amp; Analytics</a:t>
            </a:r>
          </a:p>
        </p:txBody>
      </p:sp>
      <p:sp>
        <p:nvSpPr>
          <p:cNvPr id="20" name="TextBox 19"/>
          <p:cNvSpPr txBox="1"/>
          <p:nvPr/>
        </p:nvSpPr>
        <p:spPr>
          <a:xfrm>
            <a:off x="9134855" y="1078992"/>
            <a:ext cx="2606040" cy="1645920"/>
          </a:xfrm>
          <a:prstGeom prst="rect">
            <a:avLst/>
          </a:prstGeom>
          <a:noFill/>
        </p:spPr>
        <p:txBody>
          <a:bodyPr wrap="square" lIns="36576" tIns="36576" rIns="36576" bIns="36576" anchor="t">
            <a:spAutoFit/>
          </a:bodyPr>
          <a:lstStyle/>
          <a:p>
            <a:r>
              <a:t>7. alerts </a:t>
            </a:r>
          </a:p>
          <a:p>
            <a:r>
              <a:t> 8. predictions</a:t>
            </a:r>
          </a:p>
        </p:txBody>
      </p:sp>
      <p:sp>
        <p:nvSpPr>
          <p:cNvPr id="21" name="TextBox 20"/>
          <p:cNvSpPr txBox="1"/>
          <p:nvPr/>
        </p:nvSpPr>
        <p:spPr>
          <a:xfrm>
            <a:off x="411480" y="2468880"/>
            <a:ext cx="7315200" cy="320040"/>
          </a:xfrm>
          <a:prstGeom prst="rect">
            <a:avLst/>
          </a:prstGeom>
          <a:noFill/>
        </p:spPr>
        <p:txBody>
          <a:bodyPr wrap="square" lIns="36576" tIns="36576" rIns="36576" bIns="36576" anchor="t">
            <a:spAutoFit/>
          </a:bodyPr>
          <a:lstStyle/>
          <a:p>
            <a:pPr algn="l"/>
            <a:r>
              <a:rPr sz="1400" b="1" i="0">
                <a:solidFill>
                  <a:srgbClr val="B8114F"/>
                </a:solidFill>
                <a:latin typeface="Calibri"/>
              </a:rPr>
              <a:t>Selected table structures</a:t>
            </a:r>
          </a:p>
        </p:txBody>
      </p:sp>
      <p:graphicFrame>
        <p:nvGraphicFramePr>
          <p:cNvPr id="22" name="Table 21"/>
          <p:cNvGraphicFramePr>
            <a:graphicFrameLocks noGrp="1"/>
          </p:cNvGraphicFramePr>
          <p:nvPr/>
        </p:nvGraphicFramePr>
        <p:xfrm>
          <a:off x="411480" y="2816352"/>
          <a:ext cx="2743200" cy="292608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accounts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account_id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user_id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account_type</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balance</a:t>
                      </a:r>
                    </a:p>
                  </a:txBody>
                  <a:tcPr marL="54864" marR="54864" marT="18288" marB="18288" anchor="ctr">
                    <a:solidFill>
                      <a:srgbClr val="FDF2F6"/>
                    </a:solidFill>
                  </a:tcPr>
                </a:tc>
                <a:tc>
                  <a:txBody>
                    <a:bodyPr/>
                    <a:lstStyle/>
                    <a:p>
                      <a:r>
                        <a:t>NUMBER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status</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opened_at</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txBody>
                  <a:tcPr marL="54864" marR="54864" marT="18288" marB="18288" anchor="ctr">
                    <a:solidFill>
                      <a:srgbClr val="FFFFFF"/>
                    </a:solidFill>
                  </a:tcPr>
                </a:tc>
                <a:tc>
                  <a:txBody>
                    <a:bodyPr/>
                    <a:lstStyle/>
                    <a:p/>
                  </a:txBody>
                  <a:tcPr marL="54864" marR="54864" marT="18288" marB="18288" anchor="ctr">
                    <a:solidFill>
                      <a:srgbClr val="FFFFFF"/>
                    </a:solidFill>
                  </a:tcPr>
                </a:tc>
                <a:extLst>
                  <a:ext uri="{0D108BD9-81ED-4DB2-BD59-A6C34878D82A}">
                    <a16:rowId xmlns:a16="http://schemas.microsoft.com/office/drawing/2014/main" val="10007"/>
                  </a:ext>
                </a:extLst>
              </a:tr>
            </a:tbl>
          </a:graphicData>
        </a:graphic>
      </p:graphicFrame>
      <p:graphicFrame>
        <p:nvGraphicFramePr>
          <p:cNvPr id="23" name="Table 22"/>
          <p:cNvGraphicFramePr>
            <a:graphicFrameLocks noGrp="1"/>
          </p:cNvGraphicFramePr>
          <p:nvPr/>
        </p:nvGraphicFramePr>
        <p:xfrm>
          <a:off x="3282696" y="2816352"/>
          <a:ext cx="2743200" cy="329184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transactions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txn_id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account_id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amount</a:t>
                      </a:r>
                    </a:p>
                  </a:txBody>
                  <a:tcPr marL="54864" marR="54864" marT="18288" marB="18288" anchor="ctr">
                    <a:solidFill>
                      <a:srgbClr val="FDF2F6"/>
                    </a:solidFill>
                  </a:tcPr>
                </a:tc>
                <a:tc>
                  <a:txBody>
                    <a:bodyPr/>
                    <a:lstStyle/>
                    <a:p>
                      <a:r>
                        <a:t>CHECK</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txn_type</a:t>
                      </a:r>
                    </a:p>
                  </a:txBody>
                  <a:tcPr marL="54864" marR="54864" marT="18288" marB="18288" anchor="ctr">
                    <a:solidFill>
                      <a:srgbClr val="FFFFFF"/>
                    </a:solidFill>
                  </a:tcPr>
                </a:tc>
                <a:tc>
                  <a:txBody>
                    <a:bodyPr/>
                    <a:lstStyle/>
                    <a:p>
                      <a:r>
                        <a:t>CHECK</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txn_date</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r>
                        <a:t>description</a:t>
                      </a:r>
                    </a:p>
                  </a:txBody>
                  <a:tcPr marL="54864" marR="54864" marT="18288" marB="18288" anchor="ctr">
                    <a:solidFill>
                      <a:srgbClr val="FFFFFF"/>
                    </a:solidFill>
                  </a:tcPr>
                </a:tc>
                <a:tc>
                  <a:txBody>
                    <a:bodyPr/>
                    <a:lstStyle/>
                    <a:p>
                      <a:r>
                        <a:t>VARCHAR</a:t>
                      </a:r>
                    </a:p>
                  </a:txBody>
                  <a:tcPr marL="54864" marR="54864" marT="18288" marB="18288" anchor="ctr">
                    <a:solidFill>
                      <a:srgbClr val="FFFFFF"/>
                    </a:solidFill>
                  </a:tcPr>
                </a:tc>
                <a:extLst>
                  <a:ext uri="{0D108BD9-81ED-4DB2-BD59-A6C34878D82A}">
                    <a16:rowId xmlns:a16="http://schemas.microsoft.com/office/drawing/2014/main" val="10007"/>
                  </a:ext>
                </a:extLst>
              </a:tr>
              <a:tr h="365760">
                <a:tc>
                  <a:txBody>
                    <a:bodyPr/>
                    <a:lstStyle/>
                    <a:p>
                      <a:r>
                        <a:rPr sz="1100" b="0">
                          <a:solidFill>
                            <a:srgbClr val="222222"/>
                          </a:solidFill>
                          <a:latin typeface="Courier New"/>
                        </a:rPr>
                        <a:t>needed_by</a:t>
                      </a:r>
                    </a:p>
                  </a:txBody>
                  <a:tcPr marL="54864" marR="54864" marT="18288" marB="18288" anchor="ctr">
                    <a:solidFill>
                      <a:srgbClr val="FDF2F6"/>
                    </a:solidFill>
                  </a:tcPr>
                </a:tc>
                <a:tc>
                  <a:txBody>
                    <a:bodyPr/>
                    <a:lstStyle/>
                    <a:p>
                      <a:endParaRPr/>
                    </a:p>
                  </a:txBody>
                  <a:tcPr marL="54864" marR="54864" marT="18288" marB="18288" anchor="ctr">
                    <a:solidFill>
                      <a:srgbClr val="FDF2F6"/>
                    </a:solidFill>
                  </a:tcPr>
                </a:tc>
                <a:extLst>
                  <a:ext uri="{0D108BD9-81ED-4DB2-BD59-A6C34878D82A}">
                    <a16:rowId xmlns:a16="http://schemas.microsoft.com/office/drawing/2014/main" val="10008"/>
                  </a:ext>
                </a:extLst>
              </a:tr>
            </a:tbl>
          </a:graphicData>
        </a:graphic>
      </p:graphicFrame>
      <p:graphicFrame>
        <p:nvGraphicFramePr>
          <p:cNvPr id="24" name="Table 23"/>
          <p:cNvGraphicFramePr>
            <a:graphicFrameLocks noGrp="1"/>
          </p:cNvGraphicFramePr>
          <p:nvPr/>
        </p:nvGraphicFramePr>
        <p:xfrm>
          <a:off x="6153912" y="2816352"/>
          <a:ext cx="2743200" cy="219456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budgets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budget_id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user_id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month</a:t>
                      </a:r>
                    </a:p>
                  </a:txBody>
                  <a:tcPr marL="54864" marR="54864" marT="18288" marB="18288" anchor="ctr">
                    <a:solidFill>
                      <a:srgbClr val="FDF2F6"/>
                    </a:solidFill>
                  </a:tcPr>
                </a:tc>
                <a:tc>
                  <a:txBody>
                    <a:bodyPr/>
                    <a:lstStyle/>
                    <a:p>
                      <a:r>
                        <a:t>VARCHAR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amount_limit</a:t>
                      </a:r>
                    </a:p>
                  </a:txBody>
                  <a:tcPr marL="54864" marR="54864" marT="18288" marB="18288" anchor="ctr">
                    <a:solidFill>
                      <a:srgbClr val="FFFFFF"/>
                    </a:solidFill>
                  </a:tcPr>
                </a:tc>
                <a:tc>
                  <a:txBody>
                    <a:bodyPr/>
                    <a:lstStyle/>
                    <a:p>
                      <a:r>
                        <a:t>NUMBER</a:t>
                      </a:r>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25" name="Table 24"/>
          <p:cNvGraphicFramePr>
            <a:graphicFrameLocks noGrp="1"/>
          </p:cNvGraphicFramePr>
          <p:nvPr/>
        </p:nvGraphicFramePr>
        <p:xfrm>
          <a:off x="9025128" y="2816352"/>
          <a:ext cx="2743200" cy="292608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tblGrid>
              <a:tr h="365760">
                <a:tc>
                  <a:txBody>
                    <a:bodyPr/>
                    <a:lstStyle/>
                    <a:p>
                      <a:r>
                        <a:t>recurring_rules</a:t>
                      </a:r>
                    </a:p>
                  </a:txBody>
                  <a:tcPr marL="54864" marR="54864" marT="18288" marB="18288" anchor="ctr">
                    <a:solidFill>
                      <a:srgbClr val="B8114F"/>
                    </a:solidFill>
                  </a:tcPr>
                </a:tc>
                <a:tc>
                  <a:txBody>
                    <a:bodyPr/>
                    <a:lstStyle/>
                    <a:p>
                      <a:r>
                        <a:t>Key</a:t>
                      </a:r>
                    </a:p>
                  </a:txBody>
                  <a:tcPr marL="54864" marR="54864" marT="18288" marB="18288" anchor="ctr">
                    <a:solidFill>
                      <a:srgbClr val="B8114F"/>
                    </a:solidFill>
                  </a:tcPr>
                </a:tc>
                <a:extLst>
                  <a:ext uri="{0D108BD9-81ED-4DB2-BD59-A6C34878D82A}">
                    <a16:rowId xmlns:a16="http://schemas.microsoft.com/office/drawing/2014/main" val="10000"/>
                  </a:ext>
                </a:extLst>
              </a:tr>
              <a:tr h="365760">
                <a:tc>
                  <a:txBody>
                    <a:bodyPr/>
                    <a:lstStyle/>
                    <a:p>
                      <a:r>
                        <a:t>rule_id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r>
                        <a:t>account_id</a:t>
                      </a:r>
                    </a:p>
                  </a:txBody>
                  <a:tcPr marL="54864" marR="54864" marT="18288" marB="18288" anchor="ctr">
                    <a:solidFill>
                      <a:srgbClr val="FDF2F6"/>
                    </a:solidFill>
                  </a:tcPr>
                </a:tc>
                <a:tc>
                  <a:txBody>
                    <a:bodyPr/>
                    <a:lstStyle/>
                    <a:p>
                      <a:r>
                        <a:t>FK</a:t>
                      </a:r>
                    </a:p>
                  </a:txBody>
                  <a:tcPr marL="54864" marR="54864" marT="18288" marB="18288" anchor="ctr">
                    <a:solidFill>
                      <a:srgbClr val="FDF2F6"/>
                    </a:solidFill>
                  </a:tcPr>
                </a:tc>
                <a:extLst>
                  <a:ext uri="{0D108BD9-81ED-4DB2-BD59-A6C34878D82A}">
                    <a16:rowId xmlns:a16="http://schemas.microsoft.com/office/drawing/2014/main" val="10002"/>
                  </a:ext>
                </a:extLst>
              </a:tr>
              <a:tr h="365760">
                <a:tc>
                  <a:txBody>
                    <a:bodyPr/>
                    <a:lstStyle/>
                    <a:p>
                      <a:r>
                        <a:t>category_id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r h="365760">
                <a:tc>
                  <a:txBody>
                    <a:bodyPr/>
                    <a:lstStyle/>
                    <a:p>
                      <a:r>
                        <a:t>amount</a:t>
                      </a:r>
                    </a:p>
                  </a:txBody>
                  <a:tcPr marL="54864" marR="54864" marT="18288" marB="18288" anchor="ctr">
                    <a:solidFill>
                      <a:srgbClr val="FDF2F6"/>
                    </a:solidFill>
                  </a:tcPr>
                </a:tc>
                <a:tc>
                  <a:txBody>
                    <a:bodyPr/>
                    <a:lstStyle/>
                    <a:p>
                      <a:r>
                        <a:t>NUMBER</a:t>
                      </a:r>
                    </a:p>
                  </a:txBody>
                  <a:tcPr marL="54864" marR="54864" marT="18288" marB="18288" anchor="ctr">
                    <a:solidFill>
                      <a:srgbClr val="FDF2F6"/>
                    </a:solidFill>
                  </a:tcPr>
                </a:tc>
                <a:extLst>
                  <a:ext uri="{0D108BD9-81ED-4DB2-BD59-A6C34878D82A}">
                    <a16:rowId xmlns:a16="http://schemas.microsoft.com/office/drawing/2014/main" val="10004"/>
                  </a:ext>
                </a:extLst>
              </a:tr>
              <a:tr h="365760">
                <a:tc>
                  <a:txBody>
                    <a:bodyPr/>
                    <a:lstStyle/>
                    <a:p>
                      <a:r>
                        <a:t>frequency</a:t>
                      </a:r>
                    </a:p>
                  </a:txBody>
                  <a:tcPr marL="54864" marR="54864" marT="18288" marB="18288" anchor="ctr">
                    <a:solidFill>
                      <a:srgbClr val="FFFFFF"/>
                    </a:solidFill>
                  </a:tcPr>
                </a:tc>
                <a:tc>
                  <a:txBody>
                    <a:bodyPr/>
                    <a:lstStyle/>
                    <a:p>
                      <a:r>
                        <a:t>VARCHAR</a:t>
                      </a:r>
                    </a:p>
                  </a:txBody>
                  <a:tcPr marL="54864" marR="54864" marT="18288" marB="18288" anchor="ctr">
                    <a:solidFill>
                      <a:srgbClr val="FFFFFF"/>
                    </a:solidFill>
                  </a:tcPr>
                </a:tc>
                <a:extLst>
                  <a:ext uri="{0D108BD9-81ED-4DB2-BD59-A6C34878D82A}">
                    <a16:rowId xmlns:a16="http://schemas.microsoft.com/office/drawing/2014/main" val="10005"/>
                  </a:ext>
                </a:extLst>
              </a:tr>
              <a:tr h="365760">
                <a:tc>
                  <a:txBody>
                    <a:bodyPr/>
                    <a:lstStyle/>
                    <a:p>
                      <a:r>
                        <a:t>next_due_date</a:t>
                      </a:r>
                    </a:p>
                  </a:txBody>
                  <a:tcPr marL="54864" marR="54864" marT="18288" marB="18288" anchor="ctr">
                    <a:solidFill>
                      <a:srgbClr val="FDF2F6"/>
                    </a:solidFill>
                  </a:tcPr>
                </a:tc>
                <a:tc>
                  <a:txBody>
                    <a:bodyPr/>
                    <a:lstStyle/>
                    <a:p>
                      <a:r>
                        <a:t>DATE</a:t>
                      </a:r>
                    </a:p>
                  </a:txBody>
                  <a:tcPr marL="54864" marR="54864" marT="18288" marB="18288" anchor="ctr">
                    <a:solidFill>
                      <a:srgbClr val="FDF2F6"/>
                    </a:solidFill>
                  </a:tcPr>
                </a:tc>
                <a:extLst>
                  <a:ext uri="{0D108BD9-81ED-4DB2-BD59-A6C34878D82A}">
                    <a16:rowId xmlns:a16="http://schemas.microsoft.com/office/drawing/2014/main" val="10006"/>
                  </a:ext>
                </a:extLst>
              </a:tr>
              <a:tr h="365760">
                <a:tc>
                  <a:txBody>
                    <a:bodyPr/>
                    <a:lstStyle/>
                    <a:p>
                      <a:r>
                        <a:rPr sz="1100" b="0">
                          <a:solidFill>
                            <a:srgbClr val="222222"/>
                          </a:solidFill>
                          <a:latin typeface="Courier New"/>
                        </a:rPr>
                        <a:t>status</a:t>
                      </a:r>
                    </a:p>
                  </a:txBody>
                  <a:tcPr marL="54864" marR="54864" marT="18288" marB="18288" anchor="ctr">
                    <a:solidFill>
                      <a:srgbClr val="FFFFFF"/>
                    </a:solidFill>
                  </a:tcPr>
                </a:tc>
                <a:tc>
                  <a:txBody>
                    <a:bodyPr/>
                    <a:lstStyle/>
                    <a:p>
                      <a:endParaRPr/>
                    </a:p>
                  </a:txBody>
                  <a:tcPr marL="54864" marR="54864" marT="18288" marB="18288"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9984047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Keys &amp; Integrity Constraints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7</a:t>
            </a:fld>
            <a:endParaRPr lang="en-US" kern="1200">
              <a:solidFill>
                <a:prstClr val="white"/>
              </a:solidFill>
              <a:latin typeface="Calibri"/>
              <a:ea typeface="+mn-ea"/>
              <a:cs typeface="+mn-cs"/>
            </a:endParaRPr>
          </a:p>
        </p:txBody>
      </p:sp>
      <p:sp>
        <p:nvSpPr>
          <p:cNvPr id="5" name="Rounded Rectangle 4"/>
          <p:cNvSpPr/>
          <p:nvPr/>
        </p:nvSpPr>
        <p:spPr>
          <a:xfrm>
            <a:off x="411480" y="68580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21208" y="83210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key_w.png"/>
          <p:cNvPicPr>
            <a:picLocks noChangeAspect="1"/>
          </p:cNvPicPr>
          <p:nvPr/>
        </p:nvPicPr>
        <p:blipFill>
          <a:blip r:embed="rId3"/>
          <a:stretch>
            <a:fillRect/>
          </a:stretch>
        </p:blipFill>
        <p:spPr>
          <a:xfrm>
            <a:off x="630936" y="941832"/>
            <a:ext cx="237744" cy="237744"/>
          </a:xfrm>
          <a:prstGeom prst="rect">
            <a:avLst/>
          </a:prstGeom>
        </p:spPr>
      </p:pic>
      <p:sp>
        <p:nvSpPr>
          <p:cNvPr id="8" name="TextBox 7"/>
          <p:cNvSpPr txBox="1"/>
          <p:nvPr/>
        </p:nvSpPr>
        <p:spPr>
          <a:xfrm>
            <a:off x="1069848" y="74066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Primary Key</a:t>
            </a:r>
          </a:p>
        </p:txBody>
      </p:sp>
      <p:sp>
        <p:nvSpPr>
          <p:cNvPr id="9" name="TextBox 8"/>
          <p:cNvSpPr txBox="1"/>
          <p:nvPr/>
        </p:nvSpPr>
        <p:spPr>
          <a:xfrm>
            <a:off x="1069848" y="1051560"/>
            <a:ext cx="2011680" cy="347472"/>
          </a:xfrm>
          <a:prstGeom prst="rect">
            <a:avLst/>
          </a:prstGeom>
          <a:noFill/>
        </p:spPr>
        <p:txBody>
          <a:bodyPr wrap="square" lIns="36576" tIns="36576" rIns="36576" bIns="36576" anchor="t">
            <a:spAutoFit/>
          </a:bodyPr>
          <a:lstStyle/>
          <a:p>
            <a:r>
              <a:t>Uniquely identifies each record (user_id, account_id, txn_id).</a:t>
            </a:r>
          </a:p>
        </p:txBody>
      </p:sp>
      <p:sp>
        <p:nvSpPr>
          <p:cNvPr id="10" name="Rounded Rectangle 9"/>
          <p:cNvSpPr/>
          <p:nvPr/>
        </p:nvSpPr>
        <p:spPr>
          <a:xfrm>
            <a:off x="3246120" y="68580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355848" y="83210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exchange_w.png"/>
          <p:cNvPicPr>
            <a:picLocks noChangeAspect="1"/>
          </p:cNvPicPr>
          <p:nvPr/>
        </p:nvPicPr>
        <p:blipFill>
          <a:blip r:embed="rId4"/>
          <a:stretch>
            <a:fillRect/>
          </a:stretch>
        </p:blipFill>
        <p:spPr>
          <a:xfrm>
            <a:off x="3465576" y="941832"/>
            <a:ext cx="237744" cy="237744"/>
          </a:xfrm>
          <a:prstGeom prst="rect">
            <a:avLst/>
          </a:prstGeom>
        </p:spPr>
      </p:pic>
      <p:sp>
        <p:nvSpPr>
          <p:cNvPr id="13" name="TextBox 12"/>
          <p:cNvSpPr txBox="1"/>
          <p:nvPr/>
        </p:nvSpPr>
        <p:spPr>
          <a:xfrm>
            <a:off x="3904488" y="74066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Foreign Key</a:t>
            </a:r>
          </a:p>
        </p:txBody>
      </p:sp>
      <p:sp>
        <p:nvSpPr>
          <p:cNvPr id="14" name="TextBox 13"/>
          <p:cNvSpPr txBox="1"/>
          <p:nvPr/>
        </p:nvSpPr>
        <p:spPr>
          <a:xfrm>
            <a:off x="3904488" y="1051560"/>
            <a:ext cx="2011680" cy="347472"/>
          </a:xfrm>
          <a:prstGeom prst="rect">
            <a:avLst/>
          </a:prstGeom>
          <a:noFill/>
        </p:spPr>
        <p:txBody>
          <a:bodyPr wrap="square" lIns="36576" tIns="36576" rIns="36576" bIns="36576" anchor="t">
            <a:spAutoFit/>
          </a:bodyPr>
          <a:lstStyle/>
          <a:p>
            <a:r>
              <a:t>Connects tables with ON DELETE CASCADE integrity.</a:t>
            </a:r>
          </a:p>
        </p:txBody>
      </p:sp>
      <p:sp>
        <p:nvSpPr>
          <p:cNvPr id="15" name="Rounded Rectangle 14"/>
          <p:cNvSpPr/>
          <p:nvPr/>
        </p:nvSpPr>
        <p:spPr>
          <a:xfrm>
            <a:off x="411480" y="155448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521208" y="170078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shield_w.png"/>
          <p:cNvPicPr>
            <a:picLocks noChangeAspect="1"/>
          </p:cNvPicPr>
          <p:nvPr/>
        </p:nvPicPr>
        <p:blipFill>
          <a:blip r:embed="rId5"/>
          <a:stretch>
            <a:fillRect/>
          </a:stretch>
        </p:blipFill>
        <p:spPr>
          <a:xfrm>
            <a:off x="630936" y="1810512"/>
            <a:ext cx="237744" cy="237744"/>
          </a:xfrm>
          <a:prstGeom prst="rect">
            <a:avLst/>
          </a:prstGeom>
        </p:spPr>
      </p:pic>
      <p:sp>
        <p:nvSpPr>
          <p:cNvPr id="18" name="TextBox 17"/>
          <p:cNvSpPr txBox="1"/>
          <p:nvPr/>
        </p:nvSpPr>
        <p:spPr>
          <a:xfrm>
            <a:off x="1069848" y="160934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UNIQUE</a:t>
            </a:r>
          </a:p>
        </p:txBody>
      </p:sp>
      <p:sp>
        <p:nvSpPr>
          <p:cNvPr id="19" name="TextBox 18"/>
          <p:cNvSpPr txBox="1"/>
          <p:nvPr/>
        </p:nvSpPr>
        <p:spPr>
          <a:xfrm>
            <a:off x="1069848" y="1920240"/>
            <a:ext cx="2011680" cy="347472"/>
          </a:xfrm>
          <a:prstGeom prst="rect">
            <a:avLst/>
          </a:prstGeom>
          <a:noFill/>
        </p:spPr>
        <p:txBody>
          <a:bodyPr wrap="square" lIns="36576" tIns="36576" rIns="36576" bIns="36576" anchor="t">
            <a:spAutoFit/>
          </a:bodyPr>
          <a:lstStyle/>
          <a:p>
            <a:r>
              <a:t>Prevents duplicate values (Users.email).</a:t>
            </a:r>
          </a:p>
        </p:txBody>
      </p:sp>
      <p:sp>
        <p:nvSpPr>
          <p:cNvPr id="20" name="Rounded Rectangle 19"/>
          <p:cNvSpPr/>
          <p:nvPr/>
        </p:nvSpPr>
        <p:spPr>
          <a:xfrm>
            <a:off x="3246120" y="155448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3355848" y="170078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heck_w.png"/>
          <p:cNvPicPr>
            <a:picLocks noChangeAspect="1"/>
          </p:cNvPicPr>
          <p:nvPr/>
        </p:nvPicPr>
        <p:blipFill>
          <a:blip r:embed="rId6"/>
          <a:stretch>
            <a:fillRect/>
          </a:stretch>
        </p:blipFill>
        <p:spPr>
          <a:xfrm>
            <a:off x="3465576" y="1810512"/>
            <a:ext cx="237744" cy="237744"/>
          </a:xfrm>
          <a:prstGeom prst="rect">
            <a:avLst/>
          </a:prstGeom>
        </p:spPr>
      </p:pic>
      <p:sp>
        <p:nvSpPr>
          <p:cNvPr id="23" name="TextBox 22"/>
          <p:cNvSpPr txBox="1"/>
          <p:nvPr/>
        </p:nvSpPr>
        <p:spPr>
          <a:xfrm>
            <a:off x="3904488" y="160934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CHECK</a:t>
            </a:r>
          </a:p>
        </p:txBody>
      </p:sp>
      <p:sp>
        <p:nvSpPr>
          <p:cNvPr id="24" name="TextBox 23"/>
          <p:cNvSpPr txBox="1"/>
          <p:nvPr/>
        </p:nvSpPr>
        <p:spPr>
          <a:xfrm>
            <a:off x="3904488" y="1920240"/>
            <a:ext cx="2011680" cy="347472"/>
          </a:xfrm>
          <a:prstGeom prst="rect">
            <a:avLst/>
          </a:prstGeom>
          <a:noFill/>
        </p:spPr>
        <p:txBody>
          <a:bodyPr wrap="square" lIns="36576" tIns="36576" rIns="36576" bIns="36576" anchor="t">
            <a:spAutoFit/>
          </a:bodyPr>
          <a:lstStyle/>
          <a:p>
            <a:r>
              <a:t>Enforces business rules (amount &gt; 0, txn_type IN ('Credit','Debit')).</a:t>
            </a:r>
          </a:p>
        </p:txBody>
      </p:sp>
      <p:sp>
        <p:nvSpPr>
          <p:cNvPr id="25" name="Rounded Rectangle 24"/>
          <p:cNvSpPr/>
          <p:nvPr/>
        </p:nvSpPr>
        <p:spPr>
          <a:xfrm>
            <a:off x="365760" y="2495691"/>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521208" y="256946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layer_w.png"/>
          <p:cNvPicPr>
            <a:picLocks noChangeAspect="1"/>
          </p:cNvPicPr>
          <p:nvPr/>
        </p:nvPicPr>
        <p:blipFill>
          <a:blip r:embed="rId7"/>
          <a:stretch>
            <a:fillRect/>
          </a:stretch>
        </p:blipFill>
        <p:spPr>
          <a:xfrm>
            <a:off x="630936" y="2679192"/>
            <a:ext cx="237744" cy="237744"/>
          </a:xfrm>
          <a:prstGeom prst="rect">
            <a:avLst/>
          </a:prstGeom>
        </p:spPr>
      </p:pic>
      <p:sp>
        <p:nvSpPr>
          <p:cNvPr id="28" name="TextBox 27"/>
          <p:cNvSpPr txBox="1"/>
          <p:nvPr/>
        </p:nvSpPr>
        <p:spPr>
          <a:xfrm>
            <a:off x="1097280" y="2532888"/>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ENUM</a:t>
            </a:r>
          </a:p>
        </p:txBody>
      </p:sp>
      <p:sp>
        <p:nvSpPr>
          <p:cNvPr id="29" name="TextBox 28"/>
          <p:cNvSpPr txBox="1"/>
          <p:nvPr/>
        </p:nvSpPr>
        <p:spPr>
          <a:xfrm>
            <a:off x="1069848" y="2788920"/>
            <a:ext cx="2011680" cy="347472"/>
          </a:xfrm>
          <a:prstGeom prst="rect">
            <a:avLst/>
          </a:prstGeom>
          <a:noFill/>
        </p:spPr>
        <p:txBody>
          <a:bodyPr wrap="square" lIns="36576" tIns="36576" rIns="36576" bIns="36576" anchor="t">
            <a:spAutoFit/>
          </a:bodyPr>
          <a:lstStyle/>
          <a:p>
            <a:r>
              <a:t>Restricts valid domain values (status IN ('Active','Frozen')).</a:t>
            </a:r>
          </a:p>
        </p:txBody>
      </p:sp>
      <p:sp>
        <p:nvSpPr>
          <p:cNvPr id="30" name="Rounded Rectangle 29"/>
          <p:cNvSpPr/>
          <p:nvPr/>
        </p:nvSpPr>
        <p:spPr>
          <a:xfrm>
            <a:off x="3246120" y="2423160"/>
            <a:ext cx="2697480" cy="749808"/>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3355848" y="2569464"/>
            <a:ext cx="457200" cy="45720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search_w.png"/>
          <p:cNvPicPr>
            <a:picLocks noChangeAspect="1"/>
          </p:cNvPicPr>
          <p:nvPr/>
        </p:nvPicPr>
        <p:blipFill>
          <a:blip r:embed="rId8"/>
          <a:stretch>
            <a:fillRect/>
          </a:stretch>
        </p:blipFill>
        <p:spPr>
          <a:xfrm>
            <a:off x="3465576" y="2679192"/>
            <a:ext cx="237744" cy="237744"/>
          </a:xfrm>
          <a:prstGeom prst="rect">
            <a:avLst/>
          </a:prstGeom>
        </p:spPr>
      </p:pic>
      <p:sp>
        <p:nvSpPr>
          <p:cNvPr id="33" name="TextBox 32"/>
          <p:cNvSpPr txBox="1"/>
          <p:nvPr/>
        </p:nvSpPr>
        <p:spPr>
          <a:xfrm>
            <a:off x="3904488" y="2478024"/>
            <a:ext cx="2011680" cy="320040"/>
          </a:xfrm>
          <a:prstGeom prst="rect">
            <a:avLst/>
          </a:prstGeom>
          <a:noFill/>
        </p:spPr>
        <p:txBody>
          <a:bodyPr wrap="square" lIns="36576" tIns="36576" rIns="36576" bIns="36576" anchor="t">
            <a:spAutoFit/>
          </a:bodyPr>
          <a:lstStyle/>
          <a:p>
            <a:pPr algn="l"/>
            <a:r>
              <a:rPr sz="1400" b="1" i="0">
                <a:solidFill>
                  <a:srgbClr val="8E0D3C"/>
                </a:solidFill>
                <a:latin typeface="Calibri"/>
              </a:rPr>
              <a:t>INDEX</a:t>
            </a:r>
          </a:p>
        </p:txBody>
      </p:sp>
      <p:sp>
        <p:nvSpPr>
          <p:cNvPr id="34" name="TextBox 33"/>
          <p:cNvSpPr txBox="1"/>
          <p:nvPr/>
        </p:nvSpPr>
        <p:spPr>
          <a:xfrm>
            <a:off x="3904488" y="2788920"/>
            <a:ext cx="2011680" cy="347472"/>
          </a:xfrm>
          <a:prstGeom prst="rect">
            <a:avLst/>
          </a:prstGeom>
          <a:noFill/>
        </p:spPr>
        <p:txBody>
          <a:bodyPr wrap="square" lIns="36576" tIns="36576" rIns="36576" bIns="36576" anchor="t">
            <a:spAutoFit/>
          </a:bodyPr>
          <a:lstStyle/>
          <a:p>
            <a:r>
              <a:t>Composite indexes on Transactions(account_id, txn_date) &amp; Budgets.</a:t>
            </a:r>
          </a:p>
        </p:txBody>
      </p:sp>
      <p:sp>
        <p:nvSpPr>
          <p:cNvPr id="36" name="Rectangle 35"/>
          <p:cNvSpPr/>
          <p:nvPr/>
        </p:nvSpPr>
        <p:spPr>
          <a:xfrm flipV="1">
            <a:off x="5682342" y="5138927"/>
            <a:ext cx="261257" cy="45719"/>
          </a:xfrm>
          <a:prstGeom prst="rect">
            <a:avLst/>
          </a:prstGeom>
          <a:solidFill>
            <a:srgbClr val="F4F4F4"/>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39" name="TextBox 38"/>
          <p:cNvSpPr txBox="1"/>
          <p:nvPr/>
        </p:nvSpPr>
        <p:spPr>
          <a:xfrm>
            <a:off x="6263640" y="640080"/>
            <a:ext cx="5486400" cy="320040"/>
          </a:xfrm>
          <a:prstGeom prst="rect">
            <a:avLst/>
          </a:prstGeom>
          <a:noFill/>
        </p:spPr>
        <p:txBody>
          <a:bodyPr wrap="square" lIns="36576" tIns="36576" rIns="36576" bIns="36576" anchor="t">
            <a:spAutoFit/>
          </a:bodyPr>
          <a:lstStyle/>
          <a:p>
            <a:pPr algn="l"/>
            <a:r>
              <a:rPr sz="1400" b="1" i="0">
                <a:solidFill>
                  <a:srgbClr val="B8114F"/>
                </a:solidFill>
                <a:latin typeface="Calibri"/>
              </a:rPr>
              <a:t>Important relationships</a:t>
            </a:r>
          </a:p>
        </p:txBody>
      </p:sp>
      <p:sp>
        <p:nvSpPr>
          <p:cNvPr id="40" name="Rounded Rectangle 39"/>
          <p:cNvSpPr/>
          <p:nvPr/>
        </p:nvSpPr>
        <p:spPr>
          <a:xfrm>
            <a:off x="6263640" y="10058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263640" y="1005840"/>
            <a:ext cx="1600200" cy="475488"/>
          </a:xfrm>
          <a:prstGeom prst="rect">
            <a:avLst/>
          </a:prstGeom>
          <a:noFill/>
        </p:spPr>
        <p:txBody>
          <a:bodyPr wrap="square" lIns="0" tIns="0" rIns="0" bIns="0" anchor="ctr">
            <a:spAutoFit/>
          </a:bodyPr>
          <a:lstStyle/>
          <a:p>
            <a:r>
              <a:t>User</a:t>
            </a:r>
          </a:p>
        </p:txBody>
      </p:sp>
      <p:cxnSp>
        <p:nvCxnSpPr>
          <p:cNvPr id="42" name="Connector 41"/>
          <p:cNvCxnSpPr/>
          <p:nvPr/>
        </p:nvCxnSpPr>
        <p:spPr>
          <a:xfrm>
            <a:off x="7882127" y="12435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882127" y="9875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44" name="Rounded Rectangle 43"/>
          <p:cNvSpPr/>
          <p:nvPr/>
        </p:nvSpPr>
        <p:spPr>
          <a:xfrm>
            <a:off x="8622792" y="10058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8622792" y="1005840"/>
            <a:ext cx="1737360" cy="475488"/>
          </a:xfrm>
          <a:prstGeom prst="rect">
            <a:avLst/>
          </a:prstGeom>
          <a:noFill/>
        </p:spPr>
        <p:txBody>
          <a:bodyPr wrap="square" lIns="0" tIns="0" rIns="0" bIns="0" anchor="ctr">
            <a:spAutoFit/>
          </a:bodyPr>
          <a:lstStyle/>
          <a:p>
            <a:r>
              <a:t>Accounts</a:t>
            </a:r>
          </a:p>
        </p:txBody>
      </p:sp>
      <p:sp>
        <p:nvSpPr>
          <p:cNvPr id="46" name="TextBox 45"/>
          <p:cNvSpPr txBox="1"/>
          <p:nvPr/>
        </p:nvSpPr>
        <p:spPr>
          <a:xfrm>
            <a:off x="10424160" y="1005840"/>
            <a:ext cx="1371600" cy="475488"/>
          </a:xfrm>
          <a:prstGeom prst="rect">
            <a:avLst/>
          </a:prstGeom>
          <a:noFill/>
        </p:spPr>
        <p:txBody>
          <a:bodyPr wrap="square" lIns="0" tIns="0" rIns="0" bIns="0" anchor="ctr">
            <a:spAutoFit/>
          </a:bodyPr>
          <a:lstStyle/>
          <a:p>
            <a:r>
              <a:t>FK: </a:t>
            </a:r>
          </a:p>
          <a:p>
            <a:r>
              <a:t> user_id</a:t>
            </a:r>
          </a:p>
        </p:txBody>
      </p:sp>
      <p:sp>
        <p:nvSpPr>
          <p:cNvPr id="47" name="Rounded Rectangle 46"/>
          <p:cNvSpPr/>
          <p:nvPr/>
        </p:nvSpPr>
        <p:spPr>
          <a:xfrm>
            <a:off x="6263640" y="16916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263640" y="1691640"/>
            <a:ext cx="1600200" cy="475488"/>
          </a:xfrm>
          <a:prstGeom prst="rect">
            <a:avLst/>
          </a:prstGeom>
          <a:noFill/>
        </p:spPr>
        <p:txBody>
          <a:bodyPr wrap="square" lIns="0" tIns="0" rIns="0" bIns="0" anchor="ctr">
            <a:spAutoFit/>
          </a:bodyPr>
          <a:lstStyle/>
          <a:p>
            <a:r>
              <a:t>Account</a:t>
            </a:r>
          </a:p>
        </p:txBody>
      </p:sp>
      <p:cxnSp>
        <p:nvCxnSpPr>
          <p:cNvPr id="49" name="Connector 48"/>
          <p:cNvCxnSpPr/>
          <p:nvPr/>
        </p:nvCxnSpPr>
        <p:spPr>
          <a:xfrm>
            <a:off x="7882127" y="19293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882127" y="16733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51" name="Rounded Rectangle 50"/>
          <p:cNvSpPr/>
          <p:nvPr/>
        </p:nvSpPr>
        <p:spPr>
          <a:xfrm>
            <a:off x="8622792" y="16916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8622792" y="1691640"/>
            <a:ext cx="1737360" cy="475488"/>
          </a:xfrm>
          <a:prstGeom prst="rect">
            <a:avLst/>
          </a:prstGeom>
          <a:noFill/>
        </p:spPr>
        <p:txBody>
          <a:bodyPr wrap="square" lIns="0" tIns="0" rIns="0" bIns="0" anchor="ctr">
            <a:spAutoFit/>
          </a:bodyPr>
          <a:lstStyle/>
          <a:p>
            <a:r>
              <a:t>Transactions</a:t>
            </a:r>
          </a:p>
        </p:txBody>
      </p:sp>
      <p:sp>
        <p:nvSpPr>
          <p:cNvPr id="53" name="TextBox 52"/>
          <p:cNvSpPr txBox="1"/>
          <p:nvPr/>
        </p:nvSpPr>
        <p:spPr>
          <a:xfrm>
            <a:off x="10424160" y="1691640"/>
            <a:ext cx="1371600" cy="475488"/>
          </a:xfrm>
          <a:prstGeom prst="rect">
            <a:avLst/>
          </a:prstGeom>
          <a:noFill/>
        </p:spPr>
        <p:txBody>
          <a:bodyPr wrap="square" lIns="0" tIns="0" rIns="0" bIns="0" anchor="ctr">
            <a:spAutoFit/>
          </a:bodyPr>
          <a:lstStyle/>
          <a:p>
            <a:r>
              <a:t>FK: </a:t>
            </a:r>
          </a:p>
          <a:p>
            <a:r>
              <a:t> account_id</a:t>
            </a:r>
          </a:p>
        </p:txBody>
      </p:sp>
      <p:sp>
        <p:nvSpPr>
          <p:cNvPr id="54" name="Rounded Rectangle 53"/>
          <p:cNvSpPr/>
          <p:nvPr/>
        </p:nvSpPr>
        <p:spPr>
          <a:xfrm>
            <a:off x="6263640" y="23774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6263640" y="2377440"/>
            <a:ext cx="1600200" cy="475488"/>
          </a:xfrm>
          <a:prstGeom prst="rect">
            <a:avLst/>
          </a:prstGeom>
          <a:noFill/>
        </p:spPr>
        <p:txBody>
          <a:bodyPr wrap="square" lIns="0" tIns="0" rIns="0" bIns="0" anchor="ctr">
            <a:spAutoFit/>
          </a:bodyPr>
          <a:lstStyle/>
          <a:p>
            <a:r>
              <a:t>Category</a:t>
            </a:r>
          </a:p>
        </p:txBody>
      </p:sp>
      <p:cxnSp>
        <p:nvCxnSpPr>
          <p:cNvPr id="56" name="Connector 55"/>
          <p:cNvCxnSpPr/>
          <p:nvPr/>
        </p:nvCxnSpPr>
        <p:spPr>
          <a:xfrm>
            <a:off x="7882127" y="26151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882127" y="23591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58" name="Rounded Rectangle 57"/>
          <p:cNvSpPr/>
          <p:nvPr/>
        </p:nvSpPr>
        <p:spPr>
          <a:xfrm>
            <a:off x="8622792" y="23774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8622792" y="2377440"/>
            <a:ext cx="1737360" cy="475488"/>
          </a:xfrm>
          <a:prstGeom prst="rect">
            <a:avLst/>
          </a:prstGeom>
          <a:noFill/>
        </p:spPr>
        <p:txBody>
          <a:bodyPr wrap="square" lIns="0" tIns="0" rIns="0" bIns="0" anchor="ctr">
            <a:spAutoFit/>
          </a:bodyPr>
          <a:lstStyle/>
          <a:p>
            <a:r>
              <a:t>Transactions</a:t>
            </a:r>
          </a:p>
        </p:txBody>
      </p:sp>
      <p:sp>
        <p:nvSpPr>
          <p:cNvPr id="60" name="TextBox 59"/>
          <p:cNvSpPr txBox="1"/>
          <p:nvPr/>
        </p:nvSpPr>
        <p:spPr>
          <a:xfrm>
            <a:off x="10424160" y="2377440"/>
            <a:ext cx="1371600" cy="475488"/>
          </a:xfrm>
          <a:prstGeom prst="rect">
            <a:avLst/>
          </a:prstGeom>
          <a:noFill/>
        </p:spPr>
        <p:txBody>
          <a:bodyPr wrap="square" lIns="0" tIns="0" rIns="0" bIns="0" anchor="ctr">
            <a:spAutoFit/>
          </a:bodyPr>
          <a:lstStyle/>
          <a:p>
            <a:r>
              <a:t>FK: </a:t>
            </a:r>
          </a:p>
          <a:p>
            <a:r>
              <a:t> category_id</a:t>
            </a:r>
          </a:p>
        </p:txBody>
      </p:sp>
      <p:sp>
        <p:nvSpPr>
          <p:cNvPr id="61" name="Rounded Rectangle 60"/>
          <p:cNvSpPr/>
          <p:nvPr/>
        </p:nvSpPr>
        <p:spPr>
          <a:xfrm>
            <a:off x="6263640" y="30632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263640" y="3063240"/>
            <a:ext cx="1600200" cy="475488"/>
          </a:xfrm>
          <a:prstGeom prst="rect">
            <a:avLst/>
          </a:prstGeom>
          <a:noFill/>
        </p:spPr>
        <p:txBody>
          <a:bodyPr wrap="square" lIns="0" tIns="0" rIns="0" bIns="0" anchor="ctr">
            <a:spAutoFit/>
          </a:bodyPr>
          <a:lstStyle/>
          <a:p>
            <a:r>
              <a:t>User</a:t>
            </a:r>
          </a:p>
        </p:txBody>
      </p:sp>
      <p:cxnSp>
        <p:nvCxnSpPr>
          <p:cNvPr id="63" name="Connector 62"/>
          <p:cNvCxnSpPr/>
          <p:nvPr/>
        </p:nvCxnSpPr>
        <p:spPr>
          <a:xfrm>
            <a:off x="7882127" y="3300984"/>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882127" y="30449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65" name="Rounded Rectangle 64"/>
          <p:cNvSpPr/>
          <p:nvPr/>
        </p:nvSpPr>
        <p:spPr>
          <a:xfrm>
            <a:off x="8622792" y="30632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8622792" y="3063240"/>
            <a:ext cx="1737360" cy="475488"/>
          </a:xfrm>
          <a:prstGeom prst="rect">
            <a:avLst/>
          </a:prstGeom>
          <a:noFill/>
        </p:spPr>
        <p:txBody>
          <a:bodyPr wrap="square" lIns="0" tIns="0" rIns="0" bIns="0" anchor="ctr">
            <a:spAutoFit/>
          </a:bodyPr>
          <a:lstStyle/>
          <a:p>
            <a:r>
              <a:t>Budgets</a:t>
            </a:r>
          </a:p>
        </p:txBody>
      </p:sp>
      <p:sp>
        <p:nvSpPr>
          <p:cNvPr id="67" name="TextBox 66"/>
          <p:cNvSpPr txBox="1"/>
          <p:nvPr/>
        </p:nvSpPr>
        <p:spPr>
          <a:xfrm>
            <a:off x="10424160" y="3063240"/>
            <a:ext cx="1371600" cy="475488"/>
          </a:xfrm>
          <a:prstGeom prst="rect">
            <a:avLst/>
          </a:prstGeom>
          <a:noFill/>
        </p:spPr>
        <p:txBody>
          <a:bodyPr wrap="square" lIns="0" tIns="0" rIns="0" bIns="0" anchor="ctr">
            <a:spAutoFit/>
          </a:bodyPr>
          <a:lstStyle/>
          <a:p>
            <a:r>
              <a:t>FK: </a:t>
            </a:r>
          </a:p>
          <a:p>
            <a:r>
              <a:t> user_id</a:t>
            </a:r>
          </a:p>
        </p:txBody>
      </p:sp>
      <p:sp>
        <p:nvSpPr>
          <p:cNvPr id="68" name="Rounded Rectangle 67"/>
          <p:cNvSpPr/>
          <p:nvPr/>
        </p:nvSpPr>
        <p:spPr>
          <a:xfrm>
            <a:off x="6263640" y="3749039"/>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263640" y="3749039"/>
            <a:ext cx="1600200" cy="475488"/>
          </a:xfrm>
          <a:prstGeom prst="rect">
            <a:avLst/>
          </a:prstGeom>
          <a:noFill/>
        </p:spPr>
        <p:txBody>
          <a:bodyPr wrap="square" lIns="0" tIns="0" rIns="0" bIns="0" anchor="ctr">
            <a:spAutoFit/>
          </a:bodyPr>
          <a:lstStyle/>
          <a:p>
            <a:r>
              <a:t>Account</a:t>
            </a:r>
          </a:p>
        </p:txBody>
      </p:sp>
      <p:cxnSp>
        <p:nvCxnSpPr>
          <p:cNvPr id="70" name="Connector 69"/>
          <p:cNvCxnSpPr/>
          <p:nvPr/>
        </p:nvCxnSpPr>
        <p:spPr>
          <a:xfrm>
            <a:off x="7882127" y="3986783"/>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882127" y="37307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72" name="Rounded Rectangle 71"/>
          <p:cNvSpPr/>
          <p:nvPr/>
        </p:nvSpPr>
        <p:spPr>
          <a:xfrm>
            <a:off x="8622792" y="3749039"/>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8622792" y="3749039"/>
            <a:ext cx="1737360" cy="475488"/>
          </a:xfrm>
          <a:prstGeom prst="rect">
            <a:avLst/>
          </a:prstGeom>
          <a:noFill/>
        </p:spPr>
        <p:txBody>
          <a:bodyPr wrap="square" lIns="0" tIns="0" rIns="0" bIns="0" anchor="ctr">
            <a:spAutoFit/>
          </a:bodyPr>
          <a:lstStyle/>
          <a:p>
            <a:r>
              <a:t>Recurring Rules</a:t>
            </a:r>
          </a:p>
        </p:txBody>
      </p:sp>
      <p:sp>
        <p:nvSpPr>
          <p:cNvPr id="74" name="TextBox 73"/>
          <p:cNvSpPr txBox="1"/>
          <p:nvPr/>
        </p:nvSpPr>
        <p:spPr>
          <a:xfrm>
            <a:off x="10424160" y="3749039"/>
            <a:ext cx="1371600" cy="475488"/>
          </a:xfrm>
          <a:prstGeom prst="rect">
            <a:avLst/>
          </a:prstGeom>
          <a:noFill/>
        </p:spPr>
        <p:txBody>
          <a:bodyPr wrap="square" lIns="0" tIns="0" rIns="0" bIns="0" anchor="ctr">
            <a:spAutoFit/>
          </a:bodyPr>
          <a:lstStyle/>
          <a:p>
            <a:r>
              <a:t>FK: </a:t>
            </a:r>
          </a:p>
          <a:p>
            <a:r>
              <a:t> account_id</a:t>
            </a:r>
          </a:p>
        </p:txBody>
      </p:sp>
      <p:sp>
        <p:nvSpPr>
          <p:cNvPr id="75" name="Rounded Rectangle 74"/>
          <p:cNvSpPr/>
          <p:nvPr/>
        </p:nvSpPr>
        <p:spPr>
          <a:xfrm>
            <a:off x="6263640" y="4434840"/>
            <a:ext cx="1600200" cy="475488"/>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6263640" y="4434840"/>
            <a:ext cx="1600200" cy="475488"/>
          </a:xfrm>
          <a:prstGeom prst="rect">
            <a:avLst/>
          </a:prstGeom>
          <a:noFill/>
        </p:spPr>
        <p:txBody>
          <a:bodyPr wrap="square" lIns="0" tIns="0" rIns="0" bIns="0" anchor="ctr">
            <a:spAutoFit/>
          </a:bodyPr>
          <a:lstStyle/>
          <a:p>
            <a:r>
              <a:t>User</a:t>
            </a:r>
          </a:p>
        </p:txBody>
      </p:sp>
      <p:cxnSp>
        <p:nvCxnSpPr>
          <p:cNvPr id="77" name="Connector 76"/>
          <p:cNvCxnSpPr/>
          <p:nvPr/>
        </p:nvCxnSpPr>
        <p:spPr>
          <a:xfrm>
            <a:off x="7882127" y="4672583"/>
            <a:ext cx="713233"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882127" y="4416552"/>
            <a:ext cx="713232" cy="228600"/>
          </a:xfrm>
          <a:prstGeom prst="rect">
            <a:avLst/>
          </a:prstGeom>
          <a:noFill/>
        </p:spPr>
        <p:txBody>
          <a:bodyPr wrap="square" lIns="0" tIns="0" rIns="0" bIns="0" anchor="t">
            <a:spAutoFit/>
          </a:bodyPr>
          <a:lstStyle/>
          <a:p>
            <a:pPr algn="ctr"/>
            <a:r>
              <a:rPr sz="1000" b="1" i="0">
                <a:solidFill>
                  <a:srgbClr val="B8114F"/>
                </a:solidFill>
                <a:latin typeface="Calibri"/>
              </a:rPr>
              <a:t>1 : N</a:t>
            </a:r>
          </a:p>
        </p:txBody>
      </p:sp>
      <p:sp>
        <p:nvSpPr>
          <p:cNvPr id="79" name="Rounded Rectangle 78"/>
          <p:cNvSpPr/>
          <p:nvPr/>
        </p:nvSpPr>
        <p:spPr>
          <a:xfrm>
            <a:off x="8622792" y="4434840"/>
            <a:ext cx="1737360" cy="475488"/>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8622792" y="4434840"/>
            <a:ext cx="1737360" cy="475488"/>
          </a:xfrm>
          <a:prstGeom prst="rect">
            <a:avLst/>
          </a:prstGeom>
          <a:noFill/>
        </p:spPr>
        <p:txBody>
          <a:bodyPr wrap="square" lIns="0" tIns="0" rIns="0" bIns="0" anchor="ctr">
            <a:spAutoFit/>
          </a:bodyPr>
          <a:lstStyle/>
          <a:p>
            <a:r>
              <a:t>Alerts</a:t>
            </a:r>
          </a:p>
        </p:txBody>
      </p:sp>
      <p:sp>
        <p:nvSpPr>
          <p:cNvPr id="81" name="TextBox 80"/>
          <p:cNvSpPr txBox="1"/>
          <p:nvPr/>
        </p:nvSpPr>
        <p:spPr>
          <a:xfrm>
            <a:off x="10424160" y="4434840"/>
            <a:ext cx="1371600" cy="475488"/>
          </a:xfrm>
          <a:prstGeom prst="rect">
            <a:avLst/>
          </a:prstGeom>
          <a:noFill/>
        </p:spPr>
        <p:txBody>
          <a:bodyPr wrap="square" lIns="0" tIns="0" rIns="0" bIns="0" anchor="ctr">
            <a:spAutoFit/>
          </a:bodyPr>
          <a:lstStyle/>
          <a:p>
            <a:r>
              <a:t>FK: </a:t>
            </a:r>
          </a:p>
          <a:p>
            <a:r>
              <a:t> user_id</a:t>
            </a:r>
          </a:p>
        </p:txBody>
      </p:sp>
      <p:sp>
        <p:nvSpPr>
          <p:cNvPr id="82" name="Rounded Rectangle 81"/>
          <p:cNvSpPr/>
          <p:nvPr/>
        </p:nvSpPr>
        <p:spPr>
          <a:xfrm>
            <a:off x="411480" y="5760720"/>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Box 82"/>
          <p:cNvSpPr txBox="1"/>
          <p:nvPr/>
        </p:nvSpPr>
        <p:spPr>
          <a:xfrm>
            <a:off x="548640" y="5760720"/>
            <a:ext cx="11064240" cy="457200"/>
          </a:xfrm>
          <a:prstGeom prst="rect">
            <a:avLst/>
          </a:prstGeom>
          <a:noFill/>
        </p:spPr>
        <p:txBody>
          <a:bodyPr wrap="square" lIns="36576" tIns="36576" rIns="36576" bIns="36576" anchor="ctr">
            <a:spAutoFit/>
          </a:bodyPr>
          <a:lstStyle/>
          <a:p>
            <a:pPr algn="l"/>
            <a:r>
              <a:rPr sz="1300" b="1" i="0">
                <a:solidFill>
                  <a:srgbClr val="B8114F"/>
                </a:solidFill>
                <a:latin typeface="Calibri"/>
              </a:rPr>
              <a:t>Simple explanation:  </a:t>
            </a:r>
            <a:r>
              <a:rPr sz="1300" b="0" i="1">
                <a:solidFill>
                  <a:srgbClr val="222222"/>
                </a:solidFill>
                <a:latin typeface="Calibri"/>
              </a:rPr>
              <a:t>“Keys connect the tables, while constraints protect the correctness of the data.”</a:t>
            </a:r>
          </a:p>
        </p:txBody>
      </p:sp>
    </p:spTree>
    <p:extLst>
      <p:ext uri="{BB962C8B-B14F-4D97-AF65-F5344CB8AC3E}">
        <p14:creationId xmlns:p14="http://schemas.microsoft.com/office/powerpoint/2010/main" val="2852115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Normalization – Up to 3NF</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8</a:t>
            </a:fld>
            <a:endParaRPr lang="en-US" kern="1200">
              <a:solidFill>
                <a:prstClr val="white"/>
              </a:solidFill>
              <a:latin typeface="Calibri"/>
              <a:ea typeface="+mn-ea"/>
              <a:cs typeface="+mn-cs"/>
            </a:endParaRPr>
          </a:p>
        </p:txBody>
      </p:sp>
      <p:sp>
        <p:nvSpPr>
          <p:cNvPr id="5" name="Rounded Rectangle 4"/>
          <p:cNvSpPr/>
          <p:nvPr/>
        </p:nvSpPr>
        <p:spPr>
          <a:xfrm>
            <a:off x="411480" y="731520"/>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11480" y="731520"/>
            <a:ext cx="914400" cy="786384"/>
          </a:xfrm>
          <a:prstGeom prst="rect">
            <a:avLst/>
          </a:prstGeom>
          <a:noFill/>
        </p:spPr>
        <p:txBody>
          <a:bodyPr wrap="square" lIns="0" tIns="0" rIns="0" bIns="0" anchor="ctr">
            <a:spAutoFit/>
          </a:bodyPr>
          <a:lstStyle/>
          <a:p>
            <a:pPr algn="ctr"/>
            <a:r>
              <a:rPr sz="2000" b="1" i="0">
                <a:solidFill>
                  <a:srgbClr val="FFFFFF"/>
                </a:solidFill>
                <a:latin typeface="Calibri"/>
              </a:rPr>
              <a:t>1NF</a:t>
            </a:r>
          </a:p>
        </p:txBody>
      </p:sp>
      <p:sp>
        <p:nvSpPr>
          <p:cNvPr id="7" name="Rounded Rectangle 6"/>
          <p:cNvSpPr/>
          <p:nvPr/>
        </p:nvSpPr>
        <p:spPr>
          <a:xfrm>
            <a:off x="1399032" y="731520"/>
            <a:ext cx="395020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508760" y="731520"/>
            <a:ext cx="3749040" cy="786384"/>
          </a:xfrm>
          <a:prstGeom prst="rect">
            <a:avLst/>
          </a:prstGeom>
          <a:noFill/>
        </p:spPr>
        <p:txBody>
          <a:bodyPr wrap="square" lIns="36576" tIns="36576" rIns="36576" bIns="36576" anchor="ctr">
            <a:spAutoFit/>
          </a:bodyPr>
          <a:lstStyle/>
          <a:p>
            <a:pPr algn="l"/>
            <a:r>
              <a:rPr sz="1300" b="0" i="0">
                <a:solidFill>
                  <a:srgbClr val="222222"/>
                </a:solidFill>
                <a:latin typeface="Calibri"/>
              </a:rPr>
              <a:t>Data is atomic.</a:t>
            </a:r>
          </a:p>
          <a:p>
            <a:pPr algn="l"/>
            <a:r>
              <a:rPr sz="1300" b="0" i="0">
                <a:solidFill>
                  <a:srgbClr val="222222"/>
                </a:solidFill>
                <a:latin typeface="Calibri"/>
              </a:rPr>
              <a:t>No repeating groups.</a:t>
            </a:r>
          </a:p>
        </p:txBody>
      </p:sp>
      <p:sp>
        <p:nvSpPr>
          <p:cNvPr id="9" name="Rounded Rectangle 8"/>
          <p:cNvSpPr/>
          <p:nvPr/>
        </p:nvSpPr>
        <p:spPr>
          <a:xfrm>
            <a:off x="731520" y="1664208"/>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20" y="1664208"/>
            <a:ext cx="914400" cy="786384"/>
          </a:xfrm>
          <a:prstGeom prst="rect">
            <a:avLst/>
          </a:prstGeom>
          <a:noFill/>
        </p:spPr>
        <p:txBody>
          <a:bodyPr wrap="square" lIns="0" tIns="0" rIns="0" bIns="0" anchor="ctr">
            <a:spAutoFit/>
          </a:bodyPr>
          <a:lstStyle/>
          <a:p>
            <a:pPr algn="ctr"/>
            <a:r>
              <a:rPr sz="2000" b="1" i="0">
                <a:solidFill>
                  <a:srgbClr val="FFFFFF"/>
                </a:solidFill>
                <a:latin typeface="Calibri"/>
              </a:rPr>
              <a:t>2NF</a:t>
            </a:r>
          </a:p>
        </p:txBody>
      </p:sp>
      <p:sp>
        <p:nvSpPr>
          <p:cNvPr id="11" name="Rounded Rectangle 10"/>
          <p:cNvSpPr/>
          <p:nvPr/>
        </p:nvSpPr>
        <p:spPr>
          <a:xfrm>
            <a:off x="1719072" y="1664208"/>
            <a:ext cx="363016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828800" y="1664208"/>
            <a:ext cx="3429000" cy="786384"/>
          </a:xfrm>
          <a:prstGeom prst="rect">
            <a:avLst/>
          </a:prstGeom>
          <a:noFill/>
        </p:spPr>
        <p:txBody>
          <a:bodyPr wrap="square" lIns="36576" tIns="36576" rIns="36576" bIns="36576" anchor="ctr">
            <a:spAutoFit/>
          </a:bodyPr>
          <a:lstStyle/>
          <a:p>
            <a:pPr algn="l"/>
            <a:r>
              <a:rPr sz="1300" b="0" i="0">
                <a:solidFill>
                  <a:srgbClr val="222222"/>
                </a:solidFill>
                <a:latin typeface="Calibri"/>
              </a:rPr>
              <a:t>Non-key attributes depend on the complete primary key.</a:t>
            </a:r>
          </a:p>
        </p:txBody>
      </p:sp>
      <p:sp>
        <p:nvSpPr>
          <p:cNvPr id="13" name="Rounded Rectangle 12"/>
          <p:cNvSpPr/>
          <p:nvPr/>
        </p:nvSpPr>
        <p:spPr>
          <a:xfrm>
            <a:off x="1051560" y="2596896"/>
            <a:ext cx="914400" cy="786384"/>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51560" y="2596896"/>
            <a:ext cx="914400" cy="786384"/>
          </a:xfrm>
          <a:prstGeom prst="rect">
            <a:avLst/>
          </a:prstGeom>
          <a:noFill/>
        </p:spPr>
        <p:txBody>
          <a:bodyPr wrap="square" lIns="0" tIns="0" rIns="0" bIns="0" anchor="ctr">
            <a:spAutoFit/>
          </a:bodyPr>
          <a:lstStyle/>
          <a:p>
            <a:pPr algn="ctr"/>
            <a:r>
              <a:rPr sz="2000" b="1" i="0">
                <a:solidFill>
                  <a:srgbClr val="FFFFFF"/>
                </a:solidFill>
                <a:latin typeface="Calibri"/>
              </a:rPr>
              <a:t>3NF</a:t>
            </a:r>
          </a:p>
        </p:txBody>
      </p:sp>
      <p:sp>
        <p:nvSpPr>
          <p:cNvPr id="15" name="Rounded Rectangle 14"/>
          <p:cNvSpPr/>
          <p:nvPr/>
        </p:nvSpPr>
        <p:spPr>
          <a:xfrm>
            <a:off x="2039112" y="2596896"/>
            <a:ext cx="3310128" cy="786384"/>
          </a:xfrm>
          <a:prstGeom prst="roundRect">
            <a:avLst>
              <a:gd name="adj" fmla="val 12000"/>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148839" y="2596896"/>
            <a:ext cx="3108960" cy="786384"/>
          </a:xfrm>
          <a:prstGeom prst="rect">
            <a:avLst/>
          </a:prstGeom>
          <a:noFill/>
        </p:spPr>
        <p:txBody>
          <a:bodyPr wrap="square" lIns="36576" tIns="36576" rIns="36576" bIns="36576" anchor="ctr">
            <a:spAutoFit/>
          </a:bodyPr>
          <a:lstStyle/>
          <a:p>
            <a:pPr algn="l"/>
            <a:r>
              <a:rPr sz="1300" b="0" i="0">
                <a:solidFill>
                  <a:srgbClr val="222222"/>
                </a:solidFill>
                <a:latin typeface="Calibri"/>
              </a:rPr>
              <a:t>Non-key attributes do not depend on another non-key attribute.</a:t>
            </a:r>
          </a:p>
        </p:txBody>
      </p:sp>
      <p:sp>
        <p:nvSpPr>
          <p:cNvPr id="17" name="TextBox 16"/>
          <p:cNvSpPr txBox="1"/>
          <p:nvPr/>
        </p:nvSpPr>
        <p:spPr>
          <a:xfrm>
            <a:off x="5760720" y="658368"/>
            <a:ext cx="5943600" cy="320040"/>
          </a:xfrm>
          <a:prstGeom prst="rect">
            <a:avLst/>
          </a:prstGeom>
          <a:noFill/>
        </p:spPr>
        <p:txBody>
          <a:bodyPr wrap="square" lIns="36576" tIns="36576" rIns="36576" bIns="36576" anchor="t">
            <a:spAutoFit/>
          </a:bodyPr>
          <a:lstStyle/>
          <a:p>
            <a:pPr algn="l"/>
            <a:r>
              <a:rPr sz="1500" b="1" i="0">
                <a:solidFill>
                  <a:srgbClr val="B8114F"/>
                </a:solidFill>
                <a:latin typeface="Calibri"/>
              </a:rPr>
              <a:t>Example</a:t>
            </a:r>
          </a:p>
        </p:txBody>
      </p:sp>
      <p:sp>
        <p:nvSpPr>
          <p:cNvPr id="18" name="TextBox 17"/>
          <p:cNvSpPr txBox="1"/>
          <p:nvPr/>
        </p:nvSpPr>
        <p:spPr>
          <a:xfrm>
            <a:off x="5760720" y="987552"/>
            <a:ext cx="5943600" cy="274320"/>
          </a:xfrm>
          <a:prstGeom prst="rect">
            <a:avLst/>
          </a:prstGeom>
          <a:noFill/>
        </p:spPr>
        <p:txBody>
          <a:bodyPr wrap="square" lIns="36576" tIns="36576" rIns="36576" bIns="36576" anchor="t">
            <a:spAutoFit/>
          </a:bodyPr>
          <a:lstStyle/>
          <a:p>
            <a:pPr algn="l"/>
            <a:r>
              <a:rPr sz="1200" b="0" i="0">
                <a:solidFill>
                  <a:srgbClr val="595959"/>
                </a:solidFill>
                <a:latin typeface="Calibri"/>
              </a:rPr>
              <a:t>Instead of storing everything in one table:</a:t>
            </a:r>
          </a:p>
        </p:txBody>
      </p:sp>
      <p:graphicFrame>
        <p:nvGraphicFramePr>
          <p:cNvPr id="19" name="Table 18"/>
          <p:cNvGraphicFramePr>
            <a:graphicFrameLocks noGrp="1"/>
          </p:cNvGraphicFramePr>
          <p:nvPr/>
        </p:nvGraphicFramePr>
        <p:xfrm>
          <a:off x="5760720" y="1280160"/>
          <a:ext cx="5989320" cy="1170432"/>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292608">
                <a:tc>
                  <a:txBody>
                    <a:bodyPr/>
                    <a:lstStyle/>
                    <a:p>
                      <a:r>
                        <a:t>account_id</a:t>
                      </a:r>
                    </a:p>
                  </a:txBody>
                  <a:tcPr marL="54864" marR="54864" marT="18288" marB="18288" anchor="ctr">
                    <a:solidFill>
                      <a:srgbClr val="7F7F7F"/>
                    </a:solidFill>
                  </a:tcPr>
                </a:tc>
                <a:tc>
                  <a:txBody>
                    <a:bodyPr/>
                    <a:lstStyle/>
                    <a:p>
                      <a:r>
                        <a:t>account_type</a:t>
                      </a:r>
                    </a:p>
                  </a:txBody>
                  <a:tcPr marL="54864" marR="54864" marT="18288" marB="18288" anchor="ctr">
                    <a:solidFill>
                      <a:srgbClr val="7F7F7F"/>
                    </a:solidFill>
                  </a:tcPr>
                </a:tc>
                <a:tc>
                  <a:txBody>
                    <a:bodyPr/>
                    <a:lstStyle/>
                    <a:p>
                      <a:r>
                        <a:t>user_id</a:t>
                      </a:r>
                    </a:p>
                  </a:txBody>
                  <a:tcPr marL="54864" marR="54864" marT="18288" marB="18288" anchor="ctr">
                    <a:solidFill>
                      <a:srgbClr val="7F7F7F"/>
                    </a:solidFill>
                  </a:tcPr>
                </a:tc>
                <a:tc>
                  <a:txBody>
                    <a:bodyPr/>
                    <a:lstStyle/>
                    <a:p>
                      <a:r>
                        <a:t>user_name</a:t>
                      </a:r>
                    </a:p>
                  </a:txBody>
                  <a:tcPr marL="54864" marR="54864" marT="18288" marB="18288" anchor="ctr">
                    <a:solidFill>
                      <a:srgbClr val="7F7F7F"/>
                    </a:solidFill>
                  </a:tcPr>
                </a:tc>
                <a:extLst>
                  <a:ext uri="{0D108BD9-81ED-4DB2-BD59-A6C34878D82A}">
                    <a16:rowId xmlns:a16="http://schemas.microsoft.com/office/drawing/2014/main" val="10000"/>
                  </a:ext>
                </a:extLst>
              </a:tr>
              <a:tr h="292608">
                <a:tc>
                  <a:txBody>
                    <a:bodyPr/>
                    <a:lstStyle/>
                    <a:p>
                      <a:r>
                        <a:t>1</a:t>
                      </a:r>
                    </a:p>
                  </a:txBody>
                  <a:tcPr marL="54864" marR="54864" marT="18288" marB="18288" anchor="ctr">
                    <a:solidFill>
                      <a:srgbClr val="FFFFFF"/>
                    </a:solidFill>
                  </a:tcPr>
                </a:tc>
                <a:tc>
                  <a:txBody>
                    <a:bodyPr/>
                    <a:lstStyle/>
                    <a:p>
                      <a:r>
                        <a:t>Savings</a:t>
                      </a:r>
                    </a:p>
                  </a:txBody>
                  <a:tcPr marL="54864" marR="54864" marT="18288" marB="18288" anchor="ctr">
                    <a:solidFill>
                      <a:srgbClr val="FFFFFF"/>
                    </a:solidFill>
                  </a:tcPr>
                </a:tc>
                <a:tc>
                  <a:txBody>
                    <a:bodyPr/>
                    <a:lstStyle/>
                    <a:p>
                      <a:r>
                        <a:t>101</a:t>
                      </a:r>
                    </a:p>
                  </a:txBody>
                  <a:tcPr marL="54864" marR="54864" marT="18288" marB="18288" anchor="ctr">
                    <a:solidFill>
                      <a:srgbClr val="FFFFFF"/>
                    </a:solidFill>
                  </a:tcPr>
                </a:tc>
                <a:tc>
                  <a:txBody>
                    <a:bodyPr/>
                    <a:lstStyle/>
                    <a:p>
                      <a:r>
                        <a:t>Harshith 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2</a:t>
                      </a:r>
                    </a:p>
                  </a:txBody>
                  <a:tcPr marL="54864" marR="54864" marT="18288" marB="18288" anchor="ctr">
                    <a:solidFill>
                      <a:srgbClr val="FDF2F6"/>
                    </a:solidFill>
                  </a:tcPr>
                </a:tc>
                <a:tc>
                  <a:txBody>
                    <a:bodyPr/>
                    <a:lstStyle/>
                    <a:p>
                      <a:r>
                        <a:t>Wallet</a:t>
                      </a:r>
                    </a:p>
                  </a:txBody>
                  <a:tcPr marL="54864" marR="54864" marT="18288" marB="18288" anchor="ctr">
                    <a:solidFill>
                      <a:srgbClr val="FDF2F6"/>
                    </a:solidFill>
                  </a:tcPr>
                </a:tc>
                <a:tc>
                  <a:txBody>
                    <a:bodyPr/>
                    <a:lstStyle/>
                    <a:p>
                      <a:r>
                        <a:t>101</a:t>
                      </a:r>
                    </a:p>
                  </a:txBody>
                  <a:tcPr marL="54864" marR="54864" marT="18288" marB="18288" anchor="ctr">
                    <a:solidFill>
                      <a:srgbClr val="FDF2F6"/>
                    </a:solidFill>
                  </a:tcPr>
                </a:tc>
                <a:tc>
                  <a:txBody>
                    <a:bodyPr/>
                    <a:lstStyle/>
                    <a:p>
                      <a:r>
                        <a:t>Harshith K</a:t>
                      </a:r>
                    </a:p>
                  </a:txBody>
                  <a:tcPr marL="54864" marR="54864" marT="18288" marB="18288" anchor="ctr">
                    <a:solidFill>
                      <a:srgbClr val="FDF2F6"/>
                    </a:solidFill>
                  </a:tcPr>
                </a:tc>
                <a:extLst>
                  <a:ext uri="{0D108BD9-81ED-4DB2-BD59-A6C34878D82A}">
                    <a16:rowId xmlns:a16="http://schemas.microsoft.com/office/drawing/2014/main" val="10002"/>
                  </a:ext>
                </a:extLst>
              </a:tr>
              <a:tr h="292608">
                <a:tc>
                  <a:txBody>
                    <a:bodyPr/>
                    <a:lstStyle/>
                    <a:p>
                      <a:r>
                        <a:t>3</a:t>
                      </a:r>
                    </a:p>
                  </a:txBody>
                  <a:tcPr marL="54864" marR="54864" marT="18288" marB="18288" anchor="ctr">
                    <a:solidFill>
                      <a:srgbClr val="FFFFFF"/>
                    </a:solidFill>
                  </a:tcPr>
                </a:tc>
                <a:tc>
                  <a:txBody>
                    <a:bodyPr/>
                    <a:lstStyle/>
                    <a:p>
                      <a:r>
                        <a:t>Current</a:t>
                      </a:r>
                    </a:p>
                  </a:txBody>
                  <a:tcPr marL="54864" marR="54864" marT="18288" marB="18288" anchor="ctr">
                    <a:solidFill>
                      <a:srgbClr val="FFFFFF"/>
                    </a:solidFill>
                  </a:tcPr>
                </a:tc>
                <a:tc>
                  <a:txBody>
                    <a:bodyPr/>
                    <a:lstStyle/>
                    <a:p>
                      <a:r>
                        <a:t>102</a:t>
                      </a:r>
                    </a:p>
                  </a:txBody>
                  <a:tcPr marL="54864" marR="54864" marT="18288" marB="18288" anchor="ctr">
                    <a:solidFill>
                      <a:srgbClr val="FFFFFF"/>
                    </a:solidFill>
                  </a:tcPr>
                </a:tc>
                <a:tc>
                  <a:txBody>
                    <a:bodyPr/>
                    <a:lstStyle/>
                    <a:p>
                      <a:r>
                        <a:t>Manideep P</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5760720" y="2487168"/>
            <a:ext cx="5943600" cy="274320"/>
          </a:xfrm>
          <a:prstGeom prst="rect">
            <a:avLst/>
          </a:prstGeom>
          <a:noFill/>
        </p:spPr>
        <p:txBody>
          <a:bodyPr wrap="square" lIns="36576" tIns="36576" rIns="36576" bIns="36576" anchor="t">
            <a:spAutoFit/>
          </a:bodyPr>
          <a:lstStyle/>
          <a:p>
            <a:r>
              <a:t>user_name repeats and depends on user_id (not on account_id)</a:t>
            </a:r>
          </a:p>
        </p:txBody>
      </p:sp>
      <p:cxnSp>
        <p:nvCxnSpPr>
          <p:cNvPr id="21" name="Connector 20"/>
          <p:cNvCxnSpPr/>
          <p:nvPr/>
        </p:nvCxnSpPr>
        <p:spPr>
          <a:xfrm>
            <a:off x="8750808" y="2788920"/>
            <a:ext cx="0" cy="274320"/>
          </a:xfrm>
          <a:prstGeom prst="line">
            <a:avLst/>
          </a:prstGeom>
          <a:ln w="25400">
            <a:solidFill>
              <a:srgbClr val="B811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760720" y="3017520"/>
            <a:ext cx="5943600" cy="274320"/>
          </a:xfrm>
          <a:prstGeom prst="rect">
            <a:avLst/>
          </a:prstGeom>
          <a:noFill/>
        </p:spPr>
        <p:txBody>
          <a:bodyPr wrap="square" lIns="36576" tIns="36576" rIns="36576" bIns="36576" anchor="t">
            <a:spAutoFit/>
          </a:bodyPr>
          <a:lstStyle/>
          <a:p>
            <a:pPr algn="l"/>
            <a:r>
              <a:rPr sz="1200" b="0" i="0">
                <a:solidFill>
                  <a:srgbClr val="595959"/>
                </a:solidFill>
                <a:latin typeface="Calibri"/>
              </a:rPr>
              <a:t>we store two tables:</a:t>
            </a:r>
          </a:p>
        </p:txBody>
      </p:sp>
      <p:graphicFrame>
        <p:nvGraphicFramePr>
          <p:cNvPr id="23" name="Table 22"/>
          <p:cNvGraphicFramePr>
            <a:graphicFrameLocks noGrp="1"/>
          </p:cNvGraphicFramePr>
          <p:nvPr/>
        </p:nvGraphicFramePr>
        <p:xfrm>
          <a:off x="5760720" y="3337560"/>
          <a:ext cx="3291840" cy="1170432"/>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292608">
                <a:tc>
                  <a:txBody>
                    <a:bodyPr/>
                    <a:lstStyle/>
                    <a:p>
                      <a:r>
                        <a:t>accounts</a:t>
                      </a:r>
                    </a:p>
                  </a:txBody>
                  <a:tcPr marL="54864" marR="54864" marT="18288" marB="18288" anchor="ctr">
                    <a:solidFill>
                      <a:srgbClr val="B8114F"/>
                    </a:solidFill>
                  </a:tcPr>
                </a:tc>
                <a:tc>
                  <a:txBody>
                    <a:bodyPr/>
                    <a:lstStyle/>
                    <a:p/>
                  </a:txBody>
                  <a:tcPr marL="54864" marR="54864" marT="18288" marB="18288" anchor="ctr">
                    <a:solidFill>
                      <a:srgbClr val="B8114F"/>
                    </a:solidFill>
                  </a:tcPr>
                </a:tc>
                <a:extLst>
                  <a:ext uri="{0D108BD9-81ED-4DB2-BD59-A6C34878D82A}">
                    <a16:rowId xmlns:a16="http://schemas.microsoft.com/office/drawing/2014/main" val="10000"/>
                  </a:ext>
                </a:extLst>
              </a:tr>
              <a:tr h="292608">
                <a:tc>
                  <a:txBody>
                    <a:bodyPr/>
                    <a:lstStyle/>
                    <a:p>
                      <a:r>
                        <a:t>account_id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account_type</a:t>
                      </a:r>
                    </a:p>
                  </a:txBody>
                  <a:tcPr marL="54864" marR="54864" marT="18288" marB="18288" anchor="ctr">
                    <a:solidFill>
                      <a:srgbClr val="FDF2F6"/>
                    </a:solidFill>
                  </a:tcPr>
                </a:tc>
                <a:tc>
                  <a:txBody>
                    <a:bodyPr/>
                    <a:lstStyle/>
                    <a:p/>
                  </a:txBody>
                  <a:tcPr marL="54864" marR="54864" marT="18288" marB="18288" anchor="ctr">
                    <a:solidFill>
                      <a:srgbClr val="FDF2F6"/>
                    </a:solidFill>
                  </a:tcPr>
                </a:tc>
                <a:extLst>
                  <a:ext uri="{0D108BD9-81ED-4DB2-BD59-A6C34878D82A}">
                    <a16:rowId xmlns:a16="http://schemas.microsoft.com/office/drawing/2014/main" val="10002"/>
                  </a:ext>
                </a:extLst>
              </a:tr>
              <a:tr h="292608">
                <a:tc>
                  <a:txBody>
                    <a:bodyPr/>
                    <a:lstStyle/>
                    <a:p>
                      <a:r>
                        <a:t>user_id</a:t>
                      </a:r>
                    </a:p>
                  </a:txBody>
                  <a:tcPr marL="54864" marR="54864" marT="18288" marB="18288" anchor="ctr">
                    <a:solidFill>
                      <a:srgbClr val="FFFFFF"/>
                    </a:solidFill>
                  </a:tcPr>
                </a:tc>
                <a:tc>
                  <a:txBody>
                    <a:bodyPr/>
                    <a:lstStyle/>
                    <a:p>
                      <a:r>
                        <a:t>FK</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graphicFrame>
        <p:nvGraphicFramePr>
          <p:cNvPr id="24" name="Table 23"/>
          <p:cNvGraphicFramePr>
            <a:graphicFrameLocks noGrp="1"/>
          </p:cNvGraphicFramePr>
          <p:nvPr/>
        </p:nvGraphicFramePr>
        <p:xfrm>
          <a:off x="9281160" y="3337560"/>
          <a:ext cx="2468880" cy="877824"/>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tblGrid>
              <a:tr h="292608">
                <a:tc>
                  <a:txBody>
                    <a:bodyPr/>
                    <a:lstStyle/>
                    <a:p>
                      <a:r>
                        <a:t>users</a:t>
                      </a:r>
                    </a:p>
                  </a:txBody>
                  <a:tcPr marL="54864" marR="54864" marT="18288" marB="18288" anchor="ctr">
                    <a:solidFill>
                      <a:srgbClr val="B8114F"/>
                    </a:solidFill>
                  </a:tcPr>
                </a:tc>
                <a:tc>
                  <a:txBody>
                    <a:bodyPr/>
                    <a:lstStyle/>
                    <a:p/>
                  </a:txBody>
                  <a:tcPr marL="54864" marR="54864" marT="18288" marB="18288" anchor="ctr">
                    <a:solidFill>
                      <a:srgbClr val="B8114F"/>
                    </a:solidFill>
                  </a:tcPr>
                </a:tc>
                <a:extLst>
                  <a:ext uri="{0D108BD9-81ED-4DB2-BD59-A6C34878D82A}">
                    <a16:rowId xmlns:a16="http://schemas.microsoft.com/office/drawing/2014/main" val="10000"/>
                  </a:ext>
                </a:extLst>
              </a:tr>
              <a:tr h="292608">
                <a:tc>
                  <a:txBody>
                    <a:bodyPr/>
                    <a:lstStyle/>
                    <a:p>
                      <a:r>
                        <a:t>user_id</a:t>
                      </a:r>
                    </a:p>
                  </a:txBody>
                  <a:tcPr marL="54864" marR="54864" marT="18288" marB="18288" anchor="ctr">
                    <a:solidFill>
                      <a:srgbClr val="FFFFFF"/>
                    </a:solidFill>
                  </a:tcPr>
                </a:tc>
                <a:tc>
                  <a:txBody>
                    <a:bodyPr/>
                    <a:lstStyle/>
                    <a:p>
                      <a:r>
                        <a:t>PK</a:t>
                      </a:r>
                    </a:p>
                  </a:txBody>
                  <a:tcPr marL="54864" marR="54864" marT="18288" marB="18288" anchor="ctr">
                    <a:solidFill>
                      <a:srgbClr val="FFFFFF"/>
                    </a:solidFill>
                  </a:tcPr>
                </a:tc>
                <a:extLst>
                  <a:ext uri="{0D108BD9-81ED-4DB2-BD59-A6C34878D82A}">
                    <a16:rowId xmlns:a16="http://schemas.microsoft.com/office/drawing/2014/main" val="10001"/>
                  </a:ext>
                </a:extLst>
              </a:tr>
              <a:tr h="292608">
                <a:tc>
                  <a:txBody>
                    <a:bodyPr/>
                    <a:lstStyle/>
                    <a:p>
                      <a:r>
                        <a:t>user_name</a:t>
                      </a:r>
                    </a:p>
                  </a:txBody>
                  <a:tcPr marL="54864" marR="54864" marT="18288" marB="18288" anchor="ctr">
                    <a:solidFill>
                      <a:srgbClr val="FDF2F6"/>
                    </a:solidFill>
                  </a:tcPr>
                </a:tc>
                <a:tc>
                  <a:txBody>
                    <a:bodyPr/>
                    <a:lstStyle/>
                    <a:p/>
                  </a:txBody>
                  <a:tcPr marL="54864" marR="54864" marT="18288" marB="18288" anchor="ctr">
                    <a:solidFill>
                      <a:srgbClr val="FDF2F6"/>
                    </a:solidFill>
                  </a:tcPr>
                </a:tc>
                <a:extLst>
                  <a:ext uri="{0D108BD9-81ED-4DB2-BD59-A6C34878D82A}">
                    <a16:rowId xmlns:a16="http://schemas.microsoft.com/office/drawing/2014/main" val="10002"/>
                  </a:ext>
                </a:extLst>
              </a:tr>
            </a:tbl>
          </a:graphicData>
        </a:graphic>
      </p:graphicFrame>
      <p:cxnSp>
        <p:nvCxnSpPr>
          <p:cNvPr id="25" name="Connector 24"/>
          <p:cNvCxnSpPr/>
          <p:nvPr/>
        </p:nvCxnSpPr>
        <p:spPr>
          <a:xfrm flipV="1">
            <a:off x="9070848" y="3803904"/>
            <a:ext cx="192024" cy="57607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1480" y="3657600"/>
            <a:ext cx="4937760" cy="320040"/>
          </a:xfrm>
          <a:prstGeom prst="rect">
            <a:avLst/>
          </a:prstGeom>
          <a:noFill/>
        </p:spPr>
        <p:txBody>
          <a:bodyPr wrap="square" lIns="36576" tIns="36576" rIns="36576" bIns="36576" anchor="t">
            <a:spAutoFit/>
          </a:bodyPr>
          <a:lstStyle/>
          <a:p>
            <a:pPr algn="l"/>
            <a:r>
              <a:rPr sz="1500" b="1" i="0">
                <a:solidFill>
                  <a:srgbClr val="B8114F"/>
                </a:solidFill>
                <a:latin typeface="Calibri"/>
              </a:rPr>
              <a:t>Benefits</a:t>
            </a:r>
          </a:p>
        </p:txBody>
      </p:sp>
      <p:sp>
        <p:nvSpPr>
          <p:cNvPr id="27" name="Rounded Rectangle 26"/>
          <p:cNvSpPr/>
          <p:nvPr/>
        </p:nvSpPr>
        <p:spPr>
          <a:xfrm>
            <a:off x="411480" y="402336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check.png"/>
          <p:cNvPicPr>
            <a:picLocks noChangeAspect="1"/>
          </p:cNvPicPr>
          <p:nvPr/>
        </p:nvPicPr>
        <p:blipFill>
          <a:blip r:embed="rId3"/>
          <a:stretch>
            <a:fillRect/>
          </a:stretch>
        </p:blipFill>
        <p:spPr>
          <a:xfrm>
            <a:off x="502920" y="4114800"/>
            <a:ext cx="256032" cy="256032"/>
          </a:xfrm>
          <a:prstGeom prst="rect">
            <a:avLst/>
          </a:prstGeom>
        </p:spPr>
      </p:pic>
      <p:sp>
        <p:nvSpPr>
          <p:cNvPr id="29" name="TextBox 28"/>
          <p:cNvSpPr txBox="1"/>
          <p:nvPr/>
        </p:nvSpPr>
        <p:spPr>
          <a:xfrm>
            <a:off x="822960" y="402336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Less duplicate data</a:t>
            </a:r>
          </a:p>
        </p:txBody>
      </p:sp>
      <p:sp>
        <p:nvSpPr>
          <p:cNvPr id="30" name="Rounded Rectangle 29"/>
          <p:cNvSpPr/>
          <p:nvPr/>
        </p:nvSpPr>
        <p:spPr>
          <a:xfrm>
            <a:off x="2926080" y="402336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heck.png"/>
          <p:cNvPicPr>
            <a:picLocks noChangeAspect="1"/>
          </p:cNvPicPr>
          <p:nvPr/>
        </p:nvPicPr>
        <p:blipFill>
          <a:blip r:embed="rId3"/>
          <a:stretch>
            <a:fillRect/>
          </a:stretch>
        </p:blipFill>
        <p:spPr>
          <a:xfrm>
            <a:off x="3017520" y="4114800"/>
            <a:ext cx="256032" cy="256032"/>
          </a:xfrm>
          <a:prstGeom prst="rect">
            <a:avLst/>
          </a:prstGeom>
        </p:spPr>
      </p:pic>
      <p:sp>
        <p:nvSpPr>
          <p:cNvPr id="32" name="TextBox 31"/>
          <p:cNvSpPr txBox="1"/>
          <p:nvPr/>
        </p:nvSpPr>
        <p:spPr>
          <a:xfrm>
            <a:off x="3337560" y="402336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Easier updates</a:t>
            </a:r>
          </a:p>
        </p:txBody>
      </p:sp>
      <p:sp>
        <p:nvSpPr>
          <p:cNvPr id="33" name="Rounded Rectangle 32"/>
          <p:cNvSpPr/>
          <p:nvPr/>
        </p:nvSpPr>
        <p:spPr>
          <a:xfrm>
            <a:off x="411480" y="457200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4" name="Picture 33" descr="check.png"/>
          <p:cNvPicPr>
            <a:picLocks noChangeAspect="1"/>
          </p:cNvPicPr>
          <p:nvPr/>
        </p:nvPicPr>
        <p:blipFill>
          <a:blip r:embed="rId3"/>
          <a:stretch>
            <a:fillRect/>
          </a:stretch>
        </p:blipFill>
        <p:spPr>
          <a:xfrm>
            <a:off x="502920" y="4663440"/>
            <a:ext cx="256032" cy="256032"/>
          </a:xfrm>
          <a:prstGeom prst="rect">
            <a:avLst/>
          </a:prstGeom>
        </p:spPr>
      </p:pic>
      <p:sp>
        <p:nvSpPr>
          <p:cNvPr id="35" name="TextBox 34"/>
          <p:cNvSpPr txBox="1"/>
          <p:nvPr/>
        </p:nvSpPr>
        <p:spPr>
          <a:xfrm>
            <a:off x="822960" y="457200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Better consistency</a:t>
            </a:r>
          </a:p>
        </p:txBody>
      </p:sp>
      <p:sp>
        <p:nvSpPr>
          <p:cNvPr id="36" name="Rounded Rectangle 35"/>
          <p:cNvSpPr/>
          <p:nvPr/>
        </p:nvSpPr>
        <p:spPr>
          <a:xfrm>
            <a:off x="2926080" y="4572000"/>
            <a:ext cx="2377440" cy="438912"/>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7" name="Picture 36" descr="check.png"/>
          <p:cNvPicPr>
            <a:picLocks noChangeAspect="1"/>
          </p:cNvPicPr>
          <p:nvPr/>
        </p:nvPicPr>
        <p:blipFill>
          <a:blip r:embed="rId3"/>
          <a:stretch>
            <a:fillRect/>
          </a:stretch>
        </p:blipFill>
        <p:spPr>
          <a:xfrm>
            <a:off x="3017520" y="4663440"/>
            <a:ext cx="256032" cy="256032"/>
          </a:xfrm>
          <a:prstGeom prst="rect">
            <a:avLst/>
          </a:prstGeom>
        </p:spPr>
      </p:pic>
      <p:sp>
        <p:nvSpPr>
          <p:cNvPr id="38" name="TextBox 37"/>
          <p:cNvSpPr txBox="1"/>
          <p:nvPr/>
        </p:nvSpPr>
        <p:spPr>
          <a:xfrm>
            <a:off x="3337560" y="4572000"/>
            <a:ext cx="1920240" cy="438912"/>
          </a:xfrm>
          <a:prstGeom prst="rect">
            <a:avLst/>
          </a:prstGeom>
          <a:noFill/>
        </p:spPr>
        <p:txBody>
          <a:bodyPr wrap="square" lIns="36576" tIns="36576" rIns="36576" bIns="36576" anchor="ctr">
            <a:spAutoFit/>
          </a:bodyPr>
          <a:lstStyle/>
          <a:p>
            <a:pPr algn="l"/>
            <a:r>
              <a:rPr sz="1200" b="0" i="0">
                <a:solidFill>
                  <a:srgbClr val="222222"/>
                </a:solidFill>
                <a:latin typeface="Calibri"/>
              </a:rPr>
              <a:t>Cleaner database design</a:t>
            </a:r>
          </a:p>
        </p:txBody>
      </p:sp>
      <p:sp>
        <p:nvSpPr>
          <p:cNvPr id="39" name="Rounded Rectangle 38"/>
          <p:cNvSpPr/>
          <p:nvPr/>
        </p:nvSpPr>
        <p:spPr>
          <a:xfrm>
            <a:off x="411480" y="5257800"/>
            <a:ext cx="11365992" cy="54864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548640" y="5257800"/>
            <a:ext cx="11064240" cy="548640"/>
          </a:xfrm>
          <a:prstGeom prst="rect">
            <a:avLst/>
          </a:prstGeom>
          <a:noFill/>
        </p:spPr>
        <p:txBody>
          <a:bodyPr wrap="square" lIns="36576" tIns="36576" rIns="36576" bIns="36576" anchor="ctr">
            <a:spAutoFit/>
          </a:bodyPr>
          <a:lstStyle/>
          <a:p>
            <a:r>
              <a:t>Conclusion: The FinTrack database strictly adheres to 3NF-oriented relational design.</a:t>
            </a:r>
          </a:p>
        </p:txBody>
      </p:sp>
    </p:spTree>
    <p:extLst>
      <p:ext uri="{BB962C8B-B14F-4D97-AF65-F5344CB8AC3E}">
        <p14:creationId xmlns:p14="http://schemas.microsoft.com/office/powerpoint/2010/main" val="4207634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Procedures, Functions, Triggers &amp; Views</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9</a:t>
            </a:fld>
            <a:endParaRPr lang="en-US" kern="1200">
              <a:solidFill>
                <a:prstClr val="white"/>
              </a:solidFill>
              <a:latin typeface="Calibri"/>
              <a:ea typeface="+mn-ea"/>
              <a:cs typeface="+mn-cs"/>
            </a:endParaRPr>
          </a:p>
        </p:txBody>
      </p:sp>
      <p:sp>
        <p:nvSpPr>
          <p:cNvPr id="5" name="Rounded Rectangle 4"/>
          <p:cNvSpPr/>
          <p:nvPr/>
        </p:nvSpPr>
        <p:spPr>
          <a:xfrm>
            <a:off x="411480" y="65836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48640" y="76809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cogs_w.png"/>
          <p:cNvPicPr>
            <a:picLocks noChangeAspect="1"/>
          </p:cNvPicPr>
          <p:nvPr/>
        </p:nvPicPr>
        <p:blipFill>
          <a:blip r:embed="rId3"/>
          <a:stretch>
            <a:fillRect/>
          </a:stretch>
        </p:blipFill>
        <p:spPr>
          <a:xfrm>
            <a:off x="669340" y="888796"/>
            <a:ext cx="261518" cy="261518"/>
          </a:xfrm>
          <a:prstGeom prst="rect">
            <a:avLst/>
          </a:prstGeom>
        </p:spPr>
      </p:pic>
      <p:sp>
        <p:nvSpPr>
          <p:cNvPr id="8" name="TextBox 7"/>
          <p:cNvSpPr txBox="1"/>
          <p:nvPr/>
        </p:nvSpPr>
        <p:spPr>
          <a:xfrm>
            <a:off x="1143000" y="731519"/>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Stored Procedures</a:t>
            </a:r>
          </a:p>
        </p:txBody>
      </p:sp>
      <p:sp>
        <p:nvSpPr>
          <p:cNvPr id="9" name="TextBox 8"/>
          <p:cNvSpPr txBox="1"/>
          <p:nvPr/>
        </p:nvSpPr>
        <p:spPr>
          <a:xfrm>
            <a:off x="1143000" y="102412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Perform database operations</a:t>
            </a:r>
          </a:p>
        </p:txBody>
      </p:sp>
      <p:sp>
        <p:nvSpPr>
          <p:cNvPr id="10" name="Rounded Rectangle 9"/>
          <p:cNvSpPr/>
          <p:nvPr/>
        </p:nvSpPr>
        <p:spPr>
          <a:xfrm>
            <a:off x="6144768" y="65836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6281928" y="76809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alc_w.png"/>
          <p:cNvPicPr>
            <a:picLocks noChangeAspect="1"/>
          </p:cNvPicPr>
          <p:nvPr/>
        </p:nvPicPr>
        <p:blipFill>
          <a:blip r:embed="rId4"/>
          <a:stretch>
            <a:fillRect/>
          </a:stretch>
        </p:blipFill>
        <p:spPr>
          <a:xfrm>
            <a:off x="6402628" y="888796"/>
            <a:ext cx="261518" cy="261518"/>
          </a:xfrm>
          <a:prstGeom prst="rect">
            <a:avLst/>
          </a:prstGeom>
        </p:spPr>
      </p:pic>
      <p:sp>
        <p:nvSpPr>
          <p:cNvPr id="13" name="TextBox 12"/>
          <p:cNvSpPr txBox="1"/>
          <p:nvPr/>
        </p:nvSpPr>
        <p:spPr>
          <a:xfrm>
            <a:off x="6876288" y="731519"/>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Functions</a:t>
            </a:r>
          </a:p>
        </p:txBody>
      </p:sp>
      <p:sp>
        <p:nvSpPr>
          <p:cNvPr id="14" name="TextBox 13"/>
          <p:cNvSpPr txBox="1"/>
          <p:nvPr/>
        </p:nvSpPr>
        <p:spPr>
          <a:xfrm>
            <a:off x="6876288" y="102412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Perform calculations</a:t>
            </a:r>
          </a:p>
        </p:txBody>
      </p:sp>
      <p:sp>
        <p:nvSpPr>
          <p:cNvPr id="15" name="Rounded Rectangle 14"/>
          <p:cNvSpPr/>
          <p:nvPr/>
        </p:nvSpPr>
        <p:spPr>
          <a:xfrm>
            <a:off x="411480" y="312724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548640" y="323697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bolt_w.png"/>
          <p:cNvPicPr>
            <a:picLocks noChangeAspect="1"/>
          </p:cNvPicPr>
          <p:nvPr/>
        </p:nvPicPr>
        <p:blipFill>
          <a:blip r:embed="rId5"/>
          <a:stretch>
            <a:fillRect/>
          </a:stretch>
        </p:blipFill>
        <p:spPr>
          <a:xfrm>
            <a:off x="669340" y="3357676"/>
            <a:ext cx="261518" cy="261518"/>
          </a:xfrm>
          <a:prstGeom prst="rect">
            <a:avLst/>
          </a:prstGeom>
        </p:spPr>
      </p:pic>
      <p:sp>
        <p:nvSpPr>
          <p:cNvPr id="18" name="TextBox 17"/>
          <p:cNvSpPr txBox="1"/>
          <p:nvPr/>
        </p:nvSpPr>
        <p:spPr>
          <a:xfrm>
            <a:off x="1143000" y="3200400"/>
            <a:ext cx="2743200" cy="320040"/>
          </a:xfrm>
          <a:prstGeom prst="rect">
            <a:avLst/>
          </a:prstGeom>
          <a:noFill/>
        </p:spPr>
        <p:txBody>
          <a:bodyPr wrap="square" lIns="36576" tIns="36576" rIns="36576" bIns="36576" anchor="t">
            <a:spAutoFit/>
          </a:bodyPr>
          <a:lstStyle/>
          <a:p>
            <a:pPr algn="l"/>
            <a:r>
              <a:rPr sz="1600" b="1" i="0">
                <a:solidFill>
                  <a:srgbClr val="8E0D3C"/>
                </a:solidFill>
                <a:latin typeface="Calibri"/>
              </a:rPr>
              <a:t>Triggers</a:t>
            </a:r>
          </a:p>
        </p:txBody>
      </p:sp>
      <p:sp>
        <p:nvSpPr>
          <p:cNvPr id="19" name="TextBox 18"/>
          <p:cNvSpPr txBox="1"/>
          <p:nvPr/>
        </p:nvSpPr>
        <p:spPr>
          <a:xfrm>
            <a:off x="1143000" y="349300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Automatically enforce rules</a:t>
            </a:r>
          </a:p>
        </p:txBody>
      </p:sp>
      <p:sp>
        <p:nvSpPr>
          <p:cNvPr id="20" name="Rounded Rectangle 19"/>
          <p:cNvSpPr/>
          <p:nvPr/>
        </p:nvSpPr>
        <p:spPr>
          <a:xfrm>
            <a:off x="6144768" y="3127248"/>
            <a:ext cx="5632704" cy="2331720"/>
          </a:xfrm>
          <a:prstGeom prst="roundRect">
            <a:avLst>
              <a:gd name="adj" fmla="val 4705"/>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281928" y="3236976"/>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eye_w.png"/>
          <p:cNvPicPr>
            <a:picLocks noChangeAspect="1"/>
          </p:cNvPicPr>
          <p:nvPr/>
        </p:nvPicPr>
        <p:blipFill>
          <a:blip r:embed="rId6"/>
          <a:stretch>
            <a:fillRect/>
          </a:stretch>
        </p:blipFill>
        <p:spPr>
          <a:xfrm>
            <a:off x="6402628" y="3357676"/>
            <a:ext cx="261518" cy="261518"/>
          </a:xfrm>
          <a:prstGeom prst="rect">
            <a:avLst/>
          </a:prstGeom>
        </p:spPr>
      </p:pic>
      <p:sp>
        <p:nvSpPr>
          <p:cNvPr id="23" name="TextBox 22"/>
          <p:cNvSpPr txBox="1"/>
          <p:nvPr/>
        </p:nvSpPr>
        <p:spPr>
          <a:xfrm>
            <a:off x="6876288" y="3200400"/>
            <a:ext cx="2743200" cy="320040"/>
          </a:xfrm>
          <a:prstGeom prst="rect">
            <a:avLst/>
          </a:prstGeom>
          <a:noFill/>
        </p:spPr>
        <p:txBody>
          <a:bodyPr wrap="square" lIns="36576" tIns="36576" rIns="36576" bIns="36576" anchor="t">
            <a:spAutoFit/>
          </a:bodyPr>
          <a:lstStyle/>
          <a:p>
            <a:r>
              <a:t>3 Stored Procedures:</a:t>
            </a:r>
          </a:p>
        </p:txBody>
      </p:sp>
      <p:sp>
        <p:nvSpPr>
          <p:cNvPr id="24" name="TextBox 23"/>
          <p:cNvSpPr txBox="1"/>
          <p:nvPr/>
        </p:nvSpPr>
        <p:spPr>
          <a:xfrm>
            <a:off x="6876288" y="3493008"/>
            <a:ext cx="4754880" cy="274320"/>
          </a:xfrm>
          <a:prstGeom prst="rect">
            <a:avLst/>
          </a:prstGeom>
          <a:noFill/>
        </p:spPr>
        <p:txBody>
          <a:bodyPr wrap="square" lIns="36576" tIns="36576" rIns="36576" bIns="36576" anchor="t">
            <a:spAutoFit/>
          </a:bodyPr>
          <a:lstStyle/>
          <a:p>
            <a:pPr algn="l"/>
            <a:r>
              <a:rPr sz="1150" b="0" i="1">
                <a:solidFill>
                  <a:srgbClr val="595959"/>
                </a:solidFill>
                <a:latin typeface="Calibri"/>
              </a:rPr>
              <a:t>Simplify complex queries</a:t>
            </a:r>
          </a:p>
        </p:txBody>
      </p:sp>
      <p:sp>
        <p:nvSpPr>
          <p:cNvPr id="25" name="TextBox 24"/>
          <p:cNvSpPr txBox="1"/>
          <p:nvPr/>
        </p:nvSpPr>
        <p:spPr>
          <a:xfrm>
            <a:off x="594360" y="1298448"/>
            <a:ext cx="5303520" cy="274320"/>
          </a:xfrm>
          <a:prstGeom prst="rect">
            <a:avLst/>
          </a:prstGeom>
          <a:noFill/>
        </p:spPr>
        <p:txBody>
          <a:bodyPr wrap="square" lIns="36576" tIns="36576" rIns="36576" bIns="36576" anchor="t">
            <a:spAutoFit/>
          </a:bodyPr>
          <a:lstStyle/>
          <a:p>
            <a:pPr algn="l"/>
            <a:r>
              <a:rPr sz="1150" b="0" i="0">
                <a:solidFill>
                  <a:srgbClr val="595959"/>
                </a:solidFill>
                <a:latin typeface="Calibri"/>
              </a:rPr>
              <a:t>19 procedures in total. Main ones:</a:t>
            </a:r>
          </a:p>
        </p:txBody>
      </p:sp>
      <p:sp>
        <p:nvSpPr>
          <p:cNvPr id="26" name="TextBox 25"/>
          <p:cNvSpPr txBox="1"/>
          <p:nvPr/>
        </p:nvSpPr>
        <p:spPr>
          <a:xfrm>
            <a:off x="594360" y="1600200"/>
            <a:ext cx="2651760" cy="1371600"/>
          </a:xfrm>
          <a:prstGeom prst="rect">
            <a:avLst/>
          </a:prstGeom>
          <a:noFill/>
        </p:spPr>
        <p:txBody>
          <a:bodyPr wrap="square" lIns="36576" tIns="36576" rIns="36576" bIns="36576" anchor="t">
            <a:spAutoFit/>
          </a:bodyPr>
          <a:lstStyle/>
          <a:p>
            <a:r>
              <a:t>transfer_funds</a:t>
            </a:r>
          </a:p>
          <a:p>
            <a:r>
              <a:t>(atomic transfer with rollback)</a:t>
            </a:r>
          </a:p>
          <a:p>
            <a:r>
              <a:t>generate_recurring_transactions</a:t>
            </a:r>
          </a:p>
          <a:p>
            <a:r>
              <a:t>(processes due subscriptions)</a:t>
            </a:r>
          </a:p>
        </p:txBody>
      </p:sp>
      <p:sp>
        <p:nvSpPr>
          <p:cNvPr id="27" name="TextBox 26"/>
          <p:cNvSpPr txBox="1"/>
          <p:nvPr/>
        </p:nvSpPr>
        <p:spPr>
          <a:xfrm>
            <a:off x="3017520" y="1600200"/>
            <a:ext cx="2926080" cy="1371600"/>
          </a:xfrm>
          <a:prstGeom prst="rect">
            <a:avLst/>
          </a:prstGeom>
          <a:noFill/>
        </p:spPr>
        <p:txBody>
          <a:bodyPr wrap="square" lIns="36576" tIns="36576" rIns="36576" bIns="36576" anchor="t">
            <a:spAutoFit/>
          </a:bodyPr>
          <a:lstStyle/>
          <a:p>
            <a:r>
              <a:t>generate_predictions</a:t>
            </a:r>
          </a:p>
          <a:p>
            <a:r>
              <a:t>(3-month rolling spend forecast)</a:t>
            </a:r>
          </a:p>
          <a:p>
            <a:r>
              <a:t>manage_budget_rebalancing</a:t>
            </a:r>
          </a:p>
          <a:p>
            <a:r>
              <a:t>(dynamic salary reallocation)</a:t>
            </a:r>
          </a:p>
        </p:txBody>
      </p:sp>
      <p:sp>
        <p:nvSpPr>
          <p:cNvPr id="28" name="TextBox 27"/>
          <p:cNvSpPr txBox="1"/>
          <p:nvPr/>
        </p:nvSpPr>
        <p:spPr>
          <a:xfrm>
            <a:off x="6327648" y="1371600"/>
            <a:ext cx="5303520" cy="1554480"/>
          </a:xfrm>
          <a:prstGeom prst="rect">
            <a:avLst/>
          </a:prstGeom>
          <a:noFill/>
        </p:spPr>
        <p:txBody>
          <a:bodyPr wrap="square" lIns="36576" tIns="36576" rIns="36576" bIns="36576" anchor="t">
            <a:spAutoFit/>
          </a:bodyPr>
          <a:lstStyle/>
          <a:p>
            <a:r>
              <a:t>get_monthly_total() – aggregate user monthly expense</a:t>
            </a:r>
          </a:p>
          <a:p>
            <a:r>
              <a:t>fn_calculate_savings_rate() – monthly savings percentage</a:t>
            </a:r>
          </a:p>
          <a:p>
            <a:r>
              <a:t>fn_get_category_burn_rate() – daily category spend velocity</a:t>
            </a:r>
          </a:p>
        </p:txBody>
      </p:sp>
      <p:sp>
        <p:nvSpPr>
          <p:cNvPr id="29" name="TextBox 28"/>
          <p:cNvSpPr txBox="1"/>
          <p:nvPr/>
        </p:nvSpPr>
        <p:spPr>
          <a:xfrm>
            <a:off x="594360" y="3794760"/>
            <a:ext cx="5303520" cy="1097280"/>
          </a:xfrm>
          <a:prstGeom prst="rect">
            <a:avLst/>
          </a:prstGeom>
          <a:noFill/>
        </p:spPr>
        <p:txBody>
          <a:bodyPr wrap="square" lIns="36576" tIns="36576" rIns="36576" bIns="36576" anchor="t">
            <a:spAutoFit/>
          </a:bodyPr>
          <a:lstStyle/>
          <a:p>
            <a:r>
              <a:t>Validate balance sufficiency &amp; status.</a:t>
            </a:r>
          </a:p>
          <a:p>
            <a:r>
              <a:t>Prevent mutating table ORA-04091 errors.</a:t>
            </a:r>
          </a:p>
          <a:p>
            <a:r>
              <a:t>Maintain double-entry balance equality.</a:t>
            </a:r>
          </a:p>
          <a:p>
            <a:r>
              <a:t>Autonomously trigger budget warning alerts.</a:t>
            </a:r>
          </a:p>
        </p:txBody>
      </p:sp>
      <p:sp>
        <p:nvSpPr>
          <p:cNvPr id="30" name="TextBox 29"/>
          <p:cNvSpPr txBox="1"/>
          <p:nvPr/>
        </p:nvSpPr>
        <p:spPr>
          <a:xfrm>
            <a:off x="594360" y="4892040"/>
            <a:ext cx="5303520" cy="457200"/>
          </a:xfrm>
          <a:prstGeom prst="rect">
            <a:avLst/>
          </a:prstGeom>
          <a:noFill/>
        </p:spPr>
        <p:txBody>
          <a:bodyPr wrap="square" lIns="36576" tIns="36576" rIns="36576" bIns="36576" anchor="t">
            <a:spAutoFit/>
          </a:bodyPr>
          <a:lstStyle/>
          <a:p>
            <a:r>
              <a:t>e.g. trg_check_budget inserts alert when spend &gt;= 80% or &gt;= 100%</a:t>
            </a:r>
          </a:p>
        </p:txBody>
      </p:sp>
      <p:sp>
        <p:nvSpPr>
          <p:cNvPr id="31" name="TextBox 30"/>
          <p:cNvSpPr txBox="1"/>
          <p:nvPr/>
        </p:nvSpPr>
        <p:spPr>
          <a:xfrm>
            <a:off x="6327648" y="3794760"/>
            <a:ext cx="2651760" cy="1097280"/>
          </a:xfrm>
          <a:prstGeom prst="rect">
            <a:avLst/>
          </a:prstGeom>
          <a:noFill/>
        </p:spPr>
        <p:txBody>
          <a:bodyPr wrap="square" lIns="36576" tIns="36576" rIns="36576" bIns="36576" anchor="t">
            <a:spAutoFit/>
          </a:bodyPr>
          <a:lstStyle/>
          <a:p>
            <a:r>
              <a:t>MonthlyCategorySummary</a:t>
            </a:r>
          </a:p>
          <a:p>
            <a:r>
              <a:t>v_account_overview</a:t>
            </a:r>
          </a:p>
          <a:p>
            <a:r>
              <a:t>v_active_subscriptions</a:t>
            </a:r>
          </a:p>
        </p:txBody>
      </p:sp>
      <p:sp>
        <p:nvSpPr>
          <p:cNvPr id="32" name="TextBox 31"/>
          <p:cNvSpPr txBox="1"/>
          <p:nvPr/>
        </p:nvSpPr>
        <p:spPr>
          <a:xfrm>
            <a:off x="8915400" y="3794760"/>
            <a:ext cx="2743200" cy="1097280"/>
          </a:xfrm>
          <a:prstGeom prst="rect">
            <a:avLst/>
          </a:prstGeom>
          <a:noFill/>
        </p:spPr>
        <p:txBody>
          <a:bodyPr wrap="square" lIns="36576" tIns="36576" rIns="36576" bIns="36576" anchor="t">
            <a:spAutoFit/>
          </a:bodyPr>
          <a:lstStyle/>
          <a:p>
            <a:r>
              <a:t>v_budget_guardrails</a:t>
            </a:r>
          </a:p>
          <a:p>
            <a:r>
              <a:t>v_recent_audit_ledger</a:t>
            </a:r>
          </a:p>
          <a:p>
            <a:r>
              <a:t>v_category_predictions</a:t>
            </a:r>
          </a:p>
        </p:txBody>
      </p:sp>
      <p:sp>
        <p:nvSpPr>
          <p:cNvPr id="33" name="TextBox 32"/>
          <p:cNvSpPr txBox="1"/>
          <p:nvPr/>
        </p:nvSpPr>
        <p:spPr>
          <a:xfrm>
            <a:off x="6327648" y="4892040"/>
            <a:ext cx="5303520" cy="457200"/>
          </a:xfrm>
          <a:prstGeom prst="rect">
            <a:avLst/>
          </a:prstGeom>
          <a:noFill/>
        </p:spPr>
        <p:txBody>
          <a:bodyPr wrap="square" lIns="36576" tIns="36576" rIns="36576" bIns="36576" anchor="t">
            <a:spAutoFit/>
          </a:bodyPr>
          <a:lstStyle/>
          <a:p>
            <a:r>
              <a:t>3 views in total, e.g. MonthlyCategorySummary</a:t>
            </a:r>
          </a:p>
        </p:txBody>
      </p:sp>
      <p:sp>
        <p:nvSpPr>
          <p:cNvPr id="34" name="Rounded Rectangle 33"/>
          <p:cNvSpPr/>
          <p:nvPr/>
        </p:nvSpPr>
        <p:spPr>
          <a:xfrm>
            <a:off x="411480" y="5650992"/>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48640" y="5650992"/>
            <a:ext cx="11064240" cy="457200"/>
          </a:xfrm>
          <a:prstGeom prst="rect">
            <a:avLst/>
          </a:prstGeom>
          <a:noFill/>
        </p:spPr>
        <p:txBody>
          <a:bodyPr wrap="square" lIns="36576" tIns="36576" rIns="36576" bIns="36576" anchor="ctr">
            <a:spAutoFit/>
          </a:bodyPr>
          <a:lstStyle/>
          <a:p>
            <a:r>
              <a:t>Simple explanation:  “Procedures perform database operations, functions perform calculations, triggers automatically enforce rules, and views simplify complex queries.”</a:t>
            </a:r>
          </a:p>
        </p:txBody>
      </p:sp>
    </p:spTree>
    <p:extLst>
      <p:ext uri="{BB962C8B-B14F-4D97-AF65-F5344CB8AC3E}">
        <p14:creationId xmlns:p14="http://schemas.microsoft.com/office/powerpoint/2010/main" val="4207634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Transactions, Concurrency &amp; Security</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10</a:t>
            </a:fld>
            <a:endParaRPr lang="en-US" kern="1200">
              <a:solidFill>
                <a:prstClr val="white"/>
              </a:solidFill>
              <a:latin typeface="Calibri"/>
              <a:ea typeface="+mn-ea"/>
              <a:cs typeface="+mn-cs"/>
            </a:endParaRPr>
          </a:p>
        </p:txBody>
      </p:sp>
      <p:sp>
        <p:nvSpPr>
          <p:cNvPr id="5" name="TextBox 4"/>
          <p:cNvSpPr txBox="1"/>
          <p:nvPr/>
        </p:nvSpPr>
        <p:spPr>
          <a:xfrm>
            <a:off x="411480" y="640080"/>
            <a:ext cx="4206240" cy="320040"/>
          </a:xfrm>
          <a:prstGeom prst="rect">
            <a:avLst/>
          </a:prstGeom>
          <a:noFill/>
        </p:spPr>
        <p:txBody>
          <a:bodyPr wrap="square" lIns="36576" tIns="36576" rIns="36576" bIns="36576" anchor="t">
            <a:spAutoFit/>
          </a:bodyPr>
          <a:lstStyle/>
          <a:p>
            <a:r>
              <a:t>Transaction: when money is transferred between accounts</a:t>
            </a:r>
          </a:p>
        </p:txBody>
      </p:sp>
      <p:sp>
        <p:nvSpPr>
          <p:cNvPr id="6" name="Oval 5"/>
          <p:cNvSpPr/>
          <p:nvPr/>
        </p:nvSpPr>
        <p:spPr>
          <a:xfrm>
            <a:off x="411480" y="100584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11480" y="1005840"/>
            <a:ext cx="402336" cy="402336"/>
          </a:xfrm>
          <a:prstGeom prst="rect">
            <a:avLst/>
          </a:prstGeom>
          <a:noFill/>
        </p:spPr>
        <p:txBody>
          <a:bodyPr wrap="square" lIns="0" tIns="0" rIns="0" bIns="0" anchor="ctr">
            <a:spAutoFit/>
          </a:bodyPr>
          <a:lstStyle/>
          <a:p>
            <a:pPr algn="ctr"/>
            <a:r>
              <a:rPr sz="1200" b="1" i="0">
                <a:solidFill>
                  <a:srgbClr val="FFFFFF"/>
                </a:solidFill>
                <a:latin typeface="Calibri"/>
              </a:rPr>
              <a:t>1</a:t>
            </a:r>
          </a:p>
        </p:txBody>
      </p:sp>
      <p:sp>
        <p:nvSpPr>
          <p:cNvPr id="8" name="TextBox 7"/>
          <p:cNvSpPr txBox="1"/>
          <p:nvPr/>
        </p:nvSpPr>
        <p:spPr>
          <a:xfrm>
            <a:off x="914400" y="1005840"/>
            <a:ext cx="2377440" cy="402336"/>
          </a:xfrm>
          <a:prstGeom prst="rect">
            <a:avLst/>
          </a:prstGeom>
          <a:noFill/>
        </p:spPr>
        <p:txBody>
          <a:bodyPr wrap="square" lIns="36576" tIns="36576" rIns="36576" bIns="36576" anchor="ctr">
            <a:spAutoFit/>
          </a:bodyPr>
          <a:lstStyle/>
          <a:p>
            <a:r>
              <a:t>Check source account status &amp; balance.</a:t>
            </a:r>
          </a:p>
        </p:txBody>
      </p:sp>
      <p:cxnSp>
        <p:nvCxnSpPr>
          <p:cNvPr id="9" name="Connector 8"/>
          <p:cNvCxnSpPr/>
          <p:nvPr/>
        </p:nvCxnSpPr>
        <p:spPr>
          <a:xfrm>
            <a:off x="612648" y="140817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11480" y="155448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11480" y="1554480"/>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12" name="TextBox 11"/>
          <p:cNvSpPr txBox="1"/>
          <p:nvPr/>
        </p:nvSpPr>
        <p:spPr>
          <a:xfrm>
            <a:off x="914400" y="1554480"/>
            <a:ext cx="2377440" cy="402336"/>
          </a:xfrm>
          <a:prstGeom prst="rect">
            <a:avLst/>
          </a:prstGeom>
          <a:noFill/>
        </p:spPr>
        <p:txBody>
          <a:bodyPr wrap="square" lIns="36576" tIns="36576" rIns="36576" bIns="36576" anchor="ctr">
            <a:spAutoFit/>
          </a:bodyPr>
          <a:lstStyle/>
          <a:p>
            <a:r>
              <a:t>Lock source and destination accounts.</a:t>
            </a:r>
          </a:p>
        </p:txBody>
      </p:sp>
      <p:cxnSp>
        <p:nvCxnSpPr>
          <p:cNvPr id="13" name="Connector 12"/>
          <p:cNvCxnSpPr/>
          <p:nvPr/>
        </p:nvCxnSpPr>
        <p:spPr>
          <a:xfrm>
            <a:off x="612648" y="195681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11480" y="210312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11480" y="2103120"/>
            <a:ext cx="402336" cy="402336"/>
          </a:xfrm>
          <a:prstGeom prst="rect">
            <a:avLst/>
          </a:prstGeom>
          <a:noFill/>
        </p:spPr>
        <p:txBody>
          <a:bodyPr wrap="square" lIns="0" tIns="0" rIns="0" bIns="0" anchor="ctr">
            <a:spAutoFit/>
          </a:bodyPr>
          <a:lstStyle/>
          <a:p>
            <a:pPr algn="ctr"/>
            <a:r>
              <a:rPr sz="1200" b="1" i="0">
                <a:solidFill>
                  <a:srgbClr val="FFFFFF"/>
                </a:solidFill>
                <a:latin typeface="Calibri"/>
              </a:rPr>
              <a:t>3</a:t>
            </a:r>
          </a:p>
        </p:txBody>
      </p:sp>
      <p:sp>
        <p:nvSpPr>
          <p:cNvPr id="16" name="TextBox 15"/>
          <p:cNvSpPr txBox="1"/>
          <p:nvPr/>
        </p:nvSpPr>
        <p:spPr>
          <a:xfrm>
            <a:off x="914400" y="2103120"/>
            <a:ext cx="2377440" cy="402336"/>
          </a:xfrm>
          <a:prstGeom prst="rect">
            <a:avLst/>
          </a:prstGeom>
          <a:noFill/>
        </p:spPr>
        <p:txBody>
          <a:bodyPr wrap="square" lIns="36576" tIns="36576" rIns="36576" bIns="36576" anchor="ctr">
            <a:spAutoFit/>
          </a:bodyPr>
          <a:lstStyle/>
          <a:p>
            <a:r>
              <a:t>Verify source balance &gt;= transfer amount.</a:t>
            </a:r>
          </a:p>
        </p:txBody>
      </p:sp>
      <p:cxnSp>
        <p:nvCxnSpPr>
          <p:cNvPr id="17" name="Connector 16"/>
          <p:cNvCxnSpPr/>
          <p:nvPr/>
        </p:nvCxnSpPr>
        <p:spPr>
          <a:xfrm>
            <a:off x="612648" y="250545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11480" y="265176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11480" y="2651760"/>
            <a:ext cx="402336" cy="402336"/>
          </a:xfrm>
          <a:prstGeom prst="rect">
            <a:avLst/>
          </a:prstGeom>
          <a:noFill/>
        </p:spPr>
        <p:txBody>
          <a:bodyPr wrap="square" lIns="0" tIns="0" rIns="0" bIns="0" anchor="ctr">
            <a:spAutoFit/>
          </a:bodyPr>
          <a:lstStyle/>
          <a:p>
            <a:pPr algn="ctr"/>
            <a:r>
              <a:rPr sz="1200" b="1" i="0">
                <a:solidFill>
                  <a:srgbClr val="FFFFFF"/>
                </a:solidFill>
                <a:latin typeface="Calibri"/>
              </a:rPr>
              <a:t>4</a:t>
            </a:r>
          </a:p>
        </p:txBody>
      </p:sp>
      <p:sp>
        <p:nvSpPr>
          <p:cNvPr id="20" name="TextBox 19"/>
          <p:cNvSpPr txBox="1"/>
          <p:nvPr/>
        </p:nvSpPr>
        <p:spPr>
          <a:xfrm>
            <a:off x="914400" y="2651760"/>
            <a:ext cx="2377440" cy="402336"/>
          </a:xfrm>
          <a:prstGeom prst="rect">
            <a:avLst/>
          </a:prstGeom>
          <a:noFill/>
        </p:spPr>
        <p:txBody>
          <a:bodyPr wrap="square" lIns="36576" tIns="36576" rIns="36576" bIns="36576" anchor="ctr">
            <a:spAutoFit/>
          </a:bodyPr>
          <a:lstStyle/>
          <a:p>
            <a:r>
              <a:t>Debit source account &amp; insert Debit txn.</a:t>
            </a:r>
          </a:p>
        </p:txBody>
      </p:sp>
      <p:cxnSp>
        <p:nvCxnSpPr>
          <p:cNvPr id="21" name="Connector 20"/>
          <p:cNvCxnSpPr/>
          <p:nvPr/>
        </p:nvCxnSpPr>
        <p:spPr>
          <a:xfrm>
            <a:off x="612648" y="3054096"/>
            <a:ext cx="0" cy="146304"/>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11480" y="3200400"/>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11480" y="3200400"/>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24" name="TextBox 23"/>
          <p:cNvSpPr txBox="1"/>
          <p:nvPr/>
        </p:nvSpPr>
        <p:spPr>
          <a:xfrm>
            <a:off x="914400" y="3200400"/>
            <a:ext cx="2377440" cy="402336"/>
          </a:xfrm>
          <a:prstGeom prst="rect">
            <a:avLst/>
          </a:prstGeom>
          <a:noFill/>
        </p:spPr>
        <p:txBody>
          <a:bodyPr wrap="square" lIns="36576" tIns="36576" rIns="36576" bIns="36576" anchor="ctr">
            <a:spAutoFit/>
          </a:bodyPr>
          <a:lstStyle/>
          <a:p>
            <a:r>
              <a:t>Credit destination account &amp; insert Credit txn.</a:t>
            </a:r>
          </a:p>
        </p:txBody>
      </p:sp>
      <p:cxnSp>
        <p:nvCxnSpPr>
          <p:cNvPr id="25" name="Connector 24"/>
          <p:cNvCxnSpPr/>
          <p:nvPr/>
        </p:nvCxnSpPr>
        <p:spPr>
          <a:xfrm>
            <a:off x="612648" y="3602736"/>
            <a:ext cx="0" cy="146303"/>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11480" y="3749039"/>
            <a:ext cx="402336" cy="402336"/>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411480" y="3749039"/>
            <a:ext cx="402336" cy="402336"/>
          </a:xfrm>
          <a:prstGeom prst="rect">
            <a:avLst/>
          </a:prstGeom>
          <a:noFill/>
        </p:spPr>
        <p:txBody>
          <a:bodyPr wrap="square" lIns="0" tIns="0" rIns="0" bIns="0" anchor="ctr">
            <a:spAutoFit/>
          </a:bodyPr>
          <a:lstStyle/>
          <a:p>
            <a:pPr algn="ctr"/>
            <a:r>
              <a:rPr sz="1200" b="1" i="0">
                <a:solidFill>
                  <a:srgbClr val="FFFFFF"/>
                </a:solidFill>
                <a:latin typeface="Calibri"/>
              </a:rPr>
              <a:t>6</a:t>
            </a:r>
          </a:p>
        </p:txBody>
      </p:sp>
      <p:sp>
        <p:nvSpPr>
          <p:cNvPr id="28" name="TextBox 27"/>
          <p:cNvSpPr txBox="1"/>
          <p:nvPr/>
        </p:nvSpPr>
        <p:spPr>
          <a:xfrm>
            <a:off x="914400" y="3749039"/>
            <a:ext cx="2377440" cy="402336"/>
          </a:xfrm>
          <a:prstGeom prst="rect">
            <a:avLst/>
          </a:prstGeom>
          <a:noFill/>
        </p:spPr>
        <p:txBody>
          <a:bodyPr wrap="square" lIns="36576" tIns="36576" rIns="36576" bIns="36576" anchor="ctr">
            <a:spAutoFit/>
          </a:bodyPr>
          <a:lstStyle/>
          <a:p>
            <a:r>
              <a:t>Triggers update account live balances.</a:t>
            </a:r>
          </a:p>
        </p:txBody>
      </p:sp>
      <p:cxnSp>
        <p:nvCxnSpPr>
          <p:cNvPr id="29" name="Connector 28"/>
          <p:cNvCxnSpPr/>
          <p:nvPr/>
        </p:nvCxnSpPr>
        <p:spPr>
          <a:xfrm>
            <a:off x="612648" y="4151376"/>
            <a:ext cx="0" cy="146303"/>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11480" y="4297679"/>
            <a:ext cx="402336" cy="402336"/>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11480" y="4297679"/>
            <a:ext cx="402336" cy="402336"/>
          </a:xfrm>
          <a:prstGeom prst="rect">
            <a:avLst/>
          </a:prstGeom>
          <a:noFill/>
        </p:spPr>
        <p:txBody>
          <a:bodyPr wrap="square" lIns="0" tIns="0" rIns="0" bIns="0" anchor="ctr">
            <a:spAutoFit/>
          </a:bodyPr>
          <a:lstStyle/>
          <a:p>
            <a:pPr algn="ctr"/>
            <a:r>
              <a:rPr sz="1200" b="1" i="0">
                <a:solidFill>
                  <a:srgbClr val="FFFFFF"/>
                </a:solidFill>
                <a:latin typeface="Calibri"/>
              </a:rPr>
              <a:t>7</a:t>
            </a:r>
          </a:p>
        </p:txBody>
      </p:sp>
      <p:sp>
        <p:nvSpPr>
          <p:cNvPr id="32" name="TextBox 31"/>
          <p:cNvSpPr txBox="1"/>
          <p:nvPr/>
        </p:nvSpPr>
        <p:spPr>
          <a:xfrm>
            <a:off x="914400" y="4297679"/>
            <a:ext cx="2377440" cy="402336"/>
          </a:xfrm>
          <a:prstGeom prst="rect">
            <a:avLst/>
          </a:prstGeom>
          <a:noFill/>
        </p:spPr>
        <p:txBody>
          <a:bodyPr wrap="square" lIns="36576" tIns="36576" rIns="36576" bIns="36576" anchor="ctr">
            <a:spAutoFit/>
          </a:bodyPr>
          <a:lstStyle/>
          <a:p>
            <a:r>
              <a:t>COMMIT.</a:t>
            </a:r>
          </a:p>
        </p:txBody>
      </p:sp>
      <p:sp>
        <p:nvSpPr>
          <p:cNvPr id="33" name="Rounded Rectangle 32"/>
          <p:cNvSpPr/>
          <p:nvPr/>
        </p:nvSpPr>
        <p:spPr>
          <a:xfrm>
            <a:off x="3383280" y="2514600"/>
            <a:ext cx="1188720" cy="1097280"/>
          </a:xfrm>
          <a:prstGeom prst="roundRect">
            <a:avLst>
              <a:gd name="adj" fmla="val 10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383280" y="2514600"/>
            <a:ext cx="1188720" cy="1097280"/>
          </a:xfrm>
          <a:prstGeom prst="rect">
            <a:avLst/>
          </a:prstGeom>
          <a:noFill/>
        </p:spPr>
        <p:txBody>
          <a:bodyPr wrap="square" lIns="36576" tIns="36576" rIns="36576" bIns="36576" anchor="ctr">
            <a:spAutoFit/>
          </a:bodyPr>
          <a:lstStyle/>
          <a:p>
            <a:pPr algn="ctr"/>
            <a:r>
              <a:rPr sz="1100" b="0" i="0">
                <a:solidFill>
                  <a:srgbClr val="222222"/>
                </a:solidFill>
                <a:latin typeface="Calibri"/>
              </a:rPr>
              <a:t>If an error occurs</a:t>
            </a:r>
          </a:p>
          <a:p>
            <a:pPr algn="ctr"/>
            <a:r>
              <a:rPr sz="1500" b="1" i="0">
                <a:solidFill>
                  <a:srgbClr val="C00000"/>
                </a:solidFill>
                <a:latin typeface="Calibri"/>
              </a:rPr>
              <a:t>ROLLBACK</a:t>
            </a:r>
          </a:p>
        </p:txBody>
      </p:sp>
      <p:sp>
        <p:nvSpPr>
          <p:cNvPr id="35" name="TextBox 34"/>
          <p:cNvSpPr txBox="1"/>
          <p:nvPr/>
        </p:nvSpPr>
        <p:spPr>
          <a:xfrm>
            <a:off x="411480" y="4892040"/>
            <a:ext cx="4114800" cy="548640"/>
          </a:xfrm>
          <a:prstGeom prst="rect">
            <a:avLst/>
          </a:prstGeom>
          <a:noFill/>
        </p:spPr>
        <p:txBody>
          <a:bodyPr wrap="square" lIns="36576" tIns="36576" rIns="36576" bIns="36576" anchor="t">
            <a:spAutoFit/>
          </a:bodyPr>
          <a:lstStyle/>
          <a:p>
            <a:r>
              <a:t>(Balance triggers update live totals automatically upon insert.)</a:t>
            </a:r>
          </a:p>
        </p:txBody>
      </p:sp>
      <p:sp>
        <p:nvSpPr>
          <p:cNvPr id="36" name="TextBox 35"/>
          <p:cNvSpPr txBox="1"/>
          <p:nvPr/>
        </p:nvSpPr>
        <p:spPr>
          <a:xfrm>
            <a:off x="4754880" y="640080"/>
            <a:ext cx="3566160" cy="320040"/>
          </a:xfrm>
          <a:prstGeom prst="rect">
            <a:avLst/>
          </a:prstGeom>
          <a:noFill/>
        </p:spPr>
        <p:txBody>
          <a:bodyPr wrap="square" lIns="36576" tIns="36576" rIns="36576" bIns="36576" anchor="t">
            <a:spAutoFit/>
          </a:bodyPr>
          <a:lstStyle/>
          <a:p>
            <a:pPr algn="l"/>
            <a:r>
              <a:rPr sz="1400" b="1" i="0">
                <a:solidFill>
                  <a:srgbClr val="B8114F"/>
                </a:solidFill>
                <a:latin typeface="Calibri"/>
              </a:rPr>
              <a:t>Concurrency</a:t>
            </a:r>
          </a:p>
        </p:txBody>
      </p:sp>
      <p:sp>
        <p:nvSpPr>
          <p:cNvPr id="37" name="Rectangle 36"/>
          <p:cNvSpPr/>
          <p:nvPr/>
        </p:nvSpPr>
        <p:spPr>
          <a:xfrm>
            <a:off x="4754880" y="1005840"/>
            <a:ext cx="3520440" cy="566928"/>
          </a:xfrm>
          <a:prstGeom prst="rect">
            <a:avLst/>
          </a:prstGeom>
          <a:solidFill>
            <a:srgbClr val="F4F4F4"/>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846320" y="1005840"/>
            <a:ext cx="3383280" cy="566928"/>
          </a:xfrm>
          <a:prstGeom prst="rect">
            <a:avLst/>
          </a:prstGeom>
          <a:noFill/>
        </p:spPr>
        <p:txBody>
          <a:bodyPr wrap="square" lIns="36576" tIns="36576" rIns="36576" bIns="36576" anchor="ctr">
            <a:spAutoFit/>
          </a:bodyPr>
          <a:lstStyle/>
          <a:p>
            <a:pPr algn="l"/>
            <a:r>
              <a:rPr sz="1500" b="1" i="0">
                <a:solidFill>
                  <a:srgbClr val="8E0D3C"/>
                </a:solidFill>
                <a:latin typeface="Courier New"/>
              </a:rPr>
              <a:t>SELECT ... FOR UPDATE</a:t>
            </a:r>
          </a:p>
        </p:txBody>
      </p:sp>
      <p:sp>
        <p:nvSpPr>
          <p:cNvPr id="39" name="TextBox 38"/>
          <p:cNvSpPr txBox="1"/>
          <p:nvPr/>
        </p:nvSpPr>
        <p:spPr>
          <a:xfrm>
            <a:off x="4754880" y="1645920"/>
            <a:ext cx="3520440" cy="822960"/>
          </a:xfrm>
          <a:prstGeom prst="rect">
            <a:avLst/>
          </a:prstGeom>
          <a:noFill/>
        </p:spPr>
        <p:txBody>
          <a:bodyPr wrap="square" lIns="36576" tIns="36576" rIns="36576" bIns="36576" anchor="t">
            <a:spAutoFit/>
          </a:bodyPr>
          <a:lstStyle/>
          <a:p>
            <a:r>
              <a:t>Row-level locking prevents race conditions and overdrafts during concurrent transfers.</a:t>
            </a:r>
          </a:p>
        </p:txBody>
      </p:sp>
      <p:sp>
        <p:nvSpPr>
          <p:cNvPr id="40" name="TextBox 39"/>
          <p:cNvSpPr txBox="1"/>
          <p:nvPr/>
        </p:nvSpPr>
        <p:spPr>
          <a:xfrm>
            <a:off x="4754880" y="2514600"/>
            <a:ext cx="3566160" cy="320040"/>
          </a:xfrm>
          <a:prstGeom prst="rect">
            <a:avLst/>
          </a:prstGeom>
          <a:noFill/>
        </p:spPr>
        <p:txBody>
          <a:bodyPr wrap="square" lIns="36576" tIns="36576" rIns="36576" bIns="36576" anchor="t">
            <a:spAutoFit/>
          </a:bodyPr>
          <a:lstStyle/>
          <a:p>
            <a:pPr algn="l"/>
            <a:r>
              <a:rPr sz="1400" b="1" i="0">
                <a:solidFill>
                  <a:srgbClr val="B8114F"/>
                </a:solidFill>
                <a:latin typeface="Calibri"/>
              </a:rPr>
              <a:t>ACID concepts</a:t>
            </a:r>
          </a:p>
        </p:txBody>
      </p:sp>
      <p:sp>
        <p:nvSpPr>
          <p:cNvPr id="41" name="Rounded Rectangle 40"/>
          <p:cNvSpPr/>
          <p:nvPr/>
        </p:nvSpPr>
        <p:spPr>
          <a:xfrm>
            <a:off x="4754880" y="2880360"/>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754880" y="2880360"/>
            <a:ext cx="502920" cy="502920"/>
          </a:xfrm>
          <a:prstGeom prst="rect">
            <a:avLst/>
          </a:prstGeom>
          <a:noFill/>
        </p:spPr>
        <p:txBody>
          <a:bodyPr wrap="square" lIns="0" tIns="0" rIns="0" bIns="0" anchor="ctr">
            <a:spAutoFit/>
          </a:bodyPr>
          <a:lstStyle/>
          <a:p>
            <a:pPr algn="ctr"/>
            <a:r>
              <a:rPr sz="1800" b="1" i="0">
                <a:solidFill>
                  <a:srgbClr val="FFFFFF"/>
                </a:solidFill>
                <a:latin typeface="Calibri"/>
              </a:rPr>
              <a:t>A</a:t>
            </a:r>
          </a:p>
        </p:txBody>
      </p:sp>
      <p:sp>
        <p:nvSpPr>
          <p:cNvPr id="43" name="TextBox 42"/>
          <p:cNvSpPr txBox="1"/>
          <p:nvPr/>
        </p:nvSpPr>
        <p:spPr>
          <a:xfrm>
            <a:off x="5349240" y="2880360"/>
            <a:ext cx="2926080" cy="502920"/>
          </a:xfrm>
          <a:prstGeom prst="rect">
            <a:avLst/>
          </a:prstGeom>
          <a:noFill/>
        </p:spPr>
        <p:txBody>
          <a:bodyPr wrap="square" lIns="36576" tIns="36576" rIns="36576" bIns="36576" anchor="ctr">
            <a:spAutoFit/>
          </a:bodyPr>
          <a:lstStyle/>
          <a:p>
            <a:r>
              <a:t>Atomicity – all transfer steps or none</a:t>
            </a:r>
          </a:p>
        </p:txBody>
      </p:sp>
      <p:sp>
        <p:nvSpPr>
          <p:cNvPr id="44" name="Rounded Rectangle 43"/>
          <p:cNvSpPr/>
          <p:nvPr/>
        </p:nvSpPr>
        <p:spPr>
          <a:xfrm>
            <a:off x="4754880" y="3483864"/>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4754880" y="3483864"/>
            <a:ext cx="502920" cy="502920"/>
          </a:xfrm>
          <a:prstGeom prst="rect">
            <a:avLst/>
          </a:prstGeom>
          <a:noFill/>
        </p:spPr>
        <p:txBody>
          <a:bodyPr wrap="square" lIns="0" tIns="0" rIns="0" bIns="0" anchor="ctr">
            <a:spAutoFit/>
          </a:bodyPr>
          <a:lstStyle/>
          <a:p>
            <a:pPr algn="ctr"/>
            <a:r>
              <a:rPr sz="1800" b="1" i="0">
                <a:solidFill>
                  <a:srgbClr val="FFFFFF"/>
                </a:solidFill>
                <a:latin typeface="Calibri"/>
              </a:rPr>
              <a:t>C</a:t>
            </a:r>
          </a:p>
        </p:txBody>
      </p:sp>
      <p:sp>
        <p:nvSpPr>
          <p:cNvPr id="46" name="TextBox 45"/>
          <p:cNvSpPr txBox="1"/>
          <p:nvPr/>
        </p:nvSpPr>
        <p:spPr>
          <a:xfrm>
            <a:off x="5349240" y="3483864"/>
            <a:ext cx="2926080" cy="502920"/>
          </a:xfrm>
          <a:prstGeom prst="rect">
            <a:avLst/>
          </a:prstGeom>
          <a:noFill/>
        </p:spPr>
        <p:txBody>
          <a:bodyPr wrap="square" lIns="36576" tIns="36576" rIns="36576" bIns="36576" anchor="ctr">
            <a:spAutoFit/>
          </a:bodyPr>
          <a:lstStyle/>
          <a:p>
            <a:r>
              <a:t>Consistency – balance rules always hold</a:t>
            </a:r>
          </a:p>
        </p:txBody>
      </p:sp>
      <p:sp>
        <p:nvSpPr>
          <p:cNvPr id="47" name="Rounded Rectangle 46"/>
          <p:cNvSpPr/>
          <p:nvPr/>
        </p:nvSpPr>
        <p:spPr>
          <a:xfrm>
            <a:off x="4754880" y="4087368"/>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4754880" y="4087368"/>
            <a:ext cx="502920" cy="502920"/>
          </a:xfrm>
          <a:prstGeom prst="rect">
            <a:avLst/>
          </a:prstGeom>
          <a:noFill/>
        </p:spPr>
        <p:txBody>
          <a:bodyPr wrap="square" lIns="0" tIns="0" rIns="0" bIns="0" anchor="ctr">
            <a:spAutoFit/>
          </a:bodyPr>
          <a:lstStyle/>
          <a:p>
            <a:pPr algn="ctr"/>
            <a:r>
              <a:rPr sz="1800" b="1" i="0">
                <a:solidFill>
                  <a:srgbClr val="FFFFFF"/>
                </a:solidFill>
                <a:latin typeface="Calibri"/>
              </a:rPr>
              <a:t>I</a:t>
            </a:r>
          </a:p>
        </p:txBody>
      </p:sp>
      <p:sp>
        <p:nvSpPr>
          <p:cNvPr id="49" name="TextBox 48"/>
          <p:cNvSpPr txBox="1"/>
          <p:nvPr/>
        </p:nvSpPr>
        <p:spPr>
          <a:xfrm>
            <a:off x="5349240" y="4087368"/>
            <a:ext cx="2926080" cy="502920"/>
          </a:xfrm>
          <a:prstGeom prst="rect">
            <a:avLst/>
          </a:prstGeom>
          <a:noFill/>
        </p:spPr>
        <p:txBody>
          <a:bodyPr wrap="square" lIns="36576" tIns="36576" rIns="36576" bIns="36576" anchor="ctr">
            <a:spAutoFit/>
          </a:bodyPr>
          <a:lstStyle/>
          <a:p>
            <a:r>
              <a:t>Isolation – concurrent transfers do not clash</a:t>
            </a:r>
          </a:p>
        </p:txBody>
      </p:sp>
      <p:sp>
        <p:nvSpPr>
          <p:cNvPr id="50" name="Rounded Rectangle 49"/>
          <p:cNvSpPr/>
          <p:nvPr/>
        </p:nvSpPr>
        <p:spPr>
          <a:xfrm>
            <a:off x="4754880" y="4690872"/>
            <a:ext cx="502920" cy="502920"/>
          </a:xfrm>
          <a:prstGeom prst="roundRect">
            <a:avLst>
              <a:gd name="adj" fmla="val 1200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4754880" y="4690872"/>
            <a:ext cx="502920" cy="502920"/>
          </a:xfrm>
          <a:prstGeom prst="rect">
            <a:avLst/>
          </a:prstGeom>
          <a:noFill/>
        </p:spPr>
        <p:txBody>
          <a:bodyPr wrap="square" lIns="0" tIns="0" rIns="0" bIns="0" anchor="ctr">
            <a:spAutoFit/>
          </a:bodyPr>
          <a:lstStyle/>
          <a:p>
            <a:pPr algn="ctr"/>
            <a:r>
              <a:rPr sz="1800" b="1" i="0">
                <a:solidFill>
                  <a:srgbClr val="FFFFFF"/>
                </a:solidFill>
                <a:latin typeface="Calibri"/>
              </a:rPr>
              <a:t>D</a:t>
            </a:r>
          </a:p>
        </p:txBody>
      </p:sp>
      <p:sp>
        <p:nvSpPr>
          <p:cNvPr id="52" name="TextBox 51"/>
          <p:cNvSpPr txBox="1"/>
          <p:nvPr/>
        </p:nvSpPr>
        <p:spPr>
          <a:xfrm>
            <a:off x="5349240" y="4690872"/>
            <a:ext cx="2926080" cy="502920"/>
          </a:xfrm>
          <a:prstGeom prst="rect">
            <a:avLst/>
          </a:prstGeom>
          <a:noFill/>
        </p:spPr>
        <p:txBody>
          <a:bodyPr wrap="square" lIns="36576" tIns="36576" rIns="36576" bIns="36576" anchor="ctr">
            <a:spAutoFit/>
          </a:bodyPr>
          <a:lstStyle/>
          <a:p>
            <a:r>
              <a:t>Durability – committed financial data is saved</a:t>
            </a:r>
          </a:p>
        </p:txBody>
      </p:sp>
      <p:sp>
        <p:nvSpPr>
          <p:cNvPr id="53" name="Rounded Rectangle 52"/>
          <p:cNvSpPr/>
          <p:nvPr/>
        </p:nvSpPr>
        <p:spPr>
          <a:xfrm>
            <a:off x="8549640" y="658368"/>
            <a:ext cx="3227832" cy="4800600"/>
          </a:xfrm>
          <a:prstGeom prst="roundRect">
            <a:avLst>
              <a:gd name="adj" fmla="val 3399"/>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Oval 53"/>
          <p:cNvSpPr/>
          <p:nvPr/>
        </p:nvSpPr>
        <p:spPr>
          <a:xfrm>
            <a:off x="8686800" y="777240"/>
            <a:ext cx="502920" cy="502920"/>
          </a:xfrm>
          <a:prstGeom prst="ellipse">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5" name="Picture 54" descr="lock_w.png"/>
          <p:cNvPicPr>
            <a:picLocks noChangeAspect="1"/>
          </p:cNvPicPr>
          <p:nvPr/>
        </p:nvPicPr>
        <p:blipFill>
          <a:blip r:embed="rId3"/>
          <a:stretch>
            <a:fillRect/>
          </a:stretch>
        </p:blipFill>
        <p:spPr>
          <a:xfrm>
            <a:off x="8807500" y="897940"/>
            <a:ext cx="261518" cy="261518"/>
          </a:xfrm>
          <a:prstGeom prst="rect">
            <a:avLst/>
          </a:prstGeom>
        </p:spPr>
      </p:pic>
      <p:sp>
        <p:nvSpPr>
          <p:cNvPr id="56" name="TextBox 55"/>
          <p:cNvSpPr txBox="1"/>
          <p:nvPr/>
        </p:nvSpPr>
        <p:spPr>
          <a:xfrm>
            <a:off x="9281160" y="822960"/>
            <a:ext cx="2377440" cy="411480"/>
          </a:xfrm>
          <a:prstGeom prst="rect">
            <a:avLst/>
          </a:prstGeom>
          <a:noFill/>
        </p:spPr>
        <p:txBody>
          <a:bodyPr wrap="square" lIns="36576" tIns="36576" rIns="36576" bIns="36576" anchor="t">
            <a:spAutoFit/>
          </a:bodyPr>
          <a:lstStyle/>
          <a:p>
            <a:pPr algn="l"/>
            <a:r>
              <a:rPr sz="1600" b="1" i="0">
                <a:solidFill>
                  <a:srgbClr val="8E0D3C"/>
                </a:solidFill>
                <a:latin typeface="Calibri"/>
              </a:rPr>
              <a:t>Security</a:t>
            </a:r>
          </a:p>
        </p:txBody>
      </p:sp>
      <p:pic>
        <p:nvPicPr>
          <p:cNvPr id="57" name="Picture 56" descr="check.png"/>
          <p:cNvPicPr>
            <a:picLocks noChangeAspect="1"/>
          </p:cNvPicPr>
          <p:nvPr/>
        </p:nvPicPr>
        <p:blipFill>
          <a:blip r:embed="rId4"/>
          <a:stretch>
            <a:fillRect/>
          </a:stretch>
        </p:blipFill>
        <p:spPr>
          <a:xfrm>
            <a:off x="8705088" y="1572768"/>
            <a:ext cx="274320" cy="274320"/>
          </a:xfrm>
          <a:prstGeom prst="rect">
            <a:avLst/>
          </a:prstGeom>
        </p:spPr>
      </p:pic>
      <p:sp>
        <p:nvSpPr>
          <p:cNvPr id="58" name="TextBox 57"/>
          <p:cNvSpPr txBox="1"/>
          <p:nvPr/>
        </p:nvSpPr>
        <p:spPr>
          <a:xfrm>
            <a:off x="9098280" y="1463040"/>
            <a:ext cx="2606040" cy="548640"/>
          </a:xfrm>
          <a:prstGeom prst="rect">
            <a:avLst/>
          </a:prstGeom>
          <a:noFill/>
        </p:spPr>
        <p:txBody>
          <a:bodyPr wrap="square" lIns="36576" tIns="36576" rIns="36576" bIns="36576" anchor="ctr">
            <a:spAutoFit/>
          </a:bodyPr>
          <a:lstStyle/>
          <a:p>
            <a:r>
              <a:t>Dedicated Oracle 19c schema user.</a:t>
            </a:r>
          </a:p>
        </p:txBody>
      </p:sp>
      <p:pic>
        <p:nvPicPr>
          <p:cNvPr id="59" name="Picture 58" descr="check.png"/>
          <p:cNvPicPr>
            <a:picLocks noChangeAspect="1"/>
          </p:cNvPicPr>
          <p:nvPr/>
        </p:nvPicPr>
        <p:blipFill>
          <a:blip r:embed="rId4"/>
          <a:stretch>
            <a:fillRect/>
          </a:stretch>
        </p:blipFill>
        <p:spPr>
          <a:xfrm>
            <a:off x="8705088" y="2304288"/>
            <a:ext cx="274320" cy="274320"/>
          </a:xfrm>
          <a:prstGeom prst="rect">
            <a:avLst/>
          </a:prstGeom>
        </p:spPr>
      </p:pic>
      <p:sp>
        <p:nvSpPr>
          <p:cNvPr id="60" name="TextBox 59"/>
          <p:cNvSpPr txBox="1"/>
          <p:nvPr/>
        </p:nvSpPr>
        <p:spPr>
          <a:xfrm>
            <a:off x="9098280" y="2194560"/>
            <a:ext cx="2606040" cy="548640"/>
          </a:xfrm>
          <a:prstGeom prst="rect">
            <a:avLst/>
          </a:prstGeom>
          <a:noFill/>
        </p:spPr>
        <p:txBody>
          <a:bodyPr wrap="square" lIns="36576" tIns="36576" rIns="36576" bIns="36576" anchor="ctr">
            <a:spAutoFit/>
          </a:bodyPr>
          <a:lstStyle/>
          <a:p>
            <a:r>
              <a:t>Parameterized queries &amp; bind variables (:usr_id).</a:t>
            </a:r>
          </a:p>
        </p:txBody>
      </p:sp>
      <p:pic>
        <p:nvPicPr>
          <p:cNvPr id="61" name="Picture 60" descr="check.png"/>
          <p:cNvPicPr>
            <a:picLocks noChangeAspect="1"/>
          </p:cNvPicPr>
          <p:nvPr/>
        </p:nvPicPr>
        <p:blipFill>
          <a:blip r:embed="rId4"/>
          <a:stretch>
            <a:fillRect/>
          </a:stretch>
        </p:blipFill>
        <p:spPr>
          <a:xfrm>
            <a:off x="8705088" y="3035808"/>
            <a:ext cx="274320" cy="274320"/>
          </a:xfrm>
          <a:prstGeom prst="rect">
            <a:avLst/>
          </a:prstGeom>
        </p:spPr>
      </p:pic>
      <p:sp>
        <p:nvSpPr>
          <p:cNvPr id="62" name="TextBox 61"/>
          <p:cNvSpPr txBox="1"/>
          <p:nvPr/>
        </p:nvSpPr>
        <p:spPr>
          <a:xfrm>
            <a:off x="9098280" y="2926080"/>
            <a:ext cx="2606040" cy="548640"/>
          </a:xfrm>
          <a:prstGeom prst="rect">
            <a:avLst/>
          </a:prstGeom>
          <a:noFill/>
        </p:spPr>
        <p:txBody>
          <a:bodyPr wrap="square" lIns="36576" tIns="36576" rIns="36576" bIns="36576" anchor="ctr">
            <a:spAutoFit/>
          </a:bodyPr>
          <a:lstStyle/>
          <a:p>
            <a:r>
              <a:t>Passwords stored using bcrypt (cost factor 12).</a:t>
            </a:r>
          </a:p>
        </p:txBody>
      </p:sp>
      <p:pic>
        <p:nvPicPr>
          <p:cNvPr id="63" name="Picture 62" descr="check.png"/>
          <p:cNvPicPr>
            <a:picLocks noChangeAspect="1"/>
          </p:cNvPicPr>
          <p:nvPr/>
        </p:nvPicPr>
        <p:blipFill>
          <a:blip r:embed="rId4"/>
          <a:stretch>
            <a:fillRect/>
          </a:stretch>
        </p:blipFill>
        <p:spPr>
          <a:xfrm>
            <a:off x="8705088" y="3767328"/>
            <a:ext cx="274320" cy="274320"/>
          </a:xfrm>
          <a:prstGeom prst="rect">
            <a:avLst/>
          </a:prstGeom>
        </p:spPr>
      </p:pic>
      <p:sp>
        <p:nvSpPr>
          <p:cNvPr id="64" name="TextBox 63"/>
          <p:cNvSpPr txBox="1"/>
          <p:nvPr/>
        </p:nvSpPr>
        <p:spPr>
          <a:xfrm>
            <a:off x="9098280" y="3657600"/>
            <a:ext cx="2606040" cy="548640"/>
          </a:xfrm>
          <a:prstGeom prst="rect">
            <a:avLst/>
          </a:prstGeom>
          <a:noFill/>
        </p:spPr>
        <p:txBody>
          <a:bodyPr wrap="square" lIns="36576" tIns="36576" rIns="36576" bIns="36576" anchor="ctr">
            <a:spAutoFit/>
          </a:bodyPr>
          <a:lstStyle/>
          <a:p>
            <a:r>
              <a:t>Cryptographic session authentication.</a:t>
            </a:r>
          </a:p>
        </p:txBody>
      </p:sp>
      <p:pic>
        <p:nvPicPr>
          <p:cNvPr id="65" name="Picture 64" descr="check.png"/>
          <p:cNvPicPr>
            <a:picLocks noChangeAspect="1"/>
          </p:cNvPicPr>
          <p:nvPr/>
        </p:nvPicPr>
        <p:blipFill>
          <a:blip r:embed="rId4"/>
          <a:stretch>
            <a:fillRect/>
          </a:stretch>
        </p:blipFill>
        <p:spPr>
          <a:xfrm>
            <a:off x="8705088" y="4498848"/>
            <a:ext cx="274320" cy="274320"/>
          </a:xfrm>
          <a:prstGeom prst="rect">
            <a:avLst/>
          </a:prstGeom>
        </p:spPr>
      </p:pic>
      <p:sp>
        <p:nvSpPr>
          <p:cNvPr id="66" name="TextBox 65"/>
          <p:cNvSpPr txBox="1"/>
          <p:nvPr/>
        </p:nvSpPr>
        <p:spPr>
          <a:xfrm>
            <a:off x="9098280" y="4389120"/>
            <a:ext cx="2606040" cy="548640"/>
          </a:xfrm>
          <a:prstGeom prst="rect">
            <a:avLst/>
          </a:prstGeom>
          <a:noFill/>
        </p:spPr>
        <p:txBody>
          <a:bodyPr wrap="square" lIns="36576" tIns="36576" rIns="36576" bIns="36576" anchor="ctr">
            <a:spAutoFit/>
          </a:bodyPr>
          <a:lstStyle/>
          <a:p>
            <a:r>
              <a:t>Role-based access control (USER vs ADMIN).</a:t>
            </a:r>
          </a:p>
        </p:txBody>
      </p:sp>
      <p:sp>
        <p:nvSpPr>
          <p:cNvPr id="67" name="Rounded Rectangle 66"/>
          <p:cNvSpPr/>
          <p:nvPr/>
        </p:nvSpPr>
        <p:spPr>
          <a:xfrm>
            <a:off x="411480" y="5650992"/>
            <a:ext cx="11365992" cy="457200"/>
          </a:xfrm>
          <a:prstGeom prst="roundRect">
            <a:avLst>
              <a:gd name="adj" fmla="val 12000"/>
            </a:avLst>
          </a:prstGeom>
          <a:solidFill>
            <a:srgbClr val="FB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548640" y="5650992"/>
            <a:ext cx="11064240" cy="457200"/>
          </a:xfrm>
          <a:prstGeom prst="rect">
            <a:avLst/>
          </a:prstGeom>
          <a:noFill/>
        </p:spPr>
        <p:txBody>
          <a:bodyPr wrap="square" lIns="36576" tIns="36576" rIns="36576" bIns="36576" anchor="ctr">
            <a:spAutoFit/>
          </a:bodyPr>
          <a:lstStyle/>
          <a:p>
            <a:r>
              <a:t>Simple explanation:  “Transactions keep operations consistent, while access control protects the database.”</a:t>
            </a:r>
          </a:p>
        </p:txBody>
      </p:sp>
    </p:spTree>
    <p:extLst>
      <p:ext uri="{BB962C8B-B14F-4D97-AF65-F5344CB8AC3E}">
        <p14:creationId xmlns:p14="http://schemas.microsoft.com/office/powerpoint/2010/main" val="420763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54BD9D3-CCA6-B9E3-9FD5-3138BB534BC4}"/>
              </a:ext>
            </a:extLst>
          </p:cNvPr>
          <p:cNvSpPr>
            <a:spLocks noGrp="1"/>
          </p:cNvSpPr>
          <p:nvPr>
            <p:ph type="title"/>
          </p:nvPr>
        </p:nvSpPr>
        <p:spPr>
          <a:xfrm>
            <a:off x="1807190" y="134185"/>
            <a:ext cx="8577617" cy="316081"/>
          </a:xfrm>
        </p:spPr>
        <p:txBody>
          <a:bodyPr/>
          <a:lstStyle/>
          <a:p>
            <a:r>
              <a:t>FinTrack Workflow &amp; Conclusion</a:t>
            </a:r>
          </a:p>
        </p:txBody>
      </p:sp>
      <p:sp>
        <p:nvSpPr>
          <p:cNvPr id="4" name="Slide Number Placeholder 3">
            <a:extLst>
              <a:ext uri="{FF2B5EF4-FFF2-40B4-BE49-F238E27FC236}">
                <a16:creationId xmlns:a16="http://schemas.microsoft.com/office/drawing/2014/main" id="{AB4B4754-B439-82E8-5162-661DE8ED02D8}"/>
              </a:ext>
            </a:extLst>
          </p:cNvPr>
          <p:cNvSpPr>
            <a:spLocks noGrp="1"/>
          </p:cNvSpPr>
          <p:nvPr>
            <p:ph type="sldNum" sz="quarter" idx="12"/>
          </p:nvPr>
        </p:nvSpPr>
        <p:spPr/>
        <p:txBody>
          <a:bodyPr/>
          <a:lstStyle/>
          <a:p>
            <a:pPr defTabSz="685800" hangingPunct="1"/>
            <a:fld id="{71766878-3199-4EAB-94E7-2D6D11070E14}" type="slidenum">
              <a:rPr lang="en-US" kern="1200">
                <a:solidFill>
                  <a:prstClr val="white"/>
                </a:solidFill>
                <a:latin typeface="Calibri"/>
                <a:ea typeface="+mn-ea"/>
                <a:cs typeface="+mn-cs"/>
              </a:rPr>
              <a:pPr defTabSz="685800" hangingPunct="1"/>
              <a:t>11</a:t>
            </a:fld>
            <a:endParaRPr lang="en-US" kern="1200">
              <a:solidFill>
                <a:prstClr val="white"/>
              </a:solidFill>
              <a:latin typeface="Calibri"/>
              <a:ea typeface="+mn-ea"/>
              <a:cs typeface="+mn-cs"/>
            </a:endParaRPr>
          </a:p>
        </p:txBody>
      </p:sp>
      <p:sp>
        <p:nvSpPr>
          <p:cNvPr id="5" name="Rounded Rectangle 4"/>
          <p:cNvSpPr/>
          <p:nvPr/>
        </p:nvSpPr>
        <p:spPr>
          <a:xfrm>
            <a:off x="411480" y="731520"/>
            <a:ext cx="1243584" cy="822960"/>
          </a:xfrm>
          <a:prstGeom prst="roundRect">
            <a:avLst>
              <a:gd name="adj" fmla="val 12000"/>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11480" y="731520"/>
            <a:ext cx="1243584" cy="822960"/>
          </a:xfrm>
          <a:prstGeom prst="rect">
            <a:avLst/>
          </a:prstGeom>
          <a:noFill/>
        </p:spPr>
        <p:txBody>
          <a:bodyPr wrap="square" lIns="45720" rIns="45720" anchor="ctr">
            <a:spAutoFit/>
          </a:bodyPr>
          <a:lstStyle/>
          <a:p>
            <a:r>
              <a:t>User creates account / registers</a:t>
            </a:r>
          </a:p>
        </p:txBody>
      </p:sp>
      <p:cxnSp>
        <p:nvCxnSpPr>
          <p:cNvPr id="7" name="Connector 6"/>
          <p:cNvCxnSpPr/>
          <p:nvPr/>
        </p:nvCxnSpPr>
        <p:spPr>
          <a:xfrm>
            <a:off x="1655064"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60804"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860804" y="731520"/>
            <a:ext cx="1243584" cy="822960"/>
          </a:xfrm>
          <a:prstGeom prst="rect">
            <a:avLst/>
          </a:prstGeom>
          <a:noFill/>
        </p:spPr>
        <p:txBody>
          <a:bodyPr wrap="square" lIns="45720" rIns="45720" anchor="ctr">
            <a:spAutoFit/>
          </a:bodyPr>
          <a:lstStyle/>
          <a:p>
            <a:r>
              <a:t>Setup Wizard configures 50/30/20 budgets</a:t>
            </a:r>
          </a:p>
        </p:txBody>
      </p:sp>
      <p:cxnSp>
        <p:nvCxnSpPr>
          <p:cNvPr id="10" name="Connector 9"/>
          <p:cNvCxnSpPr/>
          <p:nvPr/>
        </p:nvCxnSpPr>
        <p:spPr>
          <a:xfrm>
            <a:off x="3104388"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10128"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310128" y="731520"/>
            <a:ext cx="1243584" cy="822960"/>
          </a:xfrm>
          <a:prstGeom prst="rect">
            <a:avLst/>
          </a:prstGeom>
          <a:noFill/>
        </p:spPr>
        <p:txBody>
          <a:bodyPr wrap="square" lIns="45720" rIns="45720" anchor="ctr">
            <a:spAutoFit/>
          </a:bodyPr>
          <a:lstStyle/>
          <a:p>
            <a:r>
              <a:t>User records transaction / transfer</a:t>
            </a:r>
          </a:p>
        </p:txBody>
      </p:sp>
      <p:cxnSp>
        <p:nvCxnSpPr>
          <p:cNvPr id="13" name="Connector 12"/>
          <p:cNvCxnSpPr/>
          <p:nvPr/>
        </p:nvCxnSpPr>
        <p:spPr>
          <a:xfrm>
            <a:off x="4553712"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9452"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759452" y="731520"/>
            <a:ext cx="1243584" cy="822960"/>
          </a:xfrm>
          <a:prstGeom prst="rect">
            <a:avLst/>
          </a:prstGeom>
          <a:noFill/>
        </p:spPr>
        <p:txBody>
          <a:bodyPr wrap="square" lIns="45720" rIns="45720" anchor="ctr">
            <a:spAutoFit/>
          </a:bodyPr>
          <a:lstStyle/>
          <a:p>
            <a:r>
              <a:t>Triggers verify budget limit &amp; sync balance</a:t>
            </a:r>
          </a:p>
        </p:txBody>
      </p:sp>
      <p:cxnSp>
        <p:nvCxnSpPr>
          <p:cNvPr id="16" name="Connector 15"/>
          <p:cNvCxnSpPr/>
          <p:nvPr/>
        </p:nvCxnSpPr>
        <p:spPr>
          <a:xfrm>
            <a:off x="6003036"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08776"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08776" y="731520"/>
            <a:ext cx="1243584" cy="822960"/>
          </a:xfrm>
          <a:prstGeom prst="rect">
            <a:avLst/>
          </a:prstGeom>
          <a:noFill/>
        </p:spPr>
        <p:txBody>
          <a:bodyPr wrap="square" lIns="45720" rIns="45720" anchor="ctr">
            <a:spAutoFit/>
          </a:bodyPr>
          <a:lstStyle/>
          <a:p>
            <a:r>
              <a:t>Recurring engine processes due subscriptions</a:t>
            </a:r>
          </a:p>
        </p:txBody>
      </p:sp>
      <p:cxnSp>
        <p:nvCxnSpPr>
          <p:cNvPr id="19" name="Connector 18"/>
          <p:cNvCxnSpPr/>
          <p:nvPr/>
        </p:nvCxnSpPr>
        <p:spPr>
          <a:xfrm>
            <a:off x="7452360"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658100"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658100" y="731520"/>
            <a:ext cx="1243584" cy="822960"/>
          </a:xfrm>
          <a:prstGeom prst="rect">
            <a:avLst/>
          </a:prstGeom>
          <a:noFill/>
        </p:spPr>
        <p:txBody>
          <a:bodyPr wrap="square" lIns="45720" rIns="45720" anchor="ctr">
            <a:spAutoFit/>
          </a:bodyPr>
          <a:lstStyle/>
          <a:p>
            <a:r>
              <a:t>SQL window functions compute 3-month forecast</a:t>
            </a:r>
          </a:p>
        </p:txBody>
      </p:sp>
      <p:cxnSp>
        <p:nvCxnSpPr>
          <p:cNvPr id="22" name="Connector 21"/>
          <p:cNvCxnSpPr/>
          <p:nvPr/>
        </p:nvCxnSpPr>
        <p:spPr>
          <a:xfrm>
            <a:off x="8901684"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07424" y="731520"/>
            <a:ext cx="1243584" cy="822960"/>
          </a:xfrm>
          <a:prstGeom prst="roundRect">
            <a:avLst>
              <a:gd name="adj" fmla="val 12000"/>
            </a:avLst>
          </a:prstGeom>
          <a:solidFill>
            <a:srgbClr val="FBE3EC"/>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107424" y="731520"/>
            <a:ext cx="1243584" cy="822960"/>
          </a:xfrm>
          <a:prstGeom prst="rect">
            <a:avLst/>
          </a:prstGeom>
          <a:noFill/>
        </p:spPr>
        <p:txBody>
          <a:bodyPr wrap="square" lIns="45720" rIns="45720" anchor="ctr">
            <a:spAutoFit/>
          </a:bodyPr>
          <a:lstStyle/>
          <a:p>
            <a:r>
              <a:t>Anomaly detection flags irregular spending spikes</a:t>
            </a:r>
          </a:p>
        </p:txBody>
      </p:sp>
      <p:cxnSp>
        <p:nvCxnSpPr>
          <p:cNvPr id="25" name="Connector 24"/>
          <p:cNvCxnSpPr/>
          <p:nvPr/>
        </p:nvCxnSpPr>
        <p:spPr>
          <a:xfrm>
            <a:off x="10351008" y="1143000"/>
            <a:ext cx="2057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556748" y="731520"/>
            <a:ext cx="1243584" cy="822960"/>
          </a:xfrm>
          <a:prstGeom prst="roundRect">
            <a:avLst>
              <a:gd name="adj" fmla="val 12000"/>
            </a:avLst>
          </a:prstGeom>
          <a:solidFill>
            <a:srgbClr val="B8114F"/>
          </a:solidFill>
          <a:ln w="12700">
            <a:solidFill>
              <a:srgbClr val="B8114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556748" y="731520"/>
            <a:ext cx="1243584" cy="822960"/>
          </a:xfrm>
          <a:prstGeom prst="rect">
            <a:avLst/>
          </a:prstGeom>
          <a:noFill/>
        </p:spPr>
        <p:txBody>
          <a:bodyPr wrap="square" lIns="45720" rIns="45720" anchor="ctr">
            <a:spAutoFit/>
          </a:bodyPr>
          <a:lstStyle/>
          <a:p>
            <a:r>
              <a:t>Audit ledger &amp; live telemetry updated</a:t>
            </a:r>
          </a:p>
        </p:txBody>
      </p:sp>
      <p:cxnSp>
        <p:nvCxnSpPr>
          <p:cNvPr id="28" name="Connector 27"/>
          <p:cNvCxnSpPr/>
          <p:nvPr/>
        </p:nvCxnSpPr>
        <p:spPr>
          <a:xfrm>
            <a:off x="2482596" y="1554480"/>
            <a:ext cx="0" cy="36576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482596" y="1920240"/>
            <a:ext cx="214884" cy="0"/>
          </a:xfrm>
          <a:prstGeom prst="line">
            <a:avLst/>
          </a:prstGeom>
          <a:ln w="19050">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480" y="1755648"/>
            <a:ext cx="1645920" cy="320040"/>
          </a:xfrm>
          <a:prstGeom prst="rect">
            <a:avLst/>
          </a:prstGeom>
          <a:noFill/>
        </p:spPr>
        <p:txBody>
          <a:bodyPr wrap="square" lIns="36576" tIns="36576" rIns="36576" bIns="36576" anchor="t">
            <a:spAutoFit/>
          </a:bodyPr>
          <a:lstStyle/>
          <a:p>
            <a:r>
              <a:t>If budget threshold is reached</a:t>
            </a:r>
          </a:p>
        </p:txBody>
      </p:sp>
      <p:sp>
        <p:nvSpPr>
          <p:cNvPr id="31" name="Rounded Rectangle 30"/>
          <p:cNvSpPr/>
          <p:nvPr/>
        </p:nvSpPr>
        <p:spPr>
          <a:xfrm>
            <a:off x="2697480" y="1719072"/>
            <a:ext cx="1371600" cy="402336"/>
          </a:xfrm>
          <a:prstGeom prst="roundRect">
            <a:avLst>
              <a:gd name="adj" fmla="val 12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697480" y="1719072"/>
            <a:ext cx="1371600" cy="402336"/>
          </a:xfrm>
          <a:prstGeom prst="rect">
            <a:avLst/>
          </a:prstGeom>
          <a:noFill/>
        </p:spPr>
        <p:txBody>
          <a:bodyPr wrap="square" lIns="0" tIns="0" rIns="0" bIns="0" anchor="ctr">
            <a:spAutoFit/>
          </a:bodyPr>
          <a:lstStyle/>
          <a:p>
            <a:r>
              <a:t>Threshold Alert</a:t>
            </a:r>
          </a:p>
        </p:txBody>
      </p:sp>
      <p:cxnSp>
        <p:nvCxnSpPr>
          <p:cNvPr id="33" name="Connector 32"/>
          <p:cNvCxnSpPr/>
          <p:nvPr/>
        </p:nvCxnSpPr>
        <p:spPr>
          <a:xfrm>
            <a:off x="4069080" y="1920240"/>
            <a:ext cx="320040" cy="0"/>
          </a:xfrm>
          <a:prstGeom prst="line">
            <a:avLst/>
          </a:prstGeom>
          <a:ln w="1905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389120" y="1719072"/>
            <a:ext cx="1737360" cy="402336"/>
          </a:xfrm>
          <a:prstGeom prst="roundRect">
            <a:avLst>
              <a:gd name="adj" fmla="val 12000"/>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389120" y="1719072"/>
            <a:ext cx="1737360" cy="402336"/>
          </a:xfrm>
          <a:prstGeom prst="rect">
            <a:avLst/>
          </a:prstGeom>
          <a:noFill/>
        </p:spPr>
        <p:txBody>
          <a:bodyPr wrap="square" lIns="0" tIns="0" rIns="0" bIns="0" anchor="ctr">
            <a:spAutoFit/>
          </a:bodyPr>
          <a:lstStyle/>
          <a:p>
            <a:r>
              <a:t>In-App Notification</a:t>
            </a:r>
          </a:p>
        </p:txBody>
      </p:sp>
      <p:sp>
        <p:nvSpPr>
          <p:cNvPr id="36" name="TextBox 35"/>
          <p:cNvSpPr txBox="1"/>
          <p:nvPr/>
        </p:nvSpPr>
        <p:spPr>
          <a:xfrm>
            <a:off x="411480" y="2377440"/>
            <a:ext cx="3840480" cy="320040"/>
          </a:xfrm>
          <a:prstGeom prst="rect">
            <a:avLst/>
          </a:prstGeom>
          <a:noFill/>
        </p:spPr>
        <p:txBody>
          <a:bodyPr wrap="square" lIns="36576" tIns="36576" rIns="36576" bIns="36576" anchor="t">
            <a:spAutoFit/>
          </a:bodyPr>
          <a:lstStyle/>
          <a:p>
            <a:pPr algn="l"/>
            <a:r>
              <a:rPr sz="1400" b="1" i="0">
                <a:solidFill>
                  <a:srgbClr val="B8114F"/>
                </a:solidFill>
                <a:latin typeface="Calibri"/>
              </a:rPr>
              <a:t>Project Summary</a:t>
            </a:r>
          </a:p>
        </p:txBody>
      </p:sp>
      <p:sp>
        <p:nvSpPr>
          <p:cNvPr id="37" name="Rounded Rectangle 36"/>
          <p:cNvSpPr/>
          <p:nvPr/>
        </p:nvSpPr>
        <p:spPr>
          <a:xfrm>
            <a:off x="411480"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11480" y="2779776"/>
            <a:ext cx="896112" cy="411480"/>
          </a:xfrm>
          <a:prstGeom prst="rect">
            <a:avLst/>
          </a:prstGeom>
          <a:noFill/>
        </p:spPr>
        <p:txBody>
          <a:bodyPr wrap="square" lIns="0" tIns="0" rIns="0" bIns="0" anchor="ctr">
            <a:spAutoFit/>
          </a:bodyPr>
          <a:lstStyle/>
          <a:p>
            <a:r>
              <a:t>8</a:t>
            </a:r>
          </a:p>
        </p:txBody>
      </p:sp>
      <p:sp>
        <p:nvSpPr>
          <p:cNvPr id="39" name="TextBox 38"/>
          <p:cNvSpPr txBox="1"/>
          <p:nvPr/>
        </p:nvSpPr>
        <p:spPr>
          <a:xfrm>
            <a:off x="411480" y="3182112"/>
            <a:ext cx="896112" cy="384048"/>
          </a:xfrm>
          <a:prstGeom prst="rect">
            <a:avLst/>
          </a:prstGeom>
          <a:noFill/>
        </p:spPr>
        <p:txBody>
          <a:bodyPr wrap="square" lIns="18288" tIns="18288" rIns="18288" bIns="18288" anchor="t">
            <a:spAutoFit/>
          </a:bodyPr>
          <a:lstStyle/>
          <a:p>
            <a:r>
              <a:t>Tables</a:t>
            </a:r>
          </a:p>
        </p:txBody>
      </p:sp>
      <p:sp>
        <p:nvSpPr>
          <p:cNvPr id="40" name="Rounded Rectangle 39"/>
          <p:cNvSpPr/>
          <p:nvPr/>
        </p:nvSpPr>
        <p:spPr>
          <a:xfrm>
            <a:off x="1380744"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1380744" y="2779776"/>
            <a:ext cx="896112" cy="411480"/>
          </a:xfrm>
          <a:prstGeom prst="rect">
            <a:avLst/>
          </a:prstGeom>
          <a:noFill/>
        </p:spPr>
        <p:txBody>
          <a:bodyPr wrap="square" lIns="0" tIns="0" rIns="0" bIns="0" anchor="ctr">
            <a:spAutoFit/>
          </a:bodyPr>
          <a:lstStyle/>
          <a:p>
            <a:r>
              <a:t>3</a:t>
            </a:r>
          </a:p>
        </p:txBody>
      </p:sp>
      <p:sp>
        <p:nvSpPr>
          <p:cNvPr id="42" name="TextBox 41"/>
          <p:cNvSpPr txBox="1"/>
          <p:nvPr/>
        </p:nvSpPr>
        <p:spPr>
          <a:xfrm>
            <a:off x="1380744" y="3182112"/>
            <a:ext cx="896112" cy="384048"/>
          </a:xfrm>
          <a:prstGeom prst="rect">
            <a:avLst/>
          </a:prstGeom>
          <a:noFill/>
        </p:spPr>
        <p:txBody>
          <a:bodyPr wrap="square" lIns="18288" tIns="18288" rIns="18288" bIns="18288" anchor="t">
            <a:spAutoFit/>
          </a:bodyPr>
          <a:lstStyle/>
          <a:p>
            <a:r>
              <a:t>Stored Procedures</a:t>
            </a:r>
          </a:p>
        </p:txBody>
      </p:sp>
      <p:sp>
        <p:nvSpPr>
          <p:cNvPr id="43" name="Rounded Rectangle 42"/>
          <p:cNvSpPr/>
          <p:nvPr/>
        </p:nvSpPr>
        <p:spPr>
          <a:xfrm>
            <a:off x="2350008"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350008" y="2779776"/>
            <a:ext cx="896112" cy="411480"/>
          </a:xfrm>
          <a:prstGeom prst="rect">
            <a:avLst/>
          </a:prstGeom>
          <a:noFill/>
        </p:spPr>
        <p:txBody>
          <a:bodyPr wrap="square" lIns="0" tIns="0" rIns="0" bIns="0" anchor="ctr">
            <a:spAutoFit/>
          </a:bodyPr>
          <a:lstStyle/>
          <a:p>
            <a:r>
              <a:t>2</a:t>
            </a:r>
          </a:p>
        </p:txBody>
      </p:sp>
      <p:sp>
        <p:nvSpPr>
          <p:cNvPr id="45" name="TextBox 44"/>
          <p:cNvSpPr txBox="1"/>
          <p:nvPr/>
        </p:nvSpPr>
        <p:spPr>
          <a:xfrm>
            <a:off x="2350008" y="3182112"/>
            <a:ext cx="896112" cy="384048"/>
          </a:xfrm>
          <a:prstGeom prst="rect">
            <a:avLst/>
          </a:prstGeom>
          <a:noFill/>
        </p:spPr>
        <p:txBody>
          <a:bodyPr wrap="square" lIns="18288" tIns="18288" rIns="18288" bIns="18288" anchor="t">
            <a:spAutoFit/>
          </a:bodyPr>
          <a:lstStyle/>
          <a:p>
            <a:r>
              <a:t>Stored Functions</a:t>
            </a:r>
          </a:p>
        </p:txBody>
      </p:sp>
      <p:sp>
        <p:nvSpPr>
          <p:cNvPr id="46" name="Rounded Rectangle 45"/>
          <p:cNvSpPr/>
          <p:nvPr/>
        </p:nvSpPr>
        <p:spPr>
          <a:xfrm>
            <a:off x="3319272" y="2743200"/>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3319272" y="2779776"/>
            <a:ext cx="896112" cy="411480"/>
          </a:xfrm>
          <a:prstGeom prst="rect">
            <a:avLst/>
          </a:prstGeom>
          <a:noFill/>
        </p:spPr>
        <p:txBody>
          <a:bodyPr wrap="square" lIns="0" tIns="0" rIns="0" bIns="0" anchor="ctr">
            <a:spAutoFit/>
          </a:bodyPr>
          <a:lstStyle/>
          <a:p>
            <a:r>
              <a:t>2</a:t>
            </a:r>
          </a:p>
        </p:txBody>
      </p:sp>
      <p:sp>
        <p:nvSpPr>
          <p:cNvPr id="48" name="TextBox 47"/>
          <p:cNvSpPr txBox="1"/>
          <p:nvPr/>
        </p:nvSpPr>
        <p:spPr>
          <a:xfrm>
            <a:off x="3319272" y="3182112"/>
            <a:ext cx="896112" cy="384048"/>
          </a:xfrm>
          <a:prstGeom prst="rect">
            <a:avLst/>
          </a:prstGeom>
          <a:noFill/>
        </p:spPr>
        <p:txBody>
          <a:bodyPr wrap="square" lIns="18288" tIns="18288" rIns="18288" bIns="18288" anchor="t">
            <a:spAutoFit/>
          </a:bodyPr>
          <a:lstStyle/>
          <a:p>
            <a:r>
              <a:t>Active Triggers</a:t>
            </a:r>
          </a:p>
        </p:txBody>
      </p:sp>
      <p:sp>
        <p:nvSpPr>
          <p:cNvPr id="49" name="Rounded Rectangle 48"/>
          <p:cNvSpPr/>
          <p:nvPr/>
        </p:nvSpPr>
        <p:spPr>
          <a:xfrm>
            <a:off x="411480"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411480" y="3785615"/>
            <a:ext cx="896112" cy="411480"/>
          </a:xfrm>
          <a:prstGeom prst="rect">
            <a:avLst/>
          </a:prstGeom>
          <a:noFill/>
        </p:spPr>
        <p:txBody>
          <a:bodyPr wrap="square" lIns="0" tIns="0" rIns="0" bIns="0" anchor="ctr">
            <a:spAutoFit/>
          </a:bodyPr>
          <a:lstStyle/>
          <a:p>
            <a:r>
              <a:t>3</a:t>
            </a:r>
          </a:p>
        </p:txBody>
      </p:sp>
      <p:sp>
        <p:nvSpPr>
          <p:cNvPr id="51" name="TextBox 50"/>
          <p:cNvSpPr txBox="1"/>
          <p:nvPr/>
        </p:nvSpPr>
        <p:spPr>
          <a:xfrm>
            <a:off x="411480" y="4187952"/>
            <a:ext cx="896112" cy="384048"/>
          </a:xfrm>
          <a:prstGeom prst="rect">
            <a:avLst/>
          </a:prstGeom>
          <a:noFill/>
        </p:spPr>
        <p:txBody>
          <a:bodyPr wrap="square" lIns="18288" tIns="18288" rIns="18288" bIns="18288" anchor="t">
            <a:spAutoFit/>
          </a:bodyPr>
          <a:lstStyle/>
          <a:p>
            <a:r>
              <a:t>Database Views</a:t>
            </a:r>
          </a:p>
        </p:txBody>
      </p:sp>
      <p:sp>
        <p:nvSpPr>
          <p:cNvPr id="52" name="Rounded Rectangle 51"/>
          <p:cNvSpPr/>
          <p:nvPr/>
        </p:nvSpPr>
        <p:spPr>
          <a:xfrm>
            <a:off x="1380744"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380744" y="3785615"/>
            <a:ext cx="896112" cy="411480"/>
          </a:xfrm>
          <a:prstGeom prst="rect">
            <a:avLst/>
          </a:prstGeom>
          <a:noFill/>
        </p:spPr>
        <p:txBody>
          <a:bodyPr wrap="square" lIns="0" tIns="0" rIns="0" bIns="0" anchor="ctr">
            <a:spAutoFit/>
          </a:bodyPr>
          <a:lstStyle/>
          <a:p>
            <a:r>
              <a:t>1</a:t>
            </a:r>
          </a:p>
        </p:txBody>
      </p:sp>
      <p:sp>
        <p:nvSpPr>
          <p:cNvPr id="54" name="TextBox 53"/>
          <p:cNvSpPr txBox="1"/>
          <p:nvPr/>
        </p:nvSpPr>
        <p:spPr>
          <a:xfrm>
            <a:off x="1380744" y="4187952"/>
            <a:ext cx="896112" cy="384048"/>
          </a:xfrm>
          <a:prstGeom prst="rect">
            <a:avLst/>
          </a:prstGeom>
          <a:noFill/>
        </p:spPr>
        <p:txBody>
          <a:bodyPr wrap="square" lIns="18288" tIns="18288" rIns="18288" bIns="18288" anchor="t">
            <a:spAutoFit/>
          </a:bodyPr>
          <a:lstStyle/>
          <a:p>
            <a:r>
              <a:t>Window Forecast Engine</a:t>
            </a:r>
          </a:p>
        </p:txBody>
      </p:sp>
      <p:sp>
        <p:nvSpPr>
          <p:cNvPr id="55" name="Rounded Rectangle 54"/>
          <p:cNvSpPr/>
          <p:nvPr/>
        </p:nvSpPr>
        <p:spPr>
          <a:xfrm>
            <a:off x="2350008"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350008" y="3785615"/>
            <a:ext cx="896112" cy="411480"/>
          </a:xfrm>
          <a:prstGeom prst="rect">
            <a:avLst/>
          </a:prstGeom>
          <a:noFill/>
        </p:spPr>
        <p:txBody>
          <a:bodyPr wrap="square" lIns="0" tIns="0" rIns="0" bIns="0" anchor="ctr">
            <a:spAutoFit/>
          </a:bodyPr>
          <a:lstStyle/>
          <a:p>
            <a:r>
              <a:t>14</a:t>
            </a:r>
          </a:p>
        </p:txBody>
      </p:sp>
      <p:sp>
        <p:nvSpPr>
          <p:cNvPr id="57" name="TextBox 56"/>
          <p:cNvSpPr txBox="1"/>
          <p:nvPr/>
        </p:nvSpPr>
        <p:spPr>
          <a:xfrm>
            <a:off x="2350008" y="4187952"/>
            <a:ext cx="896112" cy="384048"/>
          </a:xfrm>
          <a:prstGeom prst="rect">
            <a:avLst/>
          </a:prstGeom>
          <a:noFill/>
        </p:spPr>
        <p:txBody>
          <a:bodyPr wrap="square" lIns="18288" tIns="18288" rIns="18288" bIns="18288" anchor="t">
            <a:spAutoFit/>
          </a:bodyPr>
          <a:lstStyle/>
          <a:p>
            <a:r>
              <a:t>SQL Queries</a:t>
            </a:r>
          </a:p>
        </p:txBody>
      </p:sp>
      <p:sp>
        <p:nvSpPr>
          <p:cNvPr id="58" name="Rounded Rectangle 57"/>
          <p:cNvSpPr/>
          <p:nvPr/>
        </p:nvSpPr>
        <p:spPr>
          <a:xfrm>
            <a:off x="3319272" y="3749039"/>
            <a:ext cx="896112" cy="841248"/>
          </a:xfrm>
          <a:prstGeom prst="roundRect">
            <a:avLst>
              <a:gd name="adj" fmla="val 12000"/>
            </a:avLst>
          </a:prstGeom>
          <a:solidFill>
            <a:srgbClr val="FDF2F6"/>
          </a:solidFill>
          <a:ln w="6350">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3319272" y="3785615"/>
            <a:ext cx="896112" cy="411480"/>
          </a:xfrm>
          <a:prstGeom prst="rect">
            <a:avLst/>
          </a:prstGeom>
          <a:noFill/>
        </p:spPr>
        <p:txBody>
          <a:bodyPr wrap="square" lIns="0" tIns="0" rIns="0" bIns="0" anchor="ctr">
            <a:spAutoFit/>
          </a:bodyPr>
          <a:lstStyle/>
          <a:p>
            <a:r>
              <a:t>3NF</a:t>
            </a:r>
          </a:p>
        </p:txBody>
      </p:sp>
      <p:sp>
        <p:nvSpPr>
          <p:cNvPr id="60" name="TextBox 59"/>
          <p:cNvSpPr txBox="1"/>
          <p:nvPr/>
        </p:nvSpPr>
        <p:spPr>
          <a:xfrm>
            <a:off x="3319272" y="4187952"/>
            <a:ext cx="896112" cy="384048"/>
          </a:xfrm>
          <a:prstGeom prst="rect">
            <a:avLst/>
          </a:prstGeom>
          <a:noFill/>
        </p:spPr>
        <p:txBody>
          <a:bodyPr wrap="square" lIns="18288" tIns="18288" rIns="18288" bIns="18288" anchor="t">
            <a:spAutoFit/>
          </a:bodyPr>
          <a:lstStyle/>
          <a:p>
            <a:r>
              <a:t>oriented design</a:t>
            </a:r>
          </a:p>
        </p:txBody>
      </p:sp>
      <p:sp>
        <p:nvSpPr>
          <p:cNvPr id="61" name="TextBox 60"/>
          <p:cNvSpPr txBox="1"/>
          <p:nvPr/>
        </p:nvSpPr>
        <p:spPr>
          <a:xfrm>
            <a:off x="411480" y="4846320"/>
            <a:ext cx="3840480" cy="320040"/>
          </a:xfrm>
          <a:prstGeom prst="rect">
            <a:avLst/>
          </a:prstGeom>
          <a:noFill/>
        </p:spPr>
        <p:txBody>
          <a:bodyPr wrap="square" lIns="36576" tIns="36576" rIns="36576" bIns="36576" anchor="t">
            <a:spAutoFit/>
          </a:bodyPr>
          <a:lstStyle/>
          <a:p>
            <a:pPr algn="l"/>
            <a:r>
              <a:rPr sz="1300" b="1" i="0">
                <a:solidFill>
                  <a:srgbClr val="B8114F"/>
                </a:solidFill>
                <a:latin typeface="Calibri"/>
              </a:rPr>
              <a:t>Seed Data</a:t>
            </a:r>
          </a:p>
        </p:txBody>
      </p:sp>
      <p:sp>
        <p:nvSpPr>
          <p:cNvPr id="62" name="TextBox 61"/>
          <p:cNvSpPr txBox="1"/>
          <p:nvPr/>
        </p:nvSpPr>
        <p:spPr>
          <a:xfrm>
            <a:off x="411480" y="5166360"/>
            <a:ext cx="4023360" cy="320040"/>
          </a:xfrm>
          <a:prstGeom prst="rect">
            <a:avLst/>
          </a:prstGeom>
          <a:noFill/>
        </p:spPr>
        <p:txBody>
          <a:bodyPr wrap="square" lIns="36576" tIns="36576" rIns="36576" bIns="36576" anchor="t">
            <a:spAutoFit/>
          </a:bodyPr>
          <a:lstStyle/>
          <a:p>
            <a:r>
              <a:t>5 Users   12 Accounts   100+ Transactions</a:t>
            </a:r>
          </a:p>
        </p:txBody>
      </p:sp>
      <p:sp>
        <p:nvSpPr>
          <p:cNvPr id="63" name="TextBox 62"/>
          <p:cNvSpPr txBox="1"/>
          <p:nvPr/>
        </p:nvSpPr>
        <p:spPr>
          <a:xfrm>
            <a:off x="4526280" y="2377440"/>
            <a:ext cx="4206240" cy="320040"/>
          </a:xfrm>
          <a:prstGeom prst="rect">
            <a:avLst/>
          </a:prstGeom>
          <a:noFill/>
        </p:spPr>
        <p:txBody>
          <a:bodyPr wrap="square" lIns="36576" tIns="36576" rIns="36576" bIns="36576" anchor="t">
            <a:spAutoFit/>
          </a:bodyPr>
          <a:lstStyle/>
          <a:p>
            <a:pPr algn="l"/>
            <a:r>
              <a:rPr sz="1400" b="1" i="0">
                <a:solidFill>
                  <a:srgbClr val="B8114F"/>
                </a:solidFill>
                <a:latin typeface="Calibri"/>
              </a:rPr>
              <a:t>Conclusion</a:t>
            </a:r>
          </a:p>
        </p:txBody>
      </p:sp>
      <p:sp>
        <p:nvSpPr>
          <p:cNvPr id="64" name="TextBox 63"/>
          <p:cNvSpPr txBox="1"/>
          <p:nvPr/>
        </p:nvSpPr>
        <p:spPr>
          <a:xfrm>
            <a:off x="4526280" y="2743200"/>
            <a:ext cx="4251960" cy="3017520"/>
          </a:xfrm>
          <a:prstGeom prst="rect">
            <a:avLst/>
          </a:prstGeom>
          <a:noFill/>
        </p:spPr>
        <p:txBody>
          <a:bodyPr wrap="square" lIns="36576" tIns="36576" rIns="36576" bIns="36576" anchor="t">
            <a:spAutoFit/>
          </a:bodyPr>
          <a:lstStyle/>
          <a:p>
            <a:r>
              <a:t>FinTrack provides a centralized relational database for personal finance management.</a:t>
            </a:r>
          </a:p>
          <a:p>
            <a:r>
              <a:t>Relational tables represent users, accounts, transactions, budgets and rules.</a:t>
            </a:r>
          </a:p>
          <a:p>
            <a:r>
              <a:t>Constraints maintain data integrity across double-entry records.</a:t>
            </a:r>
          </a:p>
          <a:p>
            <a:r>
              <a:t>Procedures and triggers automate balance updates and threshold alerts.</a:t>
            </a:r>
          </a:p>
          <a:p>
            <a:r>
              <a:t>Analytic window functions deliver explainable 3-month predictive forecasting.</a:t>
            </a:r>
          </a:p>
          <a:p>
            <a:r>
              <a:t>Views and indexes optimize dashboard telemetry and statement exports.</a:t>
            </a:r>
          </a:p>
        </p:txBody>
      </p:sp>
      <p:sp>
        <p:nvSpPr>
          <p:cNvPr id="65" name="Rounded Rectangle 64"/>
          <p:cNvSpPr/>
          <p:nvPr/>
        </p:nvSpPr>
        <p:spPr>
          <a:xfrm>
            <a:off x="8961120" y="2377440"/>
            <a:ext cx="2816352" cy="2011680"/>
          </a:xfrm>
          <a:prstGeom prst="roundRect">
            <a:avLst>
              <a:gd name="adj" fmla="val 5454"/>
            </a:avLst>
          </a:prstGeom>
          <a:solidFill>
            <a:srgbClr val="FDF2F6"/>
          </a:solidFill>
          <a:ln w="9525">
            <a:solidFill>
              <a:srgbClr val="D9A5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9098280" y="2423160"/>
            <a:ext cx="2560320" cy="320040"/>
          </a:xfrm>
          <a:prstGeom prst="rect">
            <a:avLst/>
          </a:prstGeom>
          <a:noFill/>
        </p:spPr>
        <p:txBody>
          <a:bodyPr wrap="square" lIns="36576" tIns="36576" rIns="36576" bIns="36576" anchor="t">
            <a:spAutoFit/>
          </a:bodyPr>
          <a:lstStyle/>
          <a:p>
            <a:pPr algn="l"/>
            <a:r>
              <a:rPr sz="1400" b="1" i="0">
                <a:solidFill>
                  <a:srgbClr val="B8114F"/>
                </a:solidFill>
                <a:latin typeface="Calibri"/>
              </a:rPr>
              <a:t>Future Scope</a:t>
            </a:r>
          </a:p>
        </p:txBody>
      </p:sp>
      <p:sp>
        <p:nvSpPr>
          <p:cNvPr id="67" name="TextBox 66"/>
          <p:cNvSpPr txBox="1"/>
          <p:nvPr/>
        </p:nvSpPr>
        <p:spPr>
          <a:xfrm>
            <a:off x="9098280" y="2788920"/>
            <a:ext cx="2606040" cy="1554480"/>
          </a:xfrm>
          <a:prstGeom prst="rect">
            <a:avLst/>
          </a:prstGeom>
          <a:noFill/>
        </p:spPr>
        <p:txBody>
          <a:bodyPr wrap="square" lIns="36576" tIns="36576" rIns="36576" bIns="36576" anchor="t">
            <a:spAutoFit/>
          </a:bodyPr>
          <a:lstStyle/>
          <a:p>
            <a:r>
              <a:t>Account Aggregator (AA) framework integration</a:t>
            </a:r>
          </a:p>
          <a:p>
            <a:r>
              <a:t>Vision AI OCR receipt scanning</a:t>
            </a:r>
          </a:p>
          <a:p>
            <a:r>
              <a:t>WhatsApp overspend alert webhooks</a:t>
            </a:r>
          </a:p>
          <a:p>
            <a:r>
              <a:t>Multi-currency forex support</a:t>
            </a:r>
          </a:p>
        </p:txBody>
      </p:sp>
      <p:sp>
        <p:nvSpPr>
          <p:cNvPr id="68" name="Rounded Rectangle 67"/>
          <p:cNvSpPr/>
          <p:nvPr/>
        </p:nvSpPr>
        <p:spPr>
          <a:xfrm>
            <a:off x="8961120" y="4526280"/>
            <a:ext cx="2816352" cy="1188720"/>
          </a:xfrm>
          <a:prstGeom prst="roundRect">
            <a:avLst>
              <a:gd name="adj" fmla="val 9230"/>
            </a:avLst>
          </a:prstGeom>
          <a:solidFill>
            <a:srgbClr val="B811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9098280" y="4553712"/>
            <a:ext cx="2606040" cy="320040"/>
          </a:xfrm>
          <a:prstGeom prst="rect">
            <a:avLst/>
          </a:prstGeom>
          <a:noFill/>
        </p:spPr>
        <p:txBody>
          <a:bodyPr wrap="square" lIns="36576" tIns="36576" rIns="36576" bIns="36576" anchor="t">
            <a:spAutoFit/>
          </a:bodyPr>
          <a:lstStyle/>
          <a:p>
            <a:pPr algn="l"/>
            <a:r>
              <a:rPr sz="1400" b="1" i="0">
                <a:solidFill>
                  <a:srgbClr val="FFFFFF"/>
                </a:solidFill>
                <a:latin typeface="Calibri"/>
              </a:rPr>
              <a:t>Demo</a:t>
            </a:r>
          </a:p>
        </p:txBody>
      </p:sp>
      <p:sp>
        <p:nvSpPr>
          <p:cNvPr id="70" name="TextBox 69"/>
          <p:cNvSpPr txBox="1"/>
          <p:nvPr/>
        </p:nvSpPr>
        <p:spPr>
          <a:xfrm>
            <a:off x="9098280" y="4864608"/>
            <a:ext cx="2606040" cy="822960"/>
          </a:xfrm>
          <a:prstGeom prst="rect">
            <a:avLst/>
          </a:prstGeom>
          <a:noFill/>
        </p:spPr>
        <p:txBody>
          <a:bodyPr wrap="square" lIns="36576" tIns="36576" rIns="36576" bIns="36576" anchor="t">
            <a:spAutoFit/>
          </a:bodyPr>
          <a:lstStyle/>
          <a:p>
            <a:r>
              <a:t>Live walk-through of this workflow in the FinTrack web application.</a:t>
            </a:r>
          </a:p>
        </p:txBody>
      </p:sp>
    </p:spTree>
    <p:extLst>
      <p:ext uri="{BB962C8B-B14F-4D97-AF65-F5344CB8AC3E}">
        <p14:creationId xmlns:p14="http://schemas.microsoft.com/office/powerpoint/2010/main" val="4207634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6616C1-5C31-73EF-C6D8-3D293F21043E}"/>
              </a:ext>
            </a:extLst>
          </p:cNvPr>
          <p:cNvSpPr>
            <a:spLocks noGrp="1"/>
          </p:cNvSpPr>
          <p:nvPr>
            <p:ph type="sldNum" sz="quarter" idx="2"/>
          </p:nvPr>
        </p:nvSpPr>
        <p:spPr/>
        <p:txBody>
          <a:bodyPr/>
          <a:lstStyle/>
          <a:p>
            <a:fld id="{86CB4B4D-7CA3-9044-876B-883B54F8677D}" type="slidenum">
              <a:rPr lang="en-IN" smtClean="0"/>
              <a:t>12</a:t>
            </a:fld>
            <a:endParaRPr lang="en-IN"/>
          </a:p>
        </p:txBody>
      </p:sp>
      <p:sp>
        <p:nvSpPr>
          <p:cNvPr id="3" name="Title 2">
            <a:extLst>
              <a:ext uri="{FF2B5EF4-FFF2-40B4-BE49-F238E27FC236}">
                <a16:creationId xmlns:a16="http://schemas.microsoft.com/office/drawing/2014/main" id="{2B667EDC-3EA5-C3DB-B0B4-74241483777B}"/>
              </a:ext>
            </a:extLst>
          </p:cNvPr>
          <p:cNvSpPr>
            <a:spLocks noGrp="1"/>
          </p:cNvSpPr>
          <p:nvPr>
            <p:ph type="title"/>
          </p:nvPr>
        </p:nvSpPr>
        <p:spPr>
          <a:xfrm>
            <a:off x="1121979" y="2398881"/>
            <a:ext cx="10515600" cy="1325563"/>
          </a:xfrm>
        </p:spPr>
        <p:txBody>
          <a:bodyPr>
            <a:normAutofit/>
          </a:bodyPr>
          <a:lstStyle/>
          <a:p>
            <a:r>
              <a:t>THANK YOU</a:t>
            </a:r>
          </a:p>
        </p:txBody>
      </p:sp>
      <p:sp>
        <p:nvSpPr>
          <p:cNvPr id="4" name="Rounded Rectangle 3"/>
          <p:cNvSpPr/>
          <p:nvPr/>
        </p:nvSpPr>
        <p:spPr>
          <a:xfrm>
            <a:off x="1371600" y="1371600"/>
            <a:ext cx="822960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200"/>
              </a:spcAft>
              <a:defRPr sz="1600" b="1">
                <a:solidFill>
                  <a:srgbClr val="0F172A"/>
                </a:solidFill>
                <a:latin typeface="Calibri"/>
              </a:defRPr>
            </a:pPr>
            <a:r>
              <a:t>FinTrack: Personal Finance Management &amp; Spend Prediction System</a:t>
            </a:r>
          </a:p>
          <a:p>
            <a:pPr>
              <a:spcAft>
                <a:spcPts val="200"/>
              </a:spcAft>
              <a:defRPr sz="1300" b="1">
                <a:solidFill>
                  <a:srgbClr val="2563EB"/>
                </a:solidFill>
                <a:latin typeface="Calibri"/>
              </a:defRPr>
            </a:pPr>
            <a:r>
              <a:t>22AIE303 – Database Management Systems</a:t>
            </a:r>
          </a:p>
          <a:p>
            <a:pPr>
              <a:spcAft>
                <a:spcPts val="200"/>
              </a:spcAft>
              <a:defRPr sz="1200" b="0">
                <a:solidFill>
                  <a:srgbClr val="334155"/>
                </a:solidFill>
                <a:latin typeface="Calibri"/>
              </a:defRPr>
            </a:pPr>
            <a:r>
              <a:t>Team No: 13                                             Panel Number: Panel</a:t>
            </a:r>
          </a:p>
          <a:p>
            <a:pPr>
              <a:spcAft>
                <a:spcPts val="200"/>
              </a:spcAft>
              <a:defRPr sz="600" b="0">
                <a:solidFill>
                  <a:srgbClr val="334155"/>
                </a:solidFill>
                <a:latin typeface="Calibri"/>
              </a:defRPr>
            </a:pPr>
          </a:p>
          <a:p>
            <a:pPr>
              <a:spcAft>
                <a:spcPts val="200"/>
              </a:spcAft>
              <a:defRPr sz="1300" b="1">
                <a:solidFill>
                  <a:srgbClr val="0F172A"/>
                </a:solidFill>
                <a:latin typeface="Calibri"/>
              </a:defRPr>
            </a:pPr>
            <a:r>
              <a:t>Project Team Members:</a:t>
            </a:r>
          </a:p>
          <a:p>
            <a:pPr>
              <a:spcAft>
                <a:spcPts val="200"/>
              </a:spcAft>
              <a:defRPr sz="1200" b="0">
                <a:solidFill>
                  <a:srgbClr val="334155"/>
                </a:solidFill>
                <a:latin typeface="Calibri"/>
              </a:defRPr>
            </a:pPr>
            <a:r>
              <a:t>  • K. Harshith   (Reg No: 23BD1A0583)</a:t>
            </a:r>
          </a:p>
          <a:p>
            <a:pPr>
              <a:spcAft>
                <a:spcPts val="200"/>
              </a:spcAft>
              <a:defRPr sz="1200" b="0">
                <a:solidFill>
                  <a:srgbClr val="334155"/>
                </a:solidFill>
                <a:latin typeface="Calibri"/>
              </a:defRPr>
            </a:pPr>
            <a:r>
              <a:t>  • P. Manideep   (Reg No: 23BD1A05AQ)</a:t>
            </a:r>
          </a:p>
          <a:p>
            <a:pPr>
              <a:spcAft>
                <a:spcPts val="200"/>
              </a:spcAft>
              <a:defRPr sz="1200" b="0">
                <a:solidFill>
                  <a:srgbClr val="334155"/>
                </a:solidFill>
                <a:latin typeface="Calibri"/>
              </a:defRPr>
            </a:pPr>
            <a:r>
              <a:t>  • K. Rishvik    (Reg No: 23BD1A05AM)</a:t>
            </a:r>
          </a:p>
          <a:p>
            <a:pPr>
              <a:spcAft>
                <a:spcPts val="200"/>
              </a:spcAft>
              <a:defRPr sz="600" b="0">
                <a:solidFill>
                  <a:srgbClr val="334155"/>
                </a:solidFill>
                <a:latin typeface="Calibri"/>
              </a:defRPr>
            </a:pPr>
          </a:p>
          <a:p>
            <a:pPr>
              <a:spcAft>
                <a:spcPts val="200"/>
              </a:spcAft>
              <a:defRPr sz="1300" b="1">
                <a:solidFill>
                  <a:srgbClr val="0F172A"/>
                </a:solidFill>
                <a:latin typeface="Calibri"/>
              </a:defRPr>
            </a:pPr>
            <a:r>
              <a:t>Project Advisor: Divya K V</a:t>
            </a:r>
          </a:p>
          <a:p>
            <a:pPr>
              <a:spcAft>
                <a:spcPts val="200"/>
              </a:spcAft>
              <a:defRPr sz="1100" b="0">
                <a:solidFill>
                  <a:srgbClr val="2563EB"/>
                </a:solidFill>
                <a:latin typeface="Calibri"/>
              </a:defRPr>
            </a:pPr>
            <a:r>
              <a:t>Project GitHub Repository: https://github.com/harshithchowdary999/Fintrack</a:t>
            </a:r>
          </a:p>
          <a:p>
            <a:pPr>
              <a:spcAft>
                <a:spcPts val="200"/>
              </a:spcAft>
              <a:defRPr sz="600" b="0">
                <a:solidFill>
                  <a:srgbClr val="334155"/>
                </a:solidFill>
                <a:latin typeface="Calibri"/>
              </a:defRPr>
            </a:pPr>
          </a:p>
          <a:p>
            <a:pPr>
              <a:spcAft>
                <a:spcPts val="200"/>
              </a:spcAft>
              <a:defRPr sz="1100" b="0">
                <a:solidFill>
                  <a:srgbClr val="334155"/>
                </a:solidFill>
                <a:latin typeface="Calibri"/>
              </a:defRPr>
            </a:pPr>
            <a:r>
              <a:t>We sincerely thank the evaluation panel for their time, guidance, and valuable feedback.</a:t>
            </a:r>
          </a:p>
          <a:p>
            <a:pPr>
              <a:spcAft>
                <a:spcPts val="200"/>
              </a:spcAft>
              <a:defRPr sz="1100" b="1">
                <a:solidFill>
                  <a:srgbClr val="0F172A"/>
                </a:solidFill>
                <a:latin typeface="Calibri"/>
              </a:defRPr>
            </a:pPr>
            <a:r>
              <a:t>The session is now open for Questions, Live System Demonstration, and Discussion.</a:t>
            </a:r>
          </a:p>
        </p:txBody>
      </p:sp>
    </p:spTree>
    <p:extLst>
      <p:ext uri="{BB962C8B-B14F-4D97-AF65-F5344CB8AC3E}">
        <p14:creationId xmlns:p14="http://schemas.microsoft.com/office/powerpoint/2010/main" val="1390547548"/>
      </p:ext>
    </p:extLst>
  </p:cSld>
  <p:clrMapOvr>
    <a:masterClrMapping/>
  </p:clrMapOvr>
  <p:transition spd="med"/>
</p:sld>
</file>

<file path=ppt/theme/theme1.xml><?xml version="1.0" encoding="utf-8"?>
<a:theme xmlns:a="http://schemas.openxmlformats.org/drawingml/2006/main" name="NAAC PRT Templa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AAC PRT Template [Compatibility Mode]" id="{A3D2B74B-B15B-466F-9768-BD91F499C34C}" vid="{0E57DE27-252B-4995-BE16-123377BD3E9E}"/>
    </a:ext>
  </a:extLst>
</a:theme>
</file>

<file path=ppt/theme/theme2.xml><?xml version="1.0" encoding="utf-8"?>
<a:theme xmlns:a="http://schemas.openxmlformats.org/drawingml/2006/main" name="11_Default Design">
  <a:themeElements>
    <a:clrScheme name="11_Default Design">
      <a:dk1>
        <a:srgbClr val="000000"/>
      </a:dk1>
      <a:lt1>
        <a:srgbClr val="FFFFFF"/>
      </a:lt1>
      <a:dk2>
        <a:srgbClr val="A7A7A7"/>
      </a:dk2>
      <a:lt2>
        <a:srgbClr val="535353"/>
      </a:lt2>
      <a:accent1>
        <a:srgbClr val="BBE0E3"/>
      </a:accent1>
      <a:accent2>
        <a:srgbClr val="333399"/>
      </a:accent2>
      <a:accent3>
        <a:srgbClr val="9BBB59"/>
      </a:accent3>
      <a:accent4>
        <a:srgbClr val="8064A2"/>
      </a:accent4>
      <a:accent5>
        <a:srgbClr val="4BACC6"/>
      </a:accent5>
      <a:accent6>
        <a:srgbClr val="F79646"/>
      </a:accent6>
      <a:hlink>
        <a:srgbClr val="0000FF"/>
      </a:hlink>
      <a:folHlink>
        <a:srgbClr val="FF00FF"/>
      </a:folHlink>
    </a:clrScheme>
    <a:fontScheme name="11_Default Design">
      <a:majorFont>
        <a:latin typeface="Helvetica"/>
        <a:ea typeface="Helvetica"/>
        <a:cs typeface="Helvetica"/>
      </a:majorFont>
      <a:minorFont>
        <a:latin typeface="Arial"/>
        <a:ea typeface="Arial"/>
        <a:cs typeface="Arial"/>
      </a:minorFont>
    </a:fontScheme>
    <a:fmtScheme name="11_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Times New Roman"/>
            <a:ea typeface="Times New Roman"/>
            <a:cs typeface="Times New Roman"/>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Gallery</Template>
  <TotalTime>50160</TotalTime>
  <Words>2286</Words>
  <Application>Microsoft Office PowerPoint</Application>
  <PresentationFormat>Widescreen</PresentationFormat>
  <Paragraphs>477</Paragraphs>
  <Slides>12</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Courier New</vt:lpstr>
      <vt:lpstr>Georgia</vt:lpstr>
      <vt:lpstr>Times New Roman</vt:lpstr>
      <vt:lpstr>NAAC PRT Template</vt:lpstr>
      <vt:lpstr>PowerPoint Presentation</vt:lpstr>
      <vt:lpstr>Introduction – The Problem</vt:lpstr>
      <vt:lpstr>Project Objectives &amp; System Overview</vt:lpstr>
      <vt:lpstr>ER Diagram – MedShare</vt:lpstr>
      <vt:lpstr>Strong and Dependent Entities</vt:lpstr>
      <vt:lpstr>Relational Schema – 19 Tables</vt:lpstr>
      <vt:lpstr>Keys &amp; Integrity Constraints</vt:lpstr>
      <vt:lpstr>Normalization – Up to 3NF</vt:lpstr>
      <vt:lpstr>Procedures, Functions, Triggers &amp; Views</vt:lpstr>
      <vt:lpstr>Transactions, Concurrency &amp; Security</vt:lpstr>
      <vt:lpstr>MedShare Workflow &amp; Conclusion</vt:lpstr>
      <vt:lpstr>          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Emotion Detection System</dc:title>
  <dc:creator>sundar rathinavel</dc:creator>
  <cp:lastModifiedBy>Mamidi Yeswanth</cp:lastModifiedBy>
  <cp:revision>273</cp:revision>
  <dcterms:modified xsi:type="dcterms:W3CDTF">2026-09-30T08:59:08Z</dcterms:modified>
</cp:coreProperties>
</file>