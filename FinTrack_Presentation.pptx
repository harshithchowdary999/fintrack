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9" r:id="rId1"/>
  </p:sldMasterIdLst>
  <p:notesMasterIdLst>
    <p:notesMasterId r:id="rId12"/>
  </p:notesMasterIdLst>
  <p:sldIdLst>
    <p:sldId id="965" r:id="rId2"/>
    <p:sldId id="966" r:id="rId3"/>
    <p:sldId id="1020" r:id="rId4"/>
    <p:sldId id="967" r:id="rId5"/>
    <p:sldId id="1021" r:id="rId6"/>
    <p:sldId id="1022" r:id="rId7"/>
    <p:sldId id="1023" r:id="rId8"/>
    <p:sldId id="1024" r:id="rId9"/>
    <p:sldId id="1025" r:id="rId10"/>
    <p:sldId id="100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371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011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58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38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817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669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143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350FE-8016-4072-9530-04FB546F753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83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401C-3D73-9145-9D27-022775352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FC3C5-2E28-584B-9E08-C350F0473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AA21-1AC4-EE4A-9EE6-2CF24966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6A89-F6F6-594C-B1D8-D2FE52E1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0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7" y="1137256"/>
            <a:ext cx="11436823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197" y="348665"/>
            <a:ext cx="11436823" cy="421441"/>
          </a:xfrm>
        </p:spPr>
        <p:txBody>
          <a:bodyPr>
            <a:noAutofit/>
          </a:bodyPr>
          <a:lstStyle>
            <a:lvl1pPr>
              <a:defRPr sz="24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412495"/>
            <a:ext cx="12218977" cy="47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3F47-3531-4371-B8DB-59E457D07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5" y="6520072"/>
            <a:ext cx="1262820" cy="2839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BD8-565B-E441-A71D-873F53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9" y="6478755"/>
            <a:ext cx="758687" cy="36512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0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29678384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015E1-575C-CC43-8E0C-38A94C0D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0D65-9225-7C42-BE9D-7E7ACD23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5A4A-C107-8941-A91D-265C6703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8F1F-AA4B-E44F-87CA-30B4D3D4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6259-99F7-DF4A-8A42-0737A8CC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7BCD-DE16-49A3-B1A7-AEBDA2E59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ECB28-C985-4B5A-9CDD-08CA29054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CFD00-3FA3-41EB-9053-EE933B60616C}"/>
              </a:ext>
            </a:extLst>
          </p:cNvPr>
          <p:cNvSpPr/>
          <p:nvPr/>
        </p:nvSpPr>
        <p:spPr>
          <a:xfrm>
            <a:off x="0" y="-4762"/>
            <a:ext cx="12192000" cy="72136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4400" dirty="0">
              <a:solidFill>
                <a:prstClr val="white"/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601DD6C4-398E-4151-A3CB-D0D93CDFA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101" y="5349875"/>
            <a:ext cx="4590899" cy="1473199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6331B53-2438-4F04-85AA-8E0753CB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1766878-3199-4EAB-94E7-2D6D11070E1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65D4A2-2674-4D26-B5DA-1CFF8AFC3301}"/>
              </a:ext>
            </a:extLst>
          </p:cNvPr>
          <p:cNvSpPr/>
          <p:nvPr/>
        </p:nvSpPr>
        <p:spPr>
          <a:xfrm>
            <a:off x="352430" y="245200"/>
            <a:ext cx="1148714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latin typeface="Times New Roman"/>
              </a:defRPr>
            </a:pPr>
            <a:r>
              <a:t>FinTrack: Personal Finance Management &amp; Spend Prediction System</a:t>
            </a:r>
            <a:endParaRPr lang="en-US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4" name="Team Members     Group No: 13…">
            <a:extLst>
              <a:ext uri="{FF2B5EF4-FFF2-40B4-BE49-F238E27FC236}">
                <a16:creationId xmlns:a16="http://schemas.microsoft.com/office/drawing/2014/main" id="{D2EE4D94-3119-A8EC-3E4E-C059441E1B2A}"/>
              </a:ext>
            </a:extLst>
          </p:cNvPr>
          <p:cNvSpPr txBox="1"/>
          <p:nvPr/>
        </p:nvSpPr>
        <p:spPr>
          <a:xfrm>
            <a:off x="1784417" y="2401956"/>
            <a:ext cx="8883583" cy="25454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defRPr sz="1800" b="1">
                <a:latin typeface="Times New Roman"/>
                <a:ea typeface="+mn-ea"/>
                <a:cs typeface="+mn-cs"/>
                <a:sym typeface="Arial"/>
              </a:defRPr>
            </a:pPr>
            <a:r>
              <a:t>Team No: 13                                         Panel Number: Panel</a:t>
            </a:r>
            <a:endParaRPr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/>
          <a:p/>
          <a:p/>
          <a:p/>
          <a:p/>
          <a:p/>
          <a:p/>
          <a:p>
            <a:pPr>
              <a:defRPr sz="1800" b="1">
                <a:latin typeface="Times New Roman"/>
              </a:defRPr>
            </a:pPr>
            <a:r>
              <a:t>Project Advisor: K. V. Divya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A63BE85B-6374-76D7-5E38-FC60C7AC7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73992"/>
              </p:ext>
            </p:extLst>
          </p:nvPr>
        </p:nvGraphicFramePr>
        <p:xfrm>
          <a:off x="1854201" y="2978598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846">
                  <a:extLst>
                    <a:ext uri="{9D8B030D-6E8A-4147-A177-3AD203B41FA5}">
                      <a16:colId xmlns:a16="http://schemas.microsoft.com/office/drawing/2014/main" val="3821791271"/>
                    </a:ext>
                  </a:extLst>
                </a:gridCol>
                <a:gridCol w="3027285">
                  <a:extLst>
                    <a:ext uri="{9D8B030D-6E8A-4147-A177-3AD203B41FA5}">
                      <a16:colId xmlns:a16="http://schemas.microsoft.com/office/drawing/2014/main" val="3813364352"/>
                    </a:ext>
                  </a:extLst>
                </a:gridCol>
                <a:gridCol w="3474868">
                  <a:extLst>
                    <a:ext uri="{9D8B030D-6E8A-4147-A177-3AD203B41FA5}">
                      <a16:colId xmlns:a16="http://schemas.microsoft.com/office/drawing/2014/main" val="2182017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Times New Roman"/>
                        </a:defRPr>
                      </a:pPr>
                      <a:r>
                        <a:rPr lang="en-IN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US"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Times New Roman"/>
                        </a:defRPr>
                      </a:pPr>
                      <a:r>
                        <a:rPr lang="en-IN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No.</a:t>
                      </a:r>
                      <a:endParaRPr lang="en-US"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latin typeface="Times New Roman"/>
                        </a:defRPr>
                      </a:pPr>
                      <a:r>
                        <a:rPr lang="en-IN" sz="1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US" sz="1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9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BL.SC.U4AIE24125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K. Harshith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74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BL.SC.U4AIE24162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P. Manideep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9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BL.SC.U4AIE24126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K. Rishvik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97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4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2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Domain Background: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Disciplined personal wealth management requires real-time liquidity oversight, automated recurring accounting, and dynamic threshold alerts.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Limitations of Existing Client Apps: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Most consumer budgeting apps maintain financial logic on the client, risking double-spending, data drift, and network-induced partial transactions.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FinTrack DBMS Philosophy: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FinTrack leverages Oracle Database 19c Enterprise Edition ('ORCLPDB') to execute mission-critical financial accounting directly inside the database tier.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Full ACID Protection: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Guarantees zero fund leakage or balance inconsistency during inter-account transfers via row-level pessimistic locking ('FOR UPDATE') and atomic rollback.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Proactive Database Guardrails: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Automates real-time budget threshold checks using compound triggers, eliminating client polling latency and mutated table exceptions.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In-Database Analytics: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Computes 3-month moving average category expenditure forecasts via SQL analytic window functions without pulling raw datasets into application memory.</a:t>
            </a:r>
          </a:p>
        </p:txBody>
      </p:sp>
    </p:spTree>
    <p:extLst>
      <p:ext uri="{BB962C8B-B14F-4D97-AF65-F5344CB8AC3E}">
        <p14:creationId xmlns:p14="http://schemas.microsoft.com/office/powerpoint/2010/main" val="291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3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1. Lack of ACID Concurrency Safety in Inter-Account Transfers: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Client-side fund transfers execute multi-step HTTP calls (debit account A, credit account B). Failures midway create orphaned funds, and simultaneous requests risk negative balances.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2. Delayed &amp; Passive Budget Enforcement: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Traditional budgeting tools calculate category overruns only after batch data loads. By the time a user views a dashboard, budget limits have already been breached without warning.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3. Manual Overhead for Recurring Obligations: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Users must manually log monthly salaries, recurring utility bills, and subscriptions, leading to omitted records, inaccurate cashflows, and date arithmetic drift across differing month lengths.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4. Data Migration Latency in Spend Forecasting: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Exporting historical transactions to external Python/JS analytics engines causes high network bandwidth consumption, memory overhead, and stale predictive insights.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Project Goal: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Build an enterprise-grade 3NF relational database in Oracle 19c with stored procedures, triggers, cursors, and SQL window functions to solve these issues entirely in-engine.</a:t>
            </a:r>
          </a:p>
        </p:txBody>
      </p:sp>
    </p:spTree>
    <p:extLst>
      <p:ext uri="{BB962C8B-B14F-4D97-AF65-F5344CB8AC3E}">
        <p14:creationId xmlns:p14="http://schemas.microsoft.com/office/powerpoint/2010/main" val="350023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545" y="63163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Literature Survey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4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8A48D845-A724-5505-60C5-936C5F696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983499"/>
              </p:ext>
            </p:extLst>
          </p:nvPr>
        </p:nvGraphicFramePr>
        <p:xfrm>
          <a:off x="167951" y="457324"/>
          <a:ext cx="11064240" cy="5595484"/>
        </p:xfrm>
        <a:graphic>
          <a:graphicData uri="http://schemas.openxmlformats.org/drawingml/2006/table">
            <a:tbl>
              <a:tblPr firstRow="1" bandRow="1">
                <a:tableStyleId>{EEE7283C-3CF3-47DC-8721-378D4A62B228}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73904352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21615248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141654083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901742814"/>
                    </a:ext>
                  </a:extLst>
                </a:gridCol>
              </a:tblGrid>
              <a:tr h="932044"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Times New Roman"/>
                        </a:defRPr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Times New Roman"/>
                        </a:defRPr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Times New Roman"/>
                        </a:defRPr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>
                    <a:solidFill>
                      <a:srgbClr val="AA02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latin typeface="Times New Roman"/>
                        </a:defRPr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>
                    <a:solidFill>
                      <a:srgbClr val="AA0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4861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>
                        <a:defRPr sz="1300" b="1"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Gray, J., &amp; Reuter, A.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(1993)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Transaction Processing: Concepts and Techniques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Morgan Kaufmann Publishers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Formalizes ACID principles, Write-Ahead Logging (WAL), and row-level locking ('SELECT ... FOR UPDATE').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Proves relational engine concurrency control guarantees zero monetary loss and strict serializability in multi-account banking ledgers.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041938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>
                        <a:defRPr sz="1300" b="1"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Codd, E. F. (1970) &amp;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Date, C. J. (2004)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A Relational Model of Data for Large Shared Data Banks / Intro to DB Systems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CACM / Addison-Wesley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Establishes Third Normal Form (3NF) relational normalization and domain check constraints.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Eliminates update, insertion, and deletion anomalies across users, accounts, transactions, and category budgets with foreign key cascade integrity.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041938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>
                        <a:defRPr sz="1300" b="1"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Hyndman, R. J. (2018) &amp;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Oracle Corp.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Forecasting: Principles &amp; Practice / Oracle Database 19c Data Warehousing Guide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OTexts / Oracle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Validates rolling moving average window formulations over time-series cash flows for predictive expenditure budgeting.</a:t>
                      </a:r>
                    </a:p>
                    <a:p>
                      <a:pPr>
                        <a:defRPr sz="1300" b="0">
                          <a:latin typeface="Times New Roman"/>
                        </a:defRPr>
                      </a:pPr>
                      <a:r>
                        <a:t>- Highlights performance gains of running in-engine SQL analytic window functions ('AVG() OVER') over client-side data migration.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041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54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Research Gaps and Challenges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5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Challenge 1: Mutating Table Dilemma in Oracle Triggers (ORA-04091):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In standard row-level triggers, querying 'Transactions' during an insert to check monthly budget limits triggers ORA-04091.
FinTrack Solution: Implemented an Oracle Compound Trigger maintaining state across Before Row and After Statement phases.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Challenge 2: Concurrency &amp; Double-Spending Hazards in Transfers: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Simultaneous transfer requests on the same account can read stale balances, causing overdrafts.
FinTrack Solution: Built PL/SQL stored procedure 'transfer_funds' with explicit row-level locking ('SELECT ... FOR UPDATE') and atomic rollback.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Challenge 3: High Network &amp; Memory Latency in Forecasting: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Pulling raw transactional ledgers to client apps for trend calculation incurs heavy bandwidth and compute overhead.
FinTrack Solution: Native SQL Window Functions ('AVG() OVER (...)') compute 3-month rolling averages in-engine at compiled C speeds.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Challenge 4: Calendar Date Arithmetic for Recurring Payments: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Naive '+30 days' date increments drift across 28, 30, and 31-day months and leap years.
FinTrack Solution: PL/SQL explicit cursor routines utilize Oracle's native 'ADD_MONTHS()' for calendar-accurate billing anniversaries.</a:t>
            </a:r>
          </a:p>
        </p:txBody>
      </p:sp>
    </p:spTree>
    <p:extLst>
      <p:ext uri="{BB962C8B-B14F-4D97-AF65-F5344CB8AC3E}">
        <p14:creationId xmlns:p14="http://schemas.microsoft.com/office/powerpoint/2010/main" val="349985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Design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6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Three-Tier System Architecture: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- Presentation Tier: Responsive Mobile-First UI (Bootstrap 5, Chart.js, HTML5/CSS3).
- Application Tier: Python Flask REST Controller with thin client connection ('python-oracledb').
- Database Tier: Oracle Database 19c Enterprise Edition ('ORCLPDB') hosting schema, triggers, and procedures.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3NF Relational Schema (8 Normalized Entities):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1. Users: Authentication, role constraints ('ADMIN', 'USER'), monthly_salary baseline.
2. Accounts: Multi-account liquidity ('Savings', 'Current', 'Credit', 'Wallet').
3. Categories: Classification ('Income', 'Expense').
4. Transactions: Immutable audit ledger with check constraint ('amount &gt; 0').
5. Budgets: Monthly category spending thresholds with 'UNIQUE (user_id, category_id, month)'.
6. RecurringPayments: Automated billing master with frequency check ('Weekly', 'Monthly', 'Yearly').
7. Predictions: In-database moving average forecast repository.
8. Alerts: Trigger-populated real-time notification queue.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Database Optimization: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B-Tree composite indexing ('idx_txn_acc_date', 'idx_budget_user_month') guaranteeing logarithmic O(log N) query execution.</a:t>
            </a:r>
          </a:p>
        </p:txBody>
      </p:sp>
    </p:spTree>
    <p:extLst>
      <p:ext uri="{BB962C8B-B14F-4D97-AF65-F5344CB8AC3E}">
        <p14:creationId xmlns:p14="http://schemas.microsoft.com/office/powerpoint/2010/main" val="404639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Modules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7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Module 1: User Portfolio &amp; Setup Wizard: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Role-based access (Admin/User), multi-account liquidity tracking (Savings, Current, Credit, Wallet), interactive onboarding setup wizard, and 50/30/20 budget rebalancing.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Module 2: ACID Fund Transfer Engine: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High-concurrency inter-account money transfer procedure ('transfer_funds') featuring row-level locking ('FOR UPDATE'), balance sufficiency checks, and atomic rollback on exception.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Module 3: Autonomous Budget Guardrail &amp; Trigger Engine: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- Trigger 'trg_update_account_balance': Synchronizes account balance on transaction insert/delete.
- Compound Trigger 'trg_check_budget_overrun': Checks cumulative monthly debits against limits and creates alerts in real time.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Module 4: Recurring Bill &amp; Salary Processing Engine: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Automated subscription and salary runner via PL/SQL cursor 'generate_recurring_transactions'. Scans due dates ('TRUNC(next_due_date) &lt;= TRUNC(SYSDATE)'), logs ledger entries, and advances dates via 'ADD_MONTHS()'.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Module 5: Spend Prediction &amp; Analytics Engine: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Computes predictive category spending using 'AVG() OVER (PARTITION BY user_id, category_id ORDER BY month ROWS BETWEEN 2 PRECEDING AND CURRENT ROW)' directly inside Oracle DB.</a:t>
            </a:r>
          </a:p>
        </p:txBody>
      </p:sp>
    </p:spTree>
    <p:extLst>
      <p:ext uri="{BB962C8B-B14F-4D97-AF65-F5344CB8AC3E}">
        <p14:creationId xmlns:p14="http://schemas.microsoft.com/office/powerpoint/2010/main" val="399840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Implementation Details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8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Database Environment: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- Engine: Oracle Database 19c Enterprise Edition Release 19.0.0.0.0 (ORCLPDB PDB)
- Connection: 'python-oracledb' 2.x in pure Python Thin Mode (zero Oracle Client DLL dependencies)
- Port: 1521 | Service: orclpdb | User: FINANCE_USER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Key PL/SQL Stored Objects: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- Stored Procedure 'transfer_funds(from_acc, to_acc, amount, desc, status)': ACID transfer engine.
- Stored Function 'get_monthly_total(user_id, month)': Aggregates total debits for billing cycle.
- Compound Trigger 'trg_check_budget_overrun': Eliminates mutating table error during budget limit checks.
- Cursors: Explicit cursor loop with 'ADD_MONTHS' in 'generate_recurring_transactions'.
- Atomic MERGE: Direct upsert statements synchronizing monthly category budget allocations.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Database Views &amp; Analytical Queries: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- View 'v_budget_vs_actual': Calculates spent percentage and dynamic status ('ON_TRACK', 'WARNING', 'EXCEEDED').
- View 'v_monthly_category_summary': Aggregates categorical spending distribution for Chart.js telemetry.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Times New Roman"/>
              </a:rPr>
              <a:t>Full-Stack Integration: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Python Flask backend with CSRF security, responsive Bootstrap 5 UI, and live tunnel connection.</a:t>
            </a:r>
          </a:p>
        </p:txBody>
      </p:sp>
    </p:spTree>
    <p:extLst>
      <p:ext uri="{BB962C8B-B14F-4D97-AF65-F5344CB8AC3E}">
        <p14:creationId xmlns:p14="http://schemas.microsoft.com/office/powerpoint/2010/main" val="285211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BD9D3-CCA6-B9E3-9FD5-3138BB53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190" y="134185"/>
            <a:ext cx="8577617" cy="31608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References</a:t>
            </a:r>
            <a:endParaRPr lang="en-IN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4754-B439-82E8-5162-661DE8ED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hangingPunct="1"/>
            <a:fld id="{71766878-3199-4EAB-94E7-2D6D11070E14}" type="slidenum">
              <a:rPr lang="en-US" kern="1200">
                <a:solidFill>
                  <a:prstClr val="white"/>
                </a:solidFill>
                <a:latin typeface="Calibri"/>
                <a:ea typeface="+mn-ea"/>
                <a:cs typeface="+mn-cs"/>
              </a:rPr>
              <a:pPr defTabSz="685800" hangingPunct="1"/>
              <a:t>9</a:t>
            </a:fld>
            <a:endParaRPr lang="en-US" kern="1200"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1. Gray, J., &amp; Reuter, A. (1993).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Transaction Processing: Concepts and Techniques. Morgan Kaufmann Publishers, San Mateo, CA.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2. Codd, E. F. (1970).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'A Relational Model of Data for Large Shared Data Banks'. Communications of the ACM, 13(6), pp. 377-387.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3. Date, C. J. (2004).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An Introduction to Database Systems (8th ed.). Addison-Wesley Pearson Education.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4. Silberschatz, A., Korth, H. F., &amp; Sudarshan, S. (2020).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Database System Concepts (7th ed.). McGraw-Hill Education, New York.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5. Hyndman, R. J., &amp; Athanasopoulos, G. (2018).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Forecasting: Principles and Practice (2nd ed.). OTexts: Melbourne, Australia.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Times New Roman"/>
              </a:rPr>
              <a:t>6. Oracle Corporation. (2021). </a:t>
            </a:r>
            <a:r>
              <a:rPr sz="1500" b="0">
                <a:solidFill>
                  <a:srgbClr val="334155"/>
                </a:solidFill>
                <a:latin typeface="Times New Roman"/>
              </a:rPr>
              <a:t>Oracle Database 19c PL/SQL Language Reference &amp; Database Data Warehousing Guide. Oracle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20763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616C1-5C31-73EF-C6D8-3D293F2104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667EDC-3EA5-C3DB-B0B4-74241483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979" y="2398881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/>
              <a:t>          THANK YOU</a:t>
            </a:r>
            <a:endParaRPr lang="en-IN" sz="66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FinTrack Project Deliverables: 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- 3NF Relational Architecture: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Engineered 8 normalized tables with check constraints and foreign key cascade rules on Oracle 19c Enterprise.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- Core Banking PL/SQL Engine: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Offloaded ACID money transfers, compound budget triggers, and recurring bill cursors directly to the database.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- In-Database Predictive Analytics: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Utilized SQL Analytic Window Functions for 3-month rolling average forecasting without external data ETL latency.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- Production Web &amp; Mobile UI: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Responsive Bootstrap 5 dashboard with live cashflow pace, active cycle tracking, and one-click salary credits.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Project GitHub Repository: </a:t>
            </a:r>
            <a:r>
              <a:rPr sz="1600" b="0">
                <a:solidFill>
                  <a:srgbClr val="334155"/>
                </a:solidFill>
                <a:latin typeface="Times New Roman"/>
              </a:rPr>
              <a:t>https://github.com/harshithchowdary999/Fintrack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Questions &amp; Discussion Welcome! </a:t>
            </a:r>
          </a:p>
        </p:txBody>
      </p:sp>
    </p:spTree>
    <p:extLst>
      <p:ext uri="{BB962C8B-B14F-4D97-AF65-F5344CB8AC3E}">
        <p14:creationId xmlns:p14="http://schemas.microsoft.com/office/powerpoint/2010/main" val="13905475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AAC PR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AC PRT Template [Compatibility Mode]" id="{A3D2B74B-B15B-466F-9768-BD91F499C34C}" vid="{0E57DE27-252B-4995-BE16-123377BD3E9E}"/>
    </a:ext>
  </a:extLst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50146</TotalTime>
  <Words>160</Words>
  <Application>Microsoft Office PowerPoint</Application>
  <PresentationFormat>Widescreen</PresentationFormat>
  <Paragraphs>61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Times New Roman</vt:lpstr>
      <vt:lpstr>NAAC PRT Template</vt:lpstr>
      <vt:lpstr>PowerPoint Presentation</vt:lpstr>
      <vt:lpstr>Introduction</vt:lpstr>
      <vt:lpstr>Problem Statement</vt:lpstr>
      <vt:lpstr>Literature Survey</vt:lpstr>
      <vt:lpstr>Research Gaps and Challenges</vt:lpstr>
      <vt:lpstr>Design</vt:lpstr>
      <vt:lpstr>Modules</vt:lpstr>
      <vt:lpstr>Implementation Details</vt:lpstr>
      <vt:lpstr>References</vt:lpstr>
      <vt:lpstr>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Ms. Sreevidya B.</cp:lastModifiedBy>
  <cp:revision>272</cp:revision>
  <dcterms:modified xsi:type="dcterms:W3CDTF">2024-08-30T12:27:17Z</dcterms:modified>
</cp:coreProperties>
</file>