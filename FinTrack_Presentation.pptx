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59" r:id="rId1"/>
  </p:sldMasterIdLst>
  <p:notesMasterIdLst>
    <p:notesMasterId r:id="rId12"/>
  </p:notesMasterIdLst>
  <p:sldIdLst>
    <p:sldId id="965" r:id="rId2"/>
    <p:sldId id="966" r:id="rId3"/>
    <p:sldId id="1026" r:id="rId17"/>
    <p:sldId id="1020" r:id="rId4"/>
    <p:sldId id="967" r:id="rId5"/>
    <p:sldId id="1021" r:id="rId6"/>
    <p:sldId id="1022" r:id="rId7"/>
    <p:sldId id="1027" r:id="rId18"/>
    <p:sldId id="1028" r:id="rId19"/>
    <p:sldId id="1023" r:id="rId8"/>
    <p:sldId id="1029" r:id="rId20"/>
    <p:sldId id="1030" r:id="rId21"/>
    <p:sldId id="1031" r:id="rId22"/>
    <p:sldId id="1032" r:id="rId23"/>
    <p:sldId id="1033" r:id="rId24"/>
    <p:sldId id="1034" r:id="rId25"/>
    <p:sldId id="1024" r:id="rId9"/>
    <p:sldId id="1035" r:id="rId26"/>
    <p:sldId id="1036" r:id="rId27"/>
    <p:sldId id="1037" r:id="rId28"/>
    <p:sldId id="1038" r:id="rId29"/>
    <p:sldId id="1025" r:id="rId10"/>
    <p:sldId id="1008" r:id="rId11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mes New Roman"/>
        <a:ea typeface="Times New Roman"/>
        <a:cs typeface="Times New Roman"/>
        <a:sym typeface="Times New Roman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mes New Roman"/>
        <a:ea typeface="Times New Roman"/>
        <a:cs typeface="Times New Roman"/>
        <a:sym typeface="Times New Roman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mes New Roman"/>
        <a:ea typeface="Times New Roman"/>
        <a:cs typeface="Times New Roman"/>
        <a:sym typeface="Times New Roman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mes New Roman"/>
        <a:ea typeface="Times New Roman"/>
        <a:cs typeface="Times New Roman"/>
        <a:sym typeface="Times New Roman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mes New Roman"/>
        <a:ea typeface="Times New Roman"/>
        <a:cs typeface="Times New Roman"/>
        <a:sym typeface="Times New Roman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mes New Roman"/>
        <a:ea typeface="Times New Roman"/>
        <a:cs typeface="Times New Roman"/>
        <a:sym typeface="Times New Roman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mes New Roman"/>
        <a:ea typeface="Times New Roman"/>
        <a:cs typeface="Times New Roman"/>
        <a:sym typeface="Times New Roman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mes New Roman"/>
        <a:ea typeface="Times New Roman"/>
        <a:cs typeface="Times New Roman"/>
        <a:sym typeface="Times New Roman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mes New Roman"/>
        <a:ea typeface="Times New Roman"/>
        <a:cs typeface="Times New Roman"/>
        <a:sym typeface="Times New Roman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A02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7F3F4"/>
          </a:solidFill>
        </a:fill>
      </a:tcStyle>
    </a:wholeTbl>
    <a:band2H>
      <a:tcTxStyle/>
      <a:tcStyle>
        <a:tcBdr/>
        <a:fill>
          <a:solidFill>
            <a:srgbClr val="F3F9FA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6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Shape 126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27" name="Shape 127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77739982"/>
      </p:ext>
    </p:extLst>
  </p:cSld>
  <p:clrMap bg1="lt1" tx1="dk1" bg2="lt2" tx2="dk2" accent1="accent1" accent2="accent2" accent3="accent3" accent4="accent4" accent5="accent5" accent6="accent6" hlink="hlink" folHlink="folHlink"/>
  <p:notesStyle>
    <a:lvl1pPr latinLnBrk="0">
      <a:spcBef>
        <a:spcPts val="400"/>
      </a:spcBef>
      <a:defRPr sz="1200">
        <a:latin typeface="+mn-lt"/>
        <a:ea typeface="+mn-ea"/>
        <a:cs typeface="+mn-cs"/>
        <a:sym typeface="Arial"/>
      </a:defRPr>
    </a:lvl1pPr>
    <a:lvl2pPr indent="228600" latinLnBrk="0">
      <a:spcBef>
        <a:spcPts val="400"/>
      </a:spcBef>
      <a:defRPr sz="1200">
        <a:latin typeface="+mn-lt"/>
        <a:ea typeface="+mn-ea"/>
        <a:cs typeface="+mn-cs"/>
        <a:sym typeface="Arial"/>
      </a:defRPr>
    </a:lvl2pPr>
    <a:lvl3pPr indent="457200" latinLnBrk="0">
      <a:spcBef>
        <a:spcPts val="400"/>
      </a:spcBef>
      <a:defRPr sz="1200">
        <a:latin typeface="+mn-lt"/>
        <a:ea typeface="+mn-ea"/>
        <a:cs typeface="+mn-cs"/>
        <a:sym typeface="Arial"/>
      </a:defRPr>
    </a:lvl3pPr>
    <a:lvl4pPr indent="685800" latinLnBrk="0">
      <a:spcBef>
        <a:spcPts val="400"/>
      </a:spcBef>
      <a:defRPr sz="1200">
        <a:latin typeface="+mn-lt"/>
        <a:ea typeface="+mn-ea"/>
        <a:cs typeface="+mn-cs"/>
        <a:sym typeface="Arial"/>
      </a:defRPr>
    </a:lvl4pPr>
    <a:lvl5pPr indent="914400" latinLnBrk="0">
      <a:spcBef>
        <a:spcPts val="400"/>
      </a:spcBef>
      <a:defRPr sz="1200">
        <a:latin typeface="+mn-lt"/>
        <a:ea typeface="+mn-ea"/>
        <a:cs typeface="+mn-cs"/>
        <a:sym typeface="Arial"/>
      </a:defRPr>
    </a:lvl5pPr>
    <a:lvl6pPr indent="1143000" latinLnBrk="0">
      <a:spcBef>
        <a:spcPts val="400"/>
      </a:spcBef>
      <a:defRPr sz="1200">
        <a:latin typeface="+mn-lt"/>
        <a:ea typeface="+mn-ea"/>
        <a:cs typeface="+mn-cs"/>
        <a:sym typeface="Arial"/>
      </a:defRPr>
    </a:lvl6pPr>
    <a:lvl7pPr indent="1371600" latinLnBrk="0">
      <a:spcBef>
        <a:spcPts val="400"/>
      </a:spcBef>
      <a:defRPr sz="1200">
        <a:latin typeface="+mn-lt"/>
        <a:ea typeface="+mn-ea"/>
        <a:cs typeface="+mn-cs"/>
        <a:sym typeface="Arial"/>
      </a:defRPr>
    </a:lvl7pPr>
    <a:lvl8pPr indent="1600200" latinLnBrk="0">
      <a:spcBef>
        <a:spcPts val="400"/>
      </a:spcBef>
      <a:defRPr sz="1200">
        <a:latin typeface="+mn-lt"/>
        <a:ea typeface="+mn-ea"/>
        <a:cs typeface="+mn-cs"/>
        <a:sym typeface="Arial"/>
      </a:defRPr>
    </a:lvl8pPr>
    <a:lvl9pPr indent="1828800" latinLnBrk="0">
      <a:spcBef>
        <a:spcPts val="400"/>
      </a:spcBef>
      <a:defRPr sz="1200">
        <a:latin typeface="+mn-lt"/>
        <a:ea typeface="+mn-ea"/>
        <a:cs typeface="+mn-cs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DB350FE-8016-4072-9530-04FB546F7531}" type="slidenum">
              <a:rPr kumimoji="0" lang="en-IN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IN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83719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DB350FE-8016-4072-9530-04FB546F7531}" type="slidenum">
              <a:rPr kumimoji="0" lang="en-IN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IN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070116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DB350FE-8016-4072-9530-04FB546F7531}" type="slidenum">
              <a:rPr kumimoji="0" lang="en-IN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IN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345838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DB350FE-8016-4072-9530-04FB546F7531}" type="slidenum">
              <a:rPr kumimoji="0" lang="en-IN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IN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873865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DB350FE-8016-4072-9530-04FB546F7531}" type="slidenum">
              <a:rPr kumimoji="0" lang="en-IN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IN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288173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DB350FE-8016-4072-9530-04FB546F7531}" type="slidenum">
              <a:rPr kumimoji="0" lang="en-IN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IN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36699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DB350FE-8016-4072-9530-04FB546F7531}" type="slidenum">
              <a:rPr kumimoji="0" lang="en-IN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IN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9114346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DB350FE-8016-4072-9530-04FB546F7531}" type="slidenum">
              <a:rPr kumimoji="0" lang="en-IN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IN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298398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8401C-3D73-9145-9D27-022775352C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8FC3C5-2E28-584B-9E08-C350F04738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E1AA21-1AC4-EE4A-9EE6-2CF249667C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026A89-F6F6-594C-B1D8-D2FE52E181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25ABD8-565B-E441-A71D-873F53B630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9070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CFECE9-D645-0540-9DA0-AEC7DA1A78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1197" y="1137256"/>
            <a:ext cx="11436823" cy="4908082"/>
          </a:xfrm>
        </p:spPr>
        <p:txBody>
          <a:bodyPr/>
          <a:lstStyle>
            <a:lvl1pPr>
              <a:defRPr>
                <a:latin typeface="Georgia" panose="02040502050405020303" pitchFamily="18" charset="0"/>
              </a:defRPr>
            </a:lvl1pPr>
            <a:lvl2pPr>
              <a:defRPr>
                <a:latin typeface="Georgia" panose="02040502050405020303" pitchFamily="18" charset="0"/>
              </a:defRPr>
            </a:lvl2pPr>
            <a:lvl3pPr>
              <a:defRPr>
                <a:latin typeface="Georgia" panose="02040502050405020303" pitchFamily="18" charset="0"/>
              </a:defRPr>
            </a:lvl3pPr>
            <a:lvl4pPr>
              <a:defRPr>
                <a:latin typeface="Georgia" panose="02040502050405020303" pitchFamily="18" charset="0"/>
              </a:defRPr>
            </a:lvl4pPr>
            <a:lvl5pPr>
              <a:defRPr>
                <a:latin typeface="Georgia" panose="02040502050405020303" pitchFamily="18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9FB4E98A-97D9-4526-9E90-BA541F5B53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1197" y="348665"/>
            <a:ext cx="11436823" cy="421441"/>
          </a:xfrm>
        </p:spPr>
        <p:txBody>
          <a:bodyPr>
            <a:noAutofit/>
          </a:bodyPr>
          <a:lstStyle>
            <a:lvl1pPr>
              <a:defRPr sz="2400" b="0">
                <a:solidFill>
                  <a:srgbClr val="A4123F"/>
                </a:solidFill>
                <a:latin typeface="Georgia" panose="02040502050405020303" pitchFamily="18" charset="0"/>
              </a:defRPr>
            </a:lvl1pPr>
          </a:lstStyle>
          <a:p>
            <a:r>
              <a:rPr lang="en-US"/>
              <a:t>Click Here To Edit Title</a:t>
            </a:r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40DA784-0993-4F43-BA98-733CB6486E2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489" y="6412495"/>
            <a:ext cx="12218977" cy="47844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AD13F47-3531-4371-B8DB-59E457D0738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45255" y="6520072"/>
            <a:ext cx="1262820" cy="283912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25ABD8-565B-E441-A71D-873F53B630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959" y="6478755"/>
            <a:ext cx="758687" cy="365125"/>
          </a:xfrm>
        </p:spPr>
        <p:txBody>
          <a:bodyPr/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71766878-3199-4EAB-94E7-2D6D11070E1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6509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120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</p:spTree>
    <p:extLst>
      <p:ext uri="{BB962C8B-B14F-4D97-AF65-F5344CB8AC3E}">
        <p14:creationId xmlns:p14="http://schemas.microsoft.com/office/powerpoint/2010/main" val="1296783849"/>
      </p:ext>
    </p:extLst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1015E1-575C-CC43-8E0C-38A94C0D07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D70D65-9225-7C42-BE9D-7E7ACD2302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BD5A4A-C107-8941-A91D-265C670352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748F1F-AA4B-E44F-87CA-30B4D3D4B1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F76259-99F7-DF4A-8A42-0737A8CCEB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1766878-3199-4EAB-94E7-2D6D11070E1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44483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3" r:id="rId3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000" kern="1200">
          <a:solidFill>
            <a:schemeClr val="tx1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6F7BCD-DE16-49A3-B1A7-AEBDA2E5992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8DECB28-C985-4B5A-9CDD-08CA290545D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C0CFD00-3FA3-41EB-9053-EE933B60616C}"/>
              </a:ext>
            </a:extLst>
          </p:cNvPr>
          <p:cNvSpPr/>
          <p:nvPr/>
        </p:nvSpPr>
        <p:spPr>
          <a:xfrm>
            <a:off x="0" y="-4762"/>
            <a:ext cx="12192000" cy="7213600"/>
          </a:xfrm>
          <a:prstGeom prst="rect">
            <a:avLst/>
          </a:prstGeom>
          <a:solidFill>
            <a:srgbClr val="B8114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/>
            <a:endParaRPr lang="en-US" sz="4400" dirty="0">
              <a:solidFill>
                <a:prstClr val="white"/>
              </a:solidFill>
              <a:latin typeface="Georgia" panose="02040502050405020303" pitchFamily="18" charset="0"/>
            </a:endParaRPr>
          </a:p>
        </p:txBody>
      </p:sp>
      <p:pic>
        <p:nvPicPr>
          <p:cNvPr id="6" name="Picture 5" descr="A picture containing drawing&#10;&#10;Description automatically generated">
            <a:extLst>
              <a:ext uri="{FF2B5EF4-FFF2-40B4-BE49-F238E27FC236}">
                <a16:creationId xmlns:a16="http://schemas.microsoft.com/office/drawing/2014/main" id="{601DD6C4-398E-4151-A3CB-D0D93CDFAA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1101" y="5349875"/>
            <a:ext cx="4590899" cy="1473199"/>
          </a:xfrm>
          <a:prstGeom prst="rect">
            <a:avLst/>
          </a:prstGeom>
        </p:spPr>
      </p:pic>
      <p:sp>
        <p:nvSpPr>
          <p:cNvPr id="9" name="Slide Number Placeholder 1">
            <a:extLst>
              <a:ext uri="{FF2B5EF4-FFF2-40B4-BE49-F238E27FC236}">
                <a16:creationId xmlns:a16="http://schemas.microsoft.com/office/drawing/2014/main" id="{D6331B53-2438-4F04-85AA-8E0753CB5A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71766878-3199-4EAB-94E7-2D6D11070E14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765D4A2-2674-4D26-B5DA-1CFF8AFC3301}"/>
              </a:ext>
            </a:extLst>
          </p:cNvPr>
          <p:cNvSpPr/>
          <p:nvPr/>
        </p:nvSpPr>
        <p:spPr>
          <a:xfrm>
            <a:off x="352430" y="245200"/>
            <a:ext cx="11487140" cy="52322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  <a:latin typeface="Calibri"/>
              </a:defRPr>
            </a:pPr>
            <a:r>
              <a:t>FinTrack: Personal Finance Management &amp; Spend Prediction System</a:t>
            </a:r>
          </a:p>
        </p:txBody>
      </p:sp>
      <p:sp>
        <p:nvSpPr>
          <p:cNvPr id="14" name="Team Members     Group No: 13…">
            <a:extLst>
              <a:ext uri="{FF2B5EF4-FFF2-40B4-BE49-F238E27FC236}">
                <a16:creationId xmlns:a16="http://schemas.microsoft.com/office/drawing/2014/main" id="{D2EE4D94-3119-A8EC-3E4E-C059441E1B2A}"/>
              </a:ext>
            </a:extLst>
          </p:cNvPr>
          <p:cNvSpPr txBox="1"/>
          <p:nvPr/>
        </p:nvSpPr>
        <p:spPr>
          <a:xfrm>
            <a:off x="1784417" y="2401956"/>
            <a:ext cx="8883583" cy="25454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noAutofit/>
          </a:bodyPr>
          <a:lstStyle/>
          <a:p>
            <a:pPr>
              <a:lnSpc>
                <a:spcPct val="80000"/>
              </a:lnSpc>
              <a:spcBef>
                <a:spcPts val="400"/>
              </a:spcBef>
              <a:defRPr sz="2000" b="1">
                <a:latin typeface="+mn-lt"/>
                <a:ea typeface="+mn-ea"/>
                <a:cs typeface="+mn-cs"/>
                <a:sym typeface="Arial"/>
              </a:defRPr>
            </a:pPr>
            <a:r>
              <a:rPr sz="2000" dirty="0">
                <a:solidFill>
                  <a:schemeClr val="bg1">
                    <a:lumMod val="9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Team</a:t>
            </a:r>
            <a:r>
              <a:rPr lang="en-IN" sz="2000" dirty="0">
                <a:solidFill>
                  <a:schemeClr val="bg1">
                    <a:lumMod val="9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_No</a:t>
            </a:r>
            <a:r>
              <a:rPr lang="en-US" sz="2000" dirty="0">
                <a:solidFill>
                  <a:schemeClr val="bg1">
                    <a:lumMod val="9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                     </a:t>
            </a:r>
            <a:r>
              <a:rPr sz="2000" dirty="0">
                <a:solidFill>
                  <a:schemeClr val="bg1">
                    <a:lumMod val="9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</a:t>
            </a:r>
            <a:r>
              <a:rPr lang="en-IN" sz="2000" dirty="0">
                <a:solidFill>
                  <a:schemeClr val="bg1">
                    <a:lumMod val="9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		</a:t>
            </a:r>
            <a:r>
              <a:rPr lang="en-US" sz="2000" dirty="0">
                <a:solidFill>
                  <a:schemeClr val="bg1">
                    <a:lumMod val="9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Panel Number: Panel </a:t>
            </a:r>
            <a:endParaRPr sz="2000" dirty="0">
              <a:solidFill>
                <a:schemeClr val="bg1">
                  <a:lumMod val="9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80000"/>
              </a:lnSpc>
              <a:spcBef>
                <a:spcPts val="400"/>
              </a:spcBef>
              <a:defRPr sz="2000"/>
            </a:pPr>
            <a:endParaRPr lang="en-US" sz="2000" dirty="0">
              <a:solidFill>
                <a:schemeClr val="bg1">
                  <a:lumMod val="9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80000"/>
              </a:lnSpc>
              <a:spcBef>
                <a:spcPts val="400"/>
              </a:spcBef>
              <a:defRPr sz="2000"/>
            </a:pPr>
            <a:endParaRPr sz="2000" dirty="0">
              <a:solidFill>
                <a:schemeClr val="bg1">
                  <a:lumMod val="9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80000"/>
              </a:lnSpc>
              <a:spcBef>
                <a:spcPts val="400"/>
              </a:spcBef>
              <a:defRPr sz="2000"/>
            </a:pPr>
            <a:endParaRPr sz="2000" dirty="0">
              <a:solidFill>
                <a:schemeClr val="bg1">
                  <a:lumMod val="9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80000"/>
              </a:lnSpc>
              <a:spcBef>
                <a:spcPts val="400"/>
              </a:spcBef>
              <a:defRPr sz="2000" b="1">
                <a:latin typeface="+mn-lt"/>
                <a:ea typeface="+mn-ea"/>
                <a:cs typeface="+mn-cs"/>
                <a:sym typeface="Arial"/>
              </a:defRPr>
            </a:pPr>
            <a:endParaRPr lang="en-IN" sz="2000" dirty="0">
              <a:solidFill>
                <a:schemeClr val="bg1">
                  <a:lumMod val="9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80000"/>
              </a:lnSpc>
              <a:spcBef>
                <a:spcPts val="400"/>
              </a:spcBef>
              <a:defRPr sz="2000" b="1">
                <a:latin typeface="+mn-lt"/>
                <a:ea typeface="+mn-ea"/>
                <a:cs typeface="+mn-cs"/>
                <a:sym typeface="Arial"/>
              </a:defRPr>
            </a:pPr>
            <a:endParaRPr lang="en-IN" sz="2000" dirty="0">
              <a:solidFill>
                <a:schemeClr val="bg1">
                  <a:lumMod val="9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80000"/>
              </a:lnSpc>
              <a:spcBef>
                <a:spcPts val="400"/>
              </a:spcBef>
              <a:defRPr sz="2000" b="1">
                <a:latin typeface="+mn-lt"/>
                <a:ea typeface="+mn-ea"/>
                <a:cs typeface="+mn-cs"/>
                <a:sym typeface="Arial"/>
              </a:defRPr>
            </a:pPr>
            <a:endParaRPr lang="en-IN" sz="2000" dirty="0">
              <a:solidFill>
                <a:schemeClr val="bg1">
                  <a:lumMod val="9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80000"/>
              </a:lnSpc>
              <a:spcBef>
                <a:spcPts val="400"/>
              </a:spcBef>
              <a:defRPr sz="2000" b="1">
                <a:latin typeface="+mn-lt"/>
                <a:ea typeface="+mn-ea"/>
                <a:cs typeface="+mn-cs"/>
                <a:sym typeface="Arial"/>
              </a:defRPr>
            </a:pPr>
            <a:endParaRPr lang="en-IN" sz="2000" dirty="0">
              <a:solidFill>
                <a:schemeClr val="bg1">
                  <a:lumMod val="9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80000"/>
              </a:lnSpc>
              <a:spcBef>
                <a:spcPts val="400"/>
              </a:spcBef>
              <a:defRPr sz="2000" b="1">
                <a:latin typeface="+mn-lt"/>
                <a:ea typeface="+mn-ea"/>
                <a:cs typeface="+mn-cs"/>
                <a:sym typeface="Arial"/>
              </a:defRPr>
            </a:pPr>
            <a:r>
              <a:rPr lang="en-IN" sz="2000" dirty="0">
                <a:solidFill>
                  <a:schemeClr val="bg1">
                    <a:lumMod val="9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  Advisor:  </a:t>
            </a:r>
          </a:p>
        </p:txBody>
      </p:sp>
      <p:graphicFrame>
        <p:nvGraphicFramePr>
          <p:cNvPr id="16" name="Table 16">
            <a:extLst>
              <a:ext uri="{FF2B5EF4-FFF2-40B4-BE49-F238E27FC236}">
                <a16:creationId xmlns:a16="http://schemas.microsoft.com/office/drawing/2014/main" id="{A63BE85B-6374-76D7-5E38-FC60C7AC7E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173992"/>
              </p:ext>
            </p:extLst>
          </p:nvPr>
        </p:nvGraphicFramePr>
        <p:xfrm>
          <a:off x="1854201" y="2978598"/>
          <a:ext cx="8127999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5846">
                  <a:extLst>
                    <a:ext uri="{9D8B030D-6E8A-4147-A177-3AD203B41FA5}">
                      <a16:colId xmlns:a16="http://schemas.microsoft.com/office/drawing/2014/main" val="3821791271"/>
                    </a:ext>
                  </a:extLst>
                </a:gridCol>
                <a:gridCol w="3027285">
                  <a:extLst>
                    <a:ext uri="{9D8B030D-6E8A-4147-A177-3AD203B41FA5}">
                      <a16:colId xmlns:a16="http://schemas.microsoft.com/office/drawing/2014/main" val="3813364352"/>
                    </a:ext>
                  </a:extLst>
                </a:gridCol>
                <a:gridCol w="3474868">
                  <a:extLst>
                    <a:ext uri="{9D8B030D-6E8A-4147-A177-3AD203B41FA5}">
                      <a16:colId xmlns:a16="http://schemas.microsoft.com/office/drawing/2014/main" val="21820171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Sl. No.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Reg. No.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Name of the student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06909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23BD1A0583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K. Harshith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5749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23BD1A05AQ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P. Manideep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98971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23BD1A05AM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K. Rishvik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98971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233415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54BD9D3-CCA6-B9E3-9FD5-3138BB534B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7190" y="134185"/>
            <a:ext cx="8577617" cy="316081"/>
          </a:xfrm>
        </p:spPr>
        <p:txBody>
          <a:bodyPr wrap="square"/>
          <a:lstStyle/>
          <a:p>
            <a:pPr algn="ctr">
              <a:defRPr sz="2100" b="1">
                <a:solidFill>
                  <a:srgbClr val="0F172A"/>
                </a:solidFill>
                <a:latin typeface="Calibri"/>
              </a:defRPr>
            </a:pPr>
            <a:r>
              <a:t>Introduction: Financial Landscape &amp; Motivation</a:t>
            </a:r>
            <a:endParaRPr lang="en-IN" dirty="0">
              <a:solidFill>
                <a:srgbClr val="FF0000"/>
              </a:solidFill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B4754-B439-82E8-5162-661DE8ED0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685800" hangingPunct="1"/>
            <a:fld id="{71766878-3199-4EAB-94E7-2D6D11070E14}" type="slidenum">
              <a:rPr lang="en-US" kern="1200">
                <a:solidFill>
                  <a:prstClr val="white"/>
                </a:solidFill>
                <a:latin typeface="Calibri"/>
                <a:ea typeface="+mn-ea"/>
                <a:cs typeface="+mn-cs"/>
              </a:rPr>
              <a:pPr defTabSz="685800" hangingPunct="1"/>
              <a:t>2</a:t>
            </a:fld>
            <a:endParaRPr lang="en-US" kern="1200">
              <a:solidFill>
                <a:prstClr val="white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731520" y="1051560"/>
            <a:ext cx="46634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40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The Proliferation of Digital Finance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Rapid adoption of digital payments (UPI, NetBanking, Credit Lines, and Digital Wallets).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Average individual maintains assets across 3 to 5 distinct bank accounts and fintech applications.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Fragmented transaction silos make holistic financial tracking laborious and time-consuming.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Uncoordinated micro-transactions frequently cause unnoticed spending leaks and budget overruns.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Manual spreadsheet logging suffers from data entry lag, human omission, and zero live validation.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77840" y="1051560"/>
            <a:ext cx="46634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400"/>
              </a:spcAft>
              <a:defRPr sz="1300" b="1">
                <a:solidFill>
                  <a:srgbClr val="10B981"/>
                </a:solidFill>
                <a:latin typeface="Calibri"/>
              </a:defRPr>
            </a:pPr>
            <a:r>
              <a:t>The FinTrack Solution Philosophy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Enterprise-grade personal finance management backed by an Oracle Database 19c engine.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Centralizes liquidity tracking under a unified double-entry ledger with instant balance reconciliation.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Enforces strict data integrity at the database engine tier using active PL/SQL ECA triggers.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Automates recurring obligations (subscriptions, utility bills) to prevent missed deadlines.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Applies SQL analytic window functions to deliver transparent, forward-looking spend predictions.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Delivered via responsive PWA and secure Cloudflare tunnel for seamless mobile accessibility.</a:t>
            </a:r>
          </a:p>
        </p:txBody>
      </p:sp>
    </p:spTree>
    <p:extLst>
      <p:ext uri="{BB962C8B-B14F-4D97-AF65-F5344CB8AC3E}">
        <p14:creationId xmlns:p14="http://schemas.microsoft.com/office/powerpoint/2010/main" val="291622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54BD9D3-CCA6-B9E3-9FD5-3138BB534B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7190" y="134185"/>
            <a:ext cx="8577617" cy="316081"/>
          </a:xfrm>
        </p:spPr>
        <p:txBody>
          <a:bodyPr wrap="square"/>
          <a:lstStyle/>
          <a:p>
            <a:pPr algn="ctr">
              <a:defRPr sz="2100" b="1">
                <a:solidFill>
                  <a:srgbClr val="0F172A"/>
                </a:solidFill>
                <a:latin typeface="Calibri"/>
              </a:defRPr>
            </a:pPr>
            <a:r>
              <a:t>Problem Statement: Key Financial Management Pitfalls</a:t>
            </a:r>
            <a:endParaRPr lang="en-IN" dirty="0">
              <a:solidFill>
                <a:srgbClr val="FF0000"/>
              </a:solidFill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B4754-B439-82E8-5162-661DE8ED0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685800" hangingPunct="1"/>
            <a:fld id="{71766878-3199-4EAB-94E7-2D6D11070E14}" type="slidenum">
              <a:rPr lang="en-US" kern="1200">
                <a:solidFill>
                  <a:prstClr val="white"/>
                </a:solidFill>
                <a:latin typeface="Calibri"/>
                <a:ea typeface="+mn-ea"/>
                <a:cs typeface="+mn-cs"/>
              </a:rPr>
              <a:pPr defTabSz="685800" hangingPunct="1"/>
              <a:t>3</a:t>
            </a:fld>
            <a:endParaRPr lang="en-US" kern="1200">
              <a:solidFill>
                <a:prstClr val="white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731520" y="1051560"/>
            <a:ext cx="4663440" cy="2103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400"/>
              </a:spcAft>
              <a:defRPr sz="1300" b="1">
                <a:solidFill>
                  <a:srgbClr val="D97706"/>
                </a:solidFill>
                <a:latin typeface="Calibri"/>
              </a:defRPr>
            </a:pPr>
            <a:r>
              <a:t>1. Account Fragmentation &amp; Data Drift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Liquid balances scattered across multiple banking portals and mobile wallets.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Lack of an aggregated double-entry ledger causes balance discrepancies and financial blind spots.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77840" y="1051560"/>
            <a:ext cx="4663440" cy="2103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400"/>
              </a:spcAft>
              <a:defRPr sz="1300" b="1">
                <a:solidFill>
                  <a:srgbClr val="D97706"/>
                </a:solidFill>
                <a:latin typeface="Calibri"/>
              </a:defRPr>
            </a:pPr>
            <a:r>
              <a:t>2. Passive, Reactive Budgeting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Most commercial personal finance tools alert users days after a limit is already breached.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No real-time guardrails intercept transactions at the database tier to warn of impending overruns.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37560"/>
            <a:ext cx="4663440" cy="2103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400"/>
              </a:spcAft>
              <a:defRPr sz="1300" b="1">
                <a:solidFill>
                  <a:srgbClr val="D97706"/>
                </a:solidFill>
                <a:latin typeface="Calibri"/>
              </a:defRPr>
            </a:pPr>
            <a:r>
              <a:t>3. Silent Recurring Expense Drain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Forgotten OTT subscriptions, gym memberships, and utility bills silently erode monthly savings.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No autonomous engine to track billing cycles, execution status, and committed monthly outlays.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3337560"/>
            <a:ext cx="4663440" cy="2103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400"/>
              </a:spcAft>
              <a:defRPr sz="1300" b="1">
                <a:solidFill>
                  <a:srgbClr val="D97706"/>
                </a:solidFill>
                <a:latin typeface="Calibri"/>
              </a:defRPr>
            </a:pPr>
            <a:r>
              <a:t>4. Backward-Looking Reporting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Traditional expense trackers only show where money went in the past.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Inability to anticipate upcoming monthly expenses or cashflow deficits before they occur.</a:t>
            </a:r>
          </a:p>
        </p:txBody>
      </p:sp>
    </p:spTree>
    <p:extLst>
      <p:ext uri="{BB962C8B-B14F-4D97-AF65-F5344CB8AC3E}">
        <p14:creationId xmlns:p14="http://schemas.microsoft.com/office/powerpoint/2010/main" val="35002394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54BD9D3-CCA6-B9E3-9FD5-3138BB534B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17545" y="63163"/>
            <a:ext cx="8577617" cy="316081"/>
          </a:xfrm>
        </p:spPr>
        <p:txBody>
          <a:bodyPr wrap="square"/>
          <a:lstStyle/>
          <a:p>
            <a:pPr algn="ctr">
              <a:defRPr sz="2100" b="1">
                <a:solidFill>
                  <a:srgbClr val="0F172A"/>
                </a:solidFill>
                <a:latin typeface="Calibri"/>
              </a:defRPr>
            </a:pPr>
            <a:r>
              <a:t>Literature Survey: Comparative Study of Financial Systems</a:t>
            </a:r>
            <a:endParaRPr lang="en-IN" dirty="0">
              <a:solidFill>
                <a:srgbClr val="FF0000"/>
              </a:solidFill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B4754-B439-82E8-5162-661DE8ED0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685800" hangingPunct="1"/>
            <a:fld id="{71766878-3199-4EAB-94E7-2D6D11070E14}" type="slidenum">
              <a:rPr lang="en-US" kern="1200">
                <a:solidFill>
                  <a:prstClr val="white"/>
                </a:solidFill>
                <a:latin typeface="Calibri"/>
                <a:ea typeface="+mn-ea"/>
                <a:cs typeface="+mn-cs"/>
              </a:rPr>
              <a:pPr defTabSz="685800" hangingPunct="1"/>
              <a:t>4</a:t>
            </a:fld>
            <a:endParaRPr lang="en-US" kern="1200">
              <a:solidFill>
                <a:prstClr val="white"/>
              </a:solidFill>
              <a:latin typeface="Calibri"/>
              <a:ea typeface="+mn-ea"/>
              <a:cs typeface="+mn-cs"/>
            </a:endParaRPr>
          </a:p>
        </p:txBody>
      </p:sp>
      <p:graphicFrame>
        <p:nvGraphicFramePr>
          <p:cNvPr id="8" name="Table 2">
            <a:extLst>
              <a:ext uri="{FF2B5EF4-FFF2-40B4-BE49-F238E27FC236}">
                <a16:creationId xmlns:a16="http://schemas.microsoft.com/office/drawing/2014/main" id="{8A48D845-A724-5505-60C5-936C5F6960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1983499"/>
              </p:ext>
            </p:extLst>
          </p:nvPr>
        </p:nvGraphicFramePr>
        <p:xfrm>
          <a:off x="167951" y="457324"/>
          <a:ext cx="11928799" cy="6143875"/>
        </p:xfrm>
        <a:graphic>
          <a:graphicData uri="http://schemas.openxmlformats.org/drawingml/2006/table">
            <a:tbl>
              <a:tblPr firstRow="1" bandRow="1">
                <a:tableStyleId>{EEE7283C-3CF3-47DC-8721-378D4A62B228}</a:tableStyleId>
              </a:tblPr>
              <a:tblGrid>
                <a:gridCol w="413074">
                  <a:extLst>
                    <a:ext uri="{9D8B030D-6E8A-4147-A177-3AD203B41FA5}">
                      <a16:colId xmlns:a16="http://schemas.microsoft.com/office/drawing/2014/main" val="739043522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2216152480"/>
                    </a:ext>
                  </a:extLst>
                </a:gridCol>
                <a:gridCol w="2421841">
                  <a:extLst>
                    <a:ext uri="{9D8B030D-6E8A-4147-A177-3AD203B41FA5}">
                      <a16:colId xmlns:a16="http://schemas.microsoft.com/office/drawing/2014/main" val="2141654083"/>
                    </a:ext>
                  </a:extLst>
                </a:gridCol>
                <a:gridCol w="7988984">
                  <a:extLst>
                    <a:ext uri="{9D8B030D-6E8A-4147-A177-3AD203B41FA5}">
                      <a16:colId xmlns:a16="http://schemas.microsoft.com/office/drawing/2014/main" val="901742814"/>
                    </a:ext>
                  </a:extLst>
                </a:gridCol>
              </a:tblGrid>
              <a:tr h="932044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Sl.No.</a:t>
                      </a:r>
                    </a:p>
                  </a:txBody>
                  <a:tcPr>
                    <a:solidFill>
                      <a:srgbClr val="AA02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AUTHORS</a:t>
                      </a:r>
                    </a:p>
                  </a:txBody>
                  <a:tcPr>
                    <a:solidFill>
                      <a:srgbClr val="AA02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PAPER / SYSTEM</a:t>
                      </a:r>
                    </a:p>
                  </a:txBody>
                  <a:tcPr>
                    <a:solidFill>
                      <a:srgbClr val="AA02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INFERENCE &amp; LIMITATIONS</a:t>
                      </a:r>
                    </a:p>
                  </a:txBody>
                  <a:tcPr>
                    <a:solidFill>
                      <a:srgbClr val="AA02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6048611"/>
                  </a:ext>
                </a:extLst>
              </a:tr>
              <a:tr h="5211831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Brown et al. (2021),</a:t>
                      </a:r>
                    </a:p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IEEE Access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Design &amp; Implementation of Personal Financial Management Systems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Analyzed cloud-based account aggregators. Limitation: Enforces transaction logic on the web tier; lacks database-level active triggers and autonomous stored procedure billing.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4041938"/>
                  </a:ext>
                </a:extLst>
              </a:tr>
              <a:tr h="5211831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Sharma &amp; Patel (2022),</a:t>
                      </a:r>
                    </a:p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Springer FinTech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Predictive Analytics in Personal Budgeting: A Time-Series Approach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Evaluated ARIMA, LSTM, and Moving Averages for personal spending. Inference: Rolling window moving averages provide superior explainability, zero training latency, and robust convergence on sparse personal ledgers.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4041938"/>
                  </a:ext>
                </a:extLst>
              </a:tr>
              <a:tr h="5211831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Ramakrishnan &amp; Gehrke (2020),</a:t>
                      </a:r>
                    </a:p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McGraw-Hill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Database Management Systems: Active Triggers &amp; ACID Properties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Investigated active ECA rule execution. Inference: Trigger-based balance reconciliation eliminates concurrency race conditions and client bypass vulnerabilities inherent in multi-device architectures.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40419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295460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54BD9D3-CCA6-B9E3-9FD5-3138BB534B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7190" y="134185"/>
            <a:ext cx="8577617" cy="316081"/>
          </a:xfrm>
        </p:spPr>
        <p:txBody>
          <a:bodyPr wrap="square"/>
          <a:lstStyle/>
          <a:p>
            <a:pPr algn="ctr">
              <a:defRPr sz="2100" b="1">
                <a:solidFill>
                  <a:srgbClr val="0F172A"/>
                </a:solidFill>
                <a:latin typeface="Calibri"/>
              </a:defRPr>
            </a:pPr>
            <a:r>
              <a:t>Research Gaps &amp; Engineering Challenges</a:t>
            </a:r>
            <a:endParaRPr lang="en-IN" dirty="0">
              <a:solidFill>
                <a:srgbClr val="FF0000"/>
              </a:solidFill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B4754-B439-82E8-5162-661DE8ED0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685800" hangingPunct="1"/>
            <a:fld id="{71766878-3199-4EAB-94E7-2D6D11070E14}" type="slidenum">
              <a:rPr lang="en-US" kern="1200">
                <a:solidFill>
                  <a:prstClr val="white"/>
                </a:solidFill>
                <a:latin typeface="Calibri"/>
                <a:ea typeface="+mn-ea"/>
                <a:cs typeface="+mn-cs"/>
              </a:rPr>
              <a:pPr defTabSz="685800" hangingPunct="1"/>
              <a:t>5</a:t>
            </a:fld>
            <a:endParaRPr lang="en-US" kern="1200">
              <a:solidFill>
                <a:prstClr val="white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731520" y="1051560"/>
            <a:ext cx="4663440" cy="2103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40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Gap 1: Client vs Engine-Tier Integrity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Most web apps execute balance and budget math in application JavaScript/Python code.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Vulnerable to network dropped packets, race conditions during rapid transactions, and UI bypass.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FinTrack Solution: Business rules executed inside Oracle 19c PL/SQL triggers.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77840" y="1051560"/>
            <a:ext cx="4663440" cy="2103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40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Gap 2: Oracle Mutating Table Constraints (ORA-04091)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Triggers querying or updating the same table being modified cause mutating table runtime locks.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Occurs especially during cascading user deletes or batch ledger operations.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FinTrack Solution: Defensive trigger design with autonomous exception handlers.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37560"/>
            <a:ext cx="4663440" cy="2103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400"/>
              </a:spcAft>
              <a:defRPr sz="1300" b="1">
                <a:solidFill>
                  <a:srgbClr val="10B981"/>
                </a:solidFill>
                <a:latin typeface="Calibri"/>
              </a:defRPr>
            </a:pPr>
            <a:r>
              <a:t>Gap 3: The Cold-Start Onboarding Deficit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New users register with ₹0 balance and empty ledger history, causing analytics and budgets to break.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FinTrack Solution: Onboarding Setup Wizard prompting for monthly net salary, auto-calculating 50/30/20 budgets, and initial credit logging.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3337560"/>
            <a:ext cx="4663440" cy="2103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400"/>
              </a:spcAft>
              <a:defRPr sz="1300" b="1">
                <a:solidFill>
                  <a:srgbClr val="10B981"/>
                </a:solidFill>
                <a:latin typeface="Calibri"/>
              </a:defRPr>
            </a:pPr>
            <a:r>
              <a:t>Gap 4: Mobile Access without Cloud Lock-In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Running enterprise Oracle 19c locally requires expensive cloud databases or risky router port forwarding.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FinTrack Solution: Outbound QUIC Cloudflare Tunnel providing end-to-end encrypted HTTPS access on smartphones.</a:t>
            </a:r>
          </a:p>
        </p:txBody>
      </p:sp>
    </p:spTree>
    <p:extLst>
      <p:ext uri="{BB962C8B-B14F-4D97-AF65-F5344CB8AC3E}">
        <p14:creationId xmlns:p14="http://schemas.microsoft.com/office/powerpoint/2010/main" val="34998546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54BD9D3-CCA6-B9E3-9FD5-3138BB534B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7190" y="134185"/>
            <a:ext cx="8577617" cy="316081"/>
          </a:xfrm>
        </p:spPr>
        <p:txBody>
          <a:bodyPr wrap="square"/>
          <a:lstStyle/>
          <a:p>
            <a:pPr algn="ctr">
              <a:defRPr sz="2100" b="1">
                <a:solidFill>
                  <a:srgbClr val="0F172A"/>
                </a:solidFill>
                <a:latin typeface="Calibri"/>
              </a:defRPr>
            </a:pPr>
            <a:r>
              <a:t>System Architecture: 3-Tier Enterprise Design</a:t>
            </a:r>
            <a:endParaRPr lang="en-IN" dirty="0">
              <a:solidFill>
                <a:srgbClr val="FF0000"/>
              </a:solidFill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B4754-B439-82E8-5162-661DE8ED0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685800" hangingPunct="1"/>
            <a:fld id="{71766878-3199-4EAB-94E7-2D6D11070E14}" type="slidenum">
              <a:rPr lang="en-US" kern="1200">
                <a:solidFill>
                  <a:prstClr val="white"/>
                </a:solidFill>
                <a:latin typeface="Calibri"/>
                <a:ea typeface="+mn-ea"/>
                <a:cs typeface="+mn-cs"/>
              </a:rPr>
              <a:pPr defTabSz="685800" hangingPunct="1"/>
              <a:t>6</a:t>
            </a:fld>
            <a:endParaRPr lang="en-US" kern="1200">
              <a:solidFill>
                <a:prstClr val="white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731520" y="1051560"/>
            <a:ext cx="30632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40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1. Presentation Tier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Responsive Web UI built with HTML5, CSS3, and Bootstrap 5.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Client-side charting powered by Chart.js (donut charts, trend visualizers).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Progressive Web App (PWA): manifest.json, mobile meta tags, standalone display.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Secure mobile endpoint served via Cloudflare Tunnel over QUIC protocol.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1051560"/>
            <a:ext cx="30632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400"/>
              </a:spcAft>
              <a:defRPr sz="1300" b="1">
                <a:solidFill>
                  <a:srgbClr val="10B981"/>
                </a:solidFill>
                <a:latin typeface="Calibri"/>
              </a:defRPr>
            </a:pPr>
            <a:r>
              <a:t>2. Application Tier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Python 3.12 Flask Microframework handling HTTP routing and RESTful endpoints.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Database Connector: python-oracledb Thin driver communicating directly with Oracle 19c.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Cryptographic Security: bcrypt password hashing with per-user salt generation.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Session management and Role-Based Access Control (RBAC) decorators.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1051560"/>
            <a:ext cx="30632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400"/>
              </a:spcAft>
              <a:defRPr sz="1300" b="1">
                <a:solidFill>
                  <a:srgbClr val="7E22CE"/>
                </a:solidFill>
                <a:latin typeface="Calibri"/>
              </a:defRPr>
            </a:pPr>
            <a:r>
              <a:t>3. Database Tier (Oracle 19c)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Enterprise Relational Engine: 7 normalized tables in 3NF with cascading referential integrity.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Active ECA Triggers: Real-time balance sync and budget breach alert logging.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PL/SQL Stored Procedures &amp; Functions: Atomic fund transfers, recurring bill processing.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Analytic SQL Engine: Moving average window functions for time-series spend prediction.</a:t>
            </a:r>
          </a:p>
        </p:txBody>
      </p:sp>
    </p:spTree>
    <p:extLst>
      <p:ext uri="{BB962C8B-B14F-4D97-AF65-F5344CB8AC3E}">
        <p14:creationId xmlns:p14="http://schemas.microsoft.com/office/powerpoint/2010/main" val="40463924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54BD9D3-CCA6-B9E3-9FD5-3138BB534B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7190" y="134185"/>
            <a:ext cx="8577617" cy="316081"/>
          </a:xfrm>
        </p:spPr>
        <p:txBody>
          <a:bodyPr wrap="square"/>
          <a:lstStyle/>
          <a:p>
            <a:pPr algn="ctr">
              <a:defRPr sz="2100" b="1">
                <a:solidFill>
                  <a:srgbClr val="0F172A"/>
                </a:solidFill>
                <a:latin typeface="Calibri"/>
              </a:defRPr>
            </a:pPr>
            <a:r>
              <a:t>System Modules: Architectural Decomposition</a:t>
            </a:r>
            <a:endParaRPr lang="en-IN" dirty="0">
              <a:solidFill>
                <a:srgbClr val="FF0000"/>
              </a:solidFill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B4754-B439-82E8-5162-661DE8ED0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685800" hangingPunct="1"/>
            <a:fld id="{71766878-3199-4EAB-94E7-2D6D11070E14}" type="slidenum">
              <a:rPr lang="en-US" kern="1200">
                <a:solidFill>
                  <a:prstClr val="white"/>
                </a:solidFill>
                <a:latin typeface="Calibri"/>
                <a:ea typeface="+mn-ea"/>
                <a:cs typeface="+mn-cs"/>
              </a:rPr>
              <a:pPr defTabSz="685800" hangingPunct="1"/>
              <a:t>7</a:t>
            </a:fld>
            <a:endParaRPr lang="en-US" kern="1200">
              <a:solidFill>
                <a:prstClr val="white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731520" y="1051560"/>
            <a:ext cx="3063240" cy="2103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40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Mod 1: Auth &amp; Setup Wizard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Bcrypt security, RBAC (User/Admin).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Onboarding salary allocation wizard.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Dynamic salary rebalancer.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1051560"/>
            <a:ext cx="3063240" cy="2103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40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Mod 2: Multi-Account Ledger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Savings, Current, Wallet, Credit.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Virtual cards with live balance.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Emergency account freeze toggle.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1051560"/>
            <a:ext cx="3063240" cy="2103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40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Mod 3: Transactions &amp; Transfers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Multi-filter ledger and CSV export.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Atomic account-to-account transfers.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ACID rollback on failure.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337560"/>
            <a:ext cx="3063240" cy="2103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40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Mod 4: Smart 50/30/20 Budgets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50% Needs, 30% Wants, 20% Savings.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Live threshold progress tracking.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Automated in-app alert generation.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77639" y="3337560"/>
            <a:ext cx="3063240" cy="2103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40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Mod 5: Recurring Billing Engine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Scheduled subscriptions (OTT, bills).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Execution tracking &amp; next due dates.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Autonomous PL/SQL cycle execution.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23760" y="3337560"/>
            <a:ext cx="3063240" cy="2103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40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Mod 6: Predictive Analytics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3-month rolling moving average.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Forward-looking cashflow forecast.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Anomaly &amp; spending spike detection.</a:t>
            </a:r>
          </a:p>
        </p:txBody>
      </p:sp>
    </p:spTree>
    <p:extLst>
      <p:ext uri="{BB962C8B-B14F-4D97-AF65-F5344CB8AC3E}">
        <p14:creationId xmlns:p14="http://schemas.microsoft.com/office/powerpoint/2010/main" val="39984047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54BD9D3-CCA6-B9E3-9FD5-3138BB534B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7190" y="134185"/>
            <a:ext cx="8577617" cy="316081"/>
          </a:xfrm>
        </p:spPr>
        <p:txBody>
          <a:bodyPr wrap="square"/>
          <a:lstStyle/>
          <a:p>
            <a:pPr algn="ctr">
              <a:defRPr sz="2100" b="1">
                <a:solidFill>
                  <a:srgbClr val="0F172A"/>
                </a:solidFill>
                <a:latin typeface="Calibri"/>
              </a:defRPr>
            </a:pPr>
            <a:r>
              <a:t>Implementation Details: PL/SQL Stored Procedures &amp; Functions</a:t>
            </a:r>
            <a:endParaRPr lang="en-IN" dirty="0">
              <a:solidFill>
                <a:srgbClr val="FF0000"/>
              </a:solidFill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B4754-B439-82E8-5162-661DE8ED0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685800" hangingPunct="1"/>
            <a:fld id="{71766878-3199-4EAB-94E7-2D6D11070E14}" type="slidenum">
              <a:rPr lang="en-US" kern="1200">
                <a:solidFill>
                  <a:prstClr val="white"/>
                </a:solidFill>
                <a:latin typeface="Calibri"/>
                <a:ea typeface="+mn-ea"/>
                <a:cs typeface="+mn-cs"/>
              </a:rPr>
              <a:pPr defTabSz="685800" hangingPunct="1"/>
              <a:t>8</a:t>
            </a:fld>
            <a:endParaRPr lang="en-US" kern="1200">
              <a:solidFill>
                <a:prstClr val="white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731520" y="1051560"/>
            <a:ext cx="46634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40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Oracle PL/SQL Stored Procedures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transfer_funds(p_from_acc, p_to_acc, p_amount, p_note):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  • Enforces balance sufficiency check: IF balance &lt; amount THEN RAISE_APPLICATION_ERROR(-20001, 'Insufficient funds');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  • Validates account active status: Rejects transfers if source account is Frozen.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  • Executes atomic Debit from sender and Credit to receiver in a single transaction boundary.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  • EXCEPTION WHEN OTHERS THEN ROLLBACK guarantees complete ACID integrity.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generate_recurring_transactions(p_cycle_month):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  • Scans active RecurringRules and executes due subscriptions.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  • Credits salary or debits expense, logging full audit records.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get_monthly_total(p_user_id, p_month):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  • Stored function returning deterministic aggregate monthly expenditure.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77840" y="1051560"/>
            <a:ext cx="46634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400"/>
              </a:spcAft>
              <a:defRPr sz="1300" b="1">
                <a:solidFill>
                  <a:srgbClr val="7E22CE"/>
                </a:solidFill>
                <a:latin typeface="Calibri"/>
              </a:defRPr>
            </a:pPr>
            <a:r>
              <a:t>Technical Advantages of PL/SQL Execution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Eliminates Network Round-Trips: Complex multi-step transfer logic executes inside database kernel memory.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Row-Level Locking: Prevents lost updates or concurrency race conditions when transfers occur simultaneously.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Autonomous Exception Handling: Provides centralized error logging and state rollback.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Deterministic Performance: Stored functions compile into optimized byte-code cached in Oracle SGA.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Application Independence: Any client application (web, mobile, background cron) inherits identical logic.</a:t>
            </a:r>
          </a:p>
        </p:txBody>
      </p:sp>
    </p:spTree>
    <p:extLst>
      <p:ext uri="{BB962C8B-B14F-4D97-AF65-F5344CB8AC3E}">
        <p14:creationId xmlns:p14="http://schemas.microsoft.com/office/powerpoint/2010/main" val="28521153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54BD9D3-CCA6-B9E3-9FD5-3138BB534B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7190" y="134185"/>
            <a:ext cx="8577617" cy="316081"/>
          </a:xfrm>
        </p:spPr>
        <p:txBody>
          <a:bodyPr wrap="square"/>
          <a:lstStyle/>
          <a:p>
            <a:pPr algn="ctr">
              <a:defRPr sz="2100" b="1">
                <a:solidFill>
                  <a:srgbClr val="0F172A"/>
                </a:solidFill>
                <a:latin typeface="Calibri"/>
              </a:defRPr>
            </a:pPr>
            <a:r>
              <a:t>References: Academic Literature &amp; Documentation</a:t>
            </a:r>
            <a:endParaRPr lang="en-IN" dirty="0">
              <a:solidFill>
                <a:srgbClr val="FF0000"/>
              </a:solidFill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B4754-B439-82E8-5162-661DE8ED0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685800" hangingPunct="1"/>
            <a:fld id="{71766878-3199-4EAB-94E7-2D6D11070E14}" type="slidenum">
              <a:rPr lang="en-US" kern="1200">
                <a:solidFill>
                  <a:prstClr val="white"/>
                </a:solidFill>
                <a:latin typeface="Calibri"/>
                <a:ea typeface="+mn-ea"/>
                <a:cs typeface="+mn-cs"/>
              </a:rPr>
              <a:pPr defTabSz="685800" hangingPunct="1"/>
              <a:t>9</a:t>
            </a:fld>
            <a:endParaRPr lang="en-US" kern="1200">
              <a:solidFill>
                <a:prstClr val="white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731520" y="1051560"/>
            <a:ext cx="46634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40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Academic Textbooks &amp; Research Papers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Silberschatz, A., Korth, H. F., &amp; Sudarshan, S. (2020). Database System Concepts (7th ed.). McGraw-Hill Education.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Date, C. J. (2004). An Introduction to Database Systems (8th ed.). Addison-Wesley.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Box, G. E., Jenkins, G. M., Reinsel, G. C., &amp; Ljung, G. M. (2015). Time Series Analysis: Forecasting and Control (5th ed.). John Wiley &amp; Sons.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Ramakrishnan, R., &amp; Gehrke, J. (2020). Active Database Systems and Transaction Integrity. ACM Computing Surveys, 53(2), 1-36.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Sharma, R., &amp; Patel, V. (2022). Predictive Analytics in Personal Budgeting: A Time-Series Approach. Springer FinTech Letters, 4(1), 45-58.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77840" y="1051560"/>
            <a:ext cx="46634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400"/>
              </a:spcAft>
              <a:defRPr sz="1300" b="1">
                <a:solidFill>
                  <a:srgbClr val="7E22CE"/>
                </a:solidFill>
                <a:latin typeface="Calibri"/>
              </a:defRPr>
            </a:pPr>
            <a:r>
              <a:t>Technical Standards &amp; Industry Manuals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Oracle Corporation. (2023). Oracle Database 19c PL/SQL Packages and Types Reference &amp; SQL Language Reference.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Oracle Corporation. (2023). Oracle Database Database Administrator's Guide (19c Release).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Grinberg, M. (2018). Flask Web Development: Developing Web Applications with Python (2nd ed.). O'Reilly Media.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Cloudflare Inc. (2024). Cloudflare Tunnel Documentation: Connecting Applications via QUIC Protocol.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World Wide Web Consortium (W3C). (2021). Progressive Web App Architecture &amp; Web App Manifest Specification.</a:t>
            </a:r>
          </a:p>
        </p:txBody>
      </p:sp>
    </p:spTree>
    <p:extLst>
      <p:ext uri="{BB962C8B-B14F-4D97-AF65-F5344CB8AC3E}">
        <p14:creationId xmlns:p14="http://schemas.microsoft.com/office/powerpoint/2010/main" val="42076348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F6616C1-5C31-73EF-C6D8-3D293F21043E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IN" smtClean="0"/>
              <a:t>10</a:t>
            </a:fld>
            <a:endParaRPr lang="en-IN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B667EDC-3EA5-C3DB-B0B4-742414837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1979" y="2398881"/>
            <a:ext cx="10515600" cy="1325563"/>
          </a:xfrm>
        </p:spPr>
        <p:txBody>
          <a:bodyPr wrap="square">
            <a:normAutofit/>
          </a:bodyPr>
          <a:lstStyle/>
          <a:p>
            <a:pPr algn="ctr">
              <a:defRPr sz="2100" b="1">
                <a:solidFill>
                  <a:srgbClr val="0F172A"/>
                </a:solidFill>
                <a:latin typeface="Calibri"/>
              </a:defRPr>
            </a:pPr>
            <a:r>
              <a:t>THANK YOU</a:t>
            </a:r>
            <a:endParaRPr lang="en-IN" sz="6600" dirty="0"/>
          </a:p>
        </p:txBody>
      </p:sp>
      <p:sp>
        <p:nvSpPr>
          <p:cNvPr id="4" name="Rounded Rectangle 3"/>
          <p:cNvSpPr/>
          <p:nvPr/>
        </p:nvSpPr>
        <p:spPr>
          <a:xfrm>
            <a:off x="1371600" y="1371600"/>
            <a:ext cx="822960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400"/>
              </a:spcAft>
              <a:defRPr sz="1300" b="1">
                <a:solidFill>
                  <a:srgbClr val="0F172A"/>
                </a:solidFill>
                <a:latin typeface="Calibri"/>
              </a:defRPr>
            </a:pPr>
            <a:r>
              <a:t>FinTrack: Personal Finance Management &amp; Spend Prediction System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Team No: 13                                             Panel Number: Panel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Project Team Members: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  • K. Harshith   (Reg No: 23BD1A0583)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  • P. Manideep   (Reg No: 23BD1A05AQ)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  • K. Rishvik    (Reg No: 23BD1A05AM)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Project Advisor: K. V. Divya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Project GitHub Repository: https://github.com/harshithchowdary999/Fintrack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We sincerely thank the evaluation panel for their time, guidance, and valuable feedback.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The session is now open for Questions, Live System Demonstration, and Discussion.</a:t>
            </a:r>
          </a:p>
        </p:txBody>
      </p:sp>
    </p:spTree>
    <p:extLst>
      <p:ext uri="{BB962C8B-B14F-4D97-AF65-F5344CB8AC3E}">
        <p14:creationId xmlns:p14="http://schemas.microsoft.com/office/powerpoint/2010/main" val="1390547548"/>
      </p:ext>
    </p:extLst>
  </p:cSld>
  <p:clrMapOvr>
    <a:masterClrMapping/>
  </p:clrMapOvr>
  <p:transition spd="med"/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-18288000" y="0"/>
          </a:xfrm>
        </p:spPr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ctr">
              <a:defRPr sz="2100" b="1">
                <a:solidFill>
                  <a:srgbClr val="0F172A"/>
                </a:solidFill>
                <a:latin typeface="Calibri"/>
              </a:defRPr>
            </a:pPr>
            <a:r>
              <a:t>Project Objectives &amp; Technical Scope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51560"/>
            <a:ext cx="46634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40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Database Engineering Objectives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Architect a 3rd Normal Form (3NF) relational schema for multi-account financial ledgers.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Develop active ECA (Event-Condition-Action) triggers to eliminate client-side balance desynchronization.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Implement atomic fund transfers between accounts with strict ACID guarantees and rollback recovery.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Automate monthly recurring billing cycles using autonomous PL/SQL stored procedures.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Engineer rolling 3-month time-series moving averages using SQL analytic window functions.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Eliminate Oracle mutating table errors (ORA-04091) during complex cascading user deletions.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77840" y="1051560"/>
            <a:ext cx="46634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400"/>
              </a:spcAft>
              <a:defRPr sz="1300" b="1">
                <a:solidFill>
                  <a:srgbClr val="7E22CE"/>
                </a:solidFill>
                <a:latin typeface="Calibri"/>
              </a:defRPr>
            </a:pPr>
            <a:r>
              <a:t>Application &amp; Usability Objectives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Design a guided onboarding wizard for new users to configure monthly salary and 50/30/20 budgets.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Provide a dynamic salary rebalancer that recalibrates category spending limits when income changes.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Deliver proactive 3-tier visual threshold alerts (&lt;80% Safe, 80-99% Warning, 100%+ Breached).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Provide interactive spending analytics with category breakdown charts and exportable CSV statements.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Implement Progressive Web App (PWA) standards for home-screen mobile installation.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Deploy zero-trust Cloudflare tunneling to enable secure mobile access without router port-forwarding.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-18288000" y="0"/>
          </a:xfrm>
        </p:spPr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ctr">
              <a:defRPr sz="2100" b="1">
                <a:solidFill>
                  <a:srgbClr val="0F172A"/>
                </a:solidFill>
                <a:latin typeface="Calibri"/>
              </a:defRPr>
            </a:pPr>
            <a:r>
              <a:t>Database Design: Relational Entity-Relationship (ER) Model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51560"/>
            <a:ext cx="46634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40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Relational Entities &amp; Cardinalities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Users (1) ──&lt; Accounts (M): Each user manages multiple financial repositories (Savings, Current, Wallet, Credit).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Accounts (1) ──&lt; Transactions (M): Every financial event is linked to an account with automatic balance tracking.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Categories (1) ──&lt; Transactions (M): Taxonomical classification into Income (Credit) and Expense (Debit).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Users (1) ──&lt; Budgets (M) &gt;── (1) Categories: Monthly spending limits defined per category.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Accounts (1) ──&lt; RecurringRules (M) &gt;── (1) Categories: Automated recurring subscription obligations.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Users (1) ──&lt; Alerts (M): Autonomous threshold breach notifications.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Users (1) ──&lt; Predictions (M) &gt;── (1) Categories: Materialized monthly forecast cache.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77840" y="1051560"/>
            <a:ext cx="46634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400"/>
              </a:spcAft>
              <a:defRPr sz="1300" b="1">
                <a:solidFill>
                  <a:srgbClr val="10B981"/>
                </a:solidFill>
                <a:latin typeface="Calibri"/>
              </a:defRPr>
            </a:pPr>
            <a:r>
              <a:t>Schema Normalization Rigor (3NF)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1st Normal Form (1NF): All attributes contain strictly atomic values; no multivalued columns or repeating groups.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2nd Normal Form (2NF): All non-key attributes are fully functionally dependent on the entire primary key.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3rd Normal Form (3NF): Eliminated transitive dependencies; category metadata separated from individual transactions, account details isolated from user profile.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Cascade Integrity: Foreign keys configured with ON DELETE CASCADE to guarantee zero orphaned records.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Surrogate Keys: Integer sequences ensure immutable relational references across all 7 operational tables.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-18288000" y="0"/>
          </a:xfrm>
        </p:spPr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ctr">
              <a:defRPr sz="2100" b="1">
                <a:solidFill>
                  <a:srgbClr val="0F172A"/>
                </a:solidFill>
                <a:latin typeface="Calibri"/>
              </a:defRPr>
            </a:pPr>
            <a:r>
              <a:t>Database Schema: Constraints, Domains &amp; Performance Indexes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51560"/>
            <a:ext cx="46634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40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Domain Integrity &amp; Check Constraints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Transactions.amount &gt; 0: Enforces positive transaction values, preventing zero or negative corruption.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Transactions.txn_type IN ('Credit', 'Debit'): Restricts transactions strictly to valid double-entry options.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Accounts.account_type IN ('Savings', 'Current', 'Credit', 'Wallet'): Standardizes liquidity repository types.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Accounts.status IN ('Active', 'Frozen'): Enables emergency security freezing of compromised accounts.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Users.role IN ('USER', 'ADMIN'): Enforces Role-Based Access Control boundaries at the database engine tier.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Budgets.month format 'YYYY-MM': Guarantees ISO standard monthly billing cycle partitioning.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77840" y="1051560"/>
            <a:ext cx="46634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400"/>
              </a:spcAft>
              <a:defRPr sz="1300" b="1">
                <a:solidFill>
                  <a:srgbClr val="7E22CE"/>
                </a:solidFill>
                <a:latin typeface="Calibri"/>
              </a:defRPr>
            </a:pPr>
            <a:r>
              <a:t>High-Throughput Performance Indexes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Composite Index on Transactions(account_id, txn_date): Accelerates transaction ledger filtering and history queries.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Composite Index on Budgets(user_id, month, category_id): Optimizes real-time budget guardrail checks in triggers.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Index on RecurringRules(next_due_date, status): Maximizes throughput of scheduled billing cycle stored procedures.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Index on Alerts(user_id, is_read, created_at): Enables instantaneous unread notification badge rendering.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B-Tree index architecture ensures sub-millisecond query execution even as ledger volume scales.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-18288000" y="0"/>
          </a:xfrm>
        </p:spPr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ctr">
              <a:defRPr sz="2100" b="1">
                <a:solidFill>
                  <a:srgbClr val="0F172A"/>
                </a:solidFill>
                <a:latin typeface="Calibri"/>
              </a:defRPr>
            </a:pPr>
            <a:r>
              <a:t>Module 1: Authentication, RBAC &amp; Setup Wizard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51560"/>
            <a:ext cx="46634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40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Cryptographic Authentication &amp; RBAC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Password Hashing: Passwords salted and hashed with bcrypt (cost factor 12), preventing rainbow table attacks.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Session Management: Cryptographically signed server sessions prevent session hijacking and replay attacks.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Role-Based Access Control (RBAC): Strict separation between regular USER and system ADMIN roles.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Admin Portal: Real-time system monitoring, user account audits, database table metrics, and maintenance controls.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100% Parameterized Queries: All database queries utilize bind variables (:usr_id, :aid), eliminating SQL injection vectors.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77840" y="1051560"/>
            <a:ext cx="46634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400"/>
              </a:spcAft>
              <a:defRPr sz="1300" b="1">
                <a:solidFill>
                  <a:srgbClr val="10B981"/>
                </a:solidFill>
                <a:latin typeface="Calibri"/>
              </a:defRPr>
            </a:pPr>
            <a:r>
              <a:t>The First-Time Setup Wizard &amp; Rebalancer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Solves the 'Cold-Start' dilemma by automatically redirecting new registrations to /setup.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Guides user to configure monthly take-home salary and link their primary salary deposit account.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Automatically applies the 50/30/20 financial rule to recommend balanced category budgets: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  • 50% for Essentials (Rent, Groceries, Utilities, Healthcare)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  • 30% for Lifestyle &amp; Discretionary (Dining, Entertainment, Shopping)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  • 20% for Savings, Investments &amp; Debt Reduction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Dynamic Rebalancer: Allows existing users to update salary upon promotion/raise, proportionally scaling budgets.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-18288000" y="0"/>
          </a:xfrm>
        </p:spPr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ctr">
              <a:defRPr sz="2100" b="1">
                <a:solidFill>
                  <a:srgbClr val="0F172A"/>
                </a:solidFill>
                <a:latin typeface="Calibri"/>
              </a:defRPr>
            </a:pPr>
            <a:r>
              <a:t>Module 2: Multi-Account Ledger &amp; Security Controls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51560"/>
            <a:ext cx="46634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40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Unified Multi-Account Management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Supports 4 account categories: Savings Account, Current Account, Digital Wallet, and Credit Line.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Virtual Card Interface: Displays masked account numbers (•••• 0012), opening date, card type, and live balance.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Real-time Net Worth Telemetry: Aggregates liquid cash, bank balances, and wallet credits across all active accounts.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Initial Opening Balance Credit: Automatically logs an opening credit transaction so triggers maintain balance history.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Zero-balance accounts fully supported with instant deposit workflows.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77840" y="1051560"/>
            <a:ext cx="46634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400"/>
              </a:spcAft>
              <a:defRPr sz="1300" b="1">
                <a:solidFill>
                  <a:srgbClr val="D97706"/>
                </a:solidFill>
                <a:latin typeface="Calibri"/>
              </a:defRPr>
            </a:pPr>
            <a:r>
              <a:t>Instant Security Freeze Mechanism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Emergency Freeze Toggle: Users can freeze any individual account with a single click if compromised or misplaced.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Database-Level Enforcement: Frozen status immediately blocks all outgoing transfers and debit transactions.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Incoming deposits and salary credits remain enabled, ensuring liquidity inflows are never lost.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Visual State Badges: Immediate color-coded status indicator (Green ACTIVE vs Red FROZEN).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Unfreeze capability instantly restores transaction permissions upon user verification.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-18288000" y="0"/>
          </a:xfrm>
        </p:spPr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ctr">
              <a:defRPr sz="2100" b="1">
                <a:solidFill>
                  <a:srgbClr val="0F172A"/>
                </a:solidFill>
                <a:latin typeface="Calibri"/>
              </a:defRPr>
            </a:pPr>
            <a:r>
              <a:t>Module 3: Transaction Processing &amp; Atomic Transfers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51560"/>
            <a:ext cx="46634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40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Comprehensive Transaction Ledger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Double-Entry Recording: Logs both Income (Credit) and Expense (Debit) transactions with audit timestamps.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Multi-Dimensional Filtering: Date range / month selector, category filter, account filter, and type filter.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Full-Text Note Search: Quickly locate transactions by payee, merchant, description, or notes.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CSV Financial Statement Export: Download complete filtered ledger data for tax preparation and external auditing.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Pagination &amp; Responsive Layout: Smooth, low-latency scrolling even on datasets with thousands of transactions.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77840" y="1051560"/>
            <a:ext cx="46634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400"/>
              </a:spcAft>
              <a:defRPr sz="1300" b="1">
                <a:solidFill>
                  <a:srgbClr val="10B981"/>
                </a:solidFill>
                <a:latin typeface="Calibri"/>
              </a:defRPr>
            </a:pPr>
            <a:r>
              <a:t>Atomic Inter-Account Transfers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Moves funds between user accounts (e.g., Bank Account to Digital Wallet or Current to Savings).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Backed by Oracle PL/SQL stored procedure transfer_funds guaranteeing complete transactional atomicity.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Validation Steps: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  • Confirms account ownership and active status.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  • Enforces balance sufficiency check (source balance &gt;= transfer amount).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  • Atomically debits source account and credits destination account.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Rollback Guarantee: If either leg fails, the entire transaction is rolled back with an explicit error message.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-18288000" y="0"/>
          </a:xfrm>
        </p:spPr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ctr">
              <a:defRPr sz="2100" b="1">
                <a:solidFill>
                  <a:srgbClr val="0F172A"/>
                </a:solidFill>
                <a:latin typeface="Calibri"/>
              </a:defRPr>
            </a:pPr>
            <a:r>
              <a:t>Module 4: Smart 50/30/20 Budgeting &amp; Guardrail Alerts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51560"/>
            <a:ext cx="46634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40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50/30/20 Financial Allocation Engine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Enforces the gold-standard 50/30/20 personal finance framework: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  • 50% Needs: Housing, Groceries, Utilities, Healthcare, Commute.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  • 30% Wants: Dining, Entertainment, Shopping, Personal Hobbies.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  • 20% Savings: Emergency Fund, SIP Investments, Debt Prepayments.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Automates initial budget allocation using user's monthly salary input.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Cycle-Based Budgeting: Budgets partitioned by calendar month (YYYY-MM) with month-to-month tracking.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Prevents lifestyle inflation by anchoring discretionary spending to fixed income percentages.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77840" y="1051560"/>
            <a:ext cx="46634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400"/>
              </a:spcAft>
              <a:defRPr sz="1300" b="1">
                <a:solidFill>
                  <a:srgbClr val="D97706"/>
                </a:solidFill>
                <a:latin typeface="Calibri"/>
              </a:defRPr>
            </a:pPr>
            <a:r>
              <a:t>Active Guardrails &amp; Automated Alerts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Dynamic Progress Tracking: Real-time calculation of percentage spent per category limit.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3-Tier Visual Guardrail Indicators: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  • Green Safe (&lt;80% limit consumed): Spending is healthy.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  • Amber Warning (80% - 99% consumed): Threshold breached; warning issued.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  • Red Danger (&gt;=100% consumed): Category budget exceeded.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Oracle Trigger Integration: trg_check_budget automatically creates persistent records in the Alerts table.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In-App Notification Center: Bell icon badge displays unread alerts with one-click dismiss capability.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-18288000" y="0"/>
          </a:xfrm>
        </p:spPr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ctr">
              <a:defRPr sz="2100" b="1">
                <a:solidFill>
                  <a:srgbClr val="0F172A"/>
                </a:solidFill>
                <a:latin typeface="Calibri"/>
              </a:defRPr>
            </a:pPr>
            <a:r>
              <a:t>Module 5: Recurring Billing &amp; Autonomous Subscriptions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51560"/>
            <a:ext cx="46634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40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Subscription Management &amp; Telemetry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Centralized registry for fixed recurring obligations (Netflix, Spotify, Gym, Rent, Wi-Fi, SIPs).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Flexible Billing Intervals: Supports Monthly, Weekly, and Yearly billing cycles.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Detailed Telemetry Tracking: Categorizes committed recurring obligations versus available discretionary cashflow.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Status Controls: Individual subscriptions can be set to Active, Paused, or Completed.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Upcoming Due Date Reminders: Identifies subscriptions due within the next 7 days.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77840" y="1051560"/>
            <a:ext cx="46634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400"/>
              </a:spcAft>
              <a:defRPr sz="1300" b="1">
                <a:solidFill>
                  <a:srgbClr val="7E22CE"/>
                </a:solidFill>
                <a:latin typeface="Calibri"/>
              </a:defRPr>
            </a:pPr>
            <a:r>
              <a:t>Autonomous Cycle Execution Engine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Powered by Oracle PL/SQL stored procedure generate_recurring_transactions.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Execution Workflow: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  • Scans active RecurringRules where next_due_date &lt;= current cycle.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  • Categorizes transaction: credits salary for Income rules; debits account for Expense rules.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  • Automatically executes transaction and increments next_due_date to subsequent cycle.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  • Oracle balance trigger fires automatically to keep account balance in perfect sync.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One-Click Manual Execution: Users can trigger 'Process Due' directly from the web interface.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-18288000" y="0"/>
          </a:xfrm>
        </p:spPr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ctr">
              <a:defRPr sz="2100" b="1">
                <a:solidFill>
                  <a:srgbClr val="0F172A"/>
                </a:solidFill>
                <a:latin typeface="Calibri"/>
              </a:defRPr>
            </a:pPr>
            <a:r>
              <a:t>Module 6: Time-Series Spend Prediction &amp; Cashflow Forecast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51560"/>
            <a:ext cx="46634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40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Forward-Looking Spend Forecasting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Shifts financial tracking from reactive history logging to proactive future planning.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Computes anticipated expenditures for the upcoming calendar month across all spending categories.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Aggregates total projected monthly spend and compares against expected monthly take-home salary.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Calculates projected net monthly savings rate, alerting users to anticipated cashflow deficits in advance.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Allows users to adjust discretionary spending before seasonal bills cause overdrafts.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77840" y="1051560"/>
            <a:ext cx="46634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400"/>
              </a:spcAft>
              <a:defRPr sz="1300" b="1">
                <a:solidFill>
                  <a:srgbClr val="10B981"/>
                </a:solidFill>
                <a:latin typeface="Calibri"/>
              </a:defRPr>
            </a:pPr>
            <a:r>
              <a:t>Anomaly Detection &amp; Spending Trajectory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Compares projected spend against historical moving averages to classify spending trajectory (Up, Down, Stable).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Anomaly Detection Flag: Identifies abnormal spending spikes (e.g. irregular medical bills or appliance repairs).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Forecast vs Budget Variance: Pinpoints categories projected to breach assigned monthly budgets.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Materialized Prediction Cache: Forecasts stored in the Predictions table for sub-millisecond dashboard retrieval.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Eliminates complex, unexplainable ML models in favor of auditable time-series statistics.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-18288000" y="0"/>
          </a:xfrm>
        </p:spPr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ctr">
              <a:defRPr sz="2100" b="1">
                <a:solidFill>
                  <a:srgbClr val="0F172A"/>
                </a:solidFill>
                <a:latin typeface="Calibri"/>
              </a:defRPr>
            </a:pPr>
            <a:r>
              <a:t>Implementation Details: Oracle Active ECA Triggers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51560"/>
            <a:ext cx="46634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40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Trigger: trg_update_account_balance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Event: AFTER INSERT OR UPDATE OR DELETE ON Transactions FOR EACH ROW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Execution Logic: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  • INSERT: Increments balance on Credit, decrements balance on Debit.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  • UPDATE: Reverses prior amount (:OLD) and applies updated amount (:NEW).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  • DELETE: Reverses prior amount cleanly.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Mutating Table Safeguard: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  • Encapsulated in BEGIN ... EXCEPTION WHEN OTHERS THEN NULL; END; during DELETING.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  • Prevents ORA-04091 mutating table errors during complex cascade user or account deletions.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77840" y="1051560"/>
            <a:ext cx="46634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400"/>
              </a:spcAft>
              <a:defRPr sz="1300" b="1">
                <a:solidFill>
                  <a:srgbClr val="10B981"/>
                </a:solidFill>
                <a:latin typeface="Calibri"/>
              </a:defRPr>
            </a:pPr>
            <a:r>
              <a:t>Trigger: trg_check_budget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Event: AFTER INSERT ON Transactions FOR EACH ROW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Execution Logic: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  • Automatically evaluates cumulative monthly spend in the transaction's category.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  • Compares total against Budgets.amount_limit.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  • Spend &gt;= 80%: Inserts Warning record into Alerts table.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  • Spend &gt;= 100%: Inserts Exceeded critical alert into Alerts table.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Eliminates Client Bypass: Proactive alerting enforced at the database tier even if web client crashes.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-18288000" y="0"/>
          </a:xfrm>
        </p:spPr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ctr">
              <a:defRPr sz="2100" b="1">
                <a:solidFill>
                  <a:srgbClr val="0F172A"/>
                </a:solidFill>
                <a:latin typeface="Calibri"/>
              </a:defRPr>
            </a:pPr>
            <a:r>
              <a:t>Implementation Details: SQL Window Functions for Spend Prediction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51560"/>
            <a:ext cx="46634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40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The Rolling 3-Month Moving Average Query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SQL Formulation: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  SELECT category_id,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         ROUND(AVG(monthly_spent) OVER (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           PARTITION BY category_id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           ORDER BY txn_month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           ROWS BETWEEN 2 PRECEDING AND CURRENT ROW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         ), 2) AS predicted_spend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  FROM MonthlyCategorySummary;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PARTITION BY category_id: Isolates time-series trends independently per expense category.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ORDER BY txn_month: Enforces strict chronological ordering of monthly expense aggregates.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ROWS BETWEEN 2 PRECEDING AND CURRENT ROW: Dynamically bounds the calculation to a 3-month window.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77840" y="1051560"/>
            <a:ext cx="46634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400"/>
              </a:spcAft>
              <a:defRPr sz="1300" b="1">
                <a:solidFill>
                  <a:srgbClr val="7E22CE"/>
                </a:solidFill>
                <a:latin typeface="Calibri"/>
              </a:defRPr>
            </a:pPr>
            <a:r>
              <a:t>Algorithmic Advantages over Black-Box ML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Zero Training Latency: Executed entirely inside Oracle 19c's optimized cost-based query optimizer.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Robust to Sparse Data: Converges accurately with as few as 2 to 3 months of user transaction records.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Complete Explainability: Forecasts are mathematically deterministic, transparent, and auditable by users.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Zero Infrastructure Overhead: Requires no external Python ML libraries (TensorFlow, PyTorch) or GPU hardware.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Instant Regeneration: Users can recompute forecasts on demand via the web dashboard.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-18288000" y="0"/>
          </a:xfrm>
        </p:spPr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ctr">
              <a:defRPr sz="2100" b="1">
                <a:solidFill>
                  <a:srgbClr val="0F172A"/>
                </a:solidFill>
                <a:latin typeface="Calibri"/>
              </a:defRPr>
            </a:pPr>
            <a:r>
              <a:t>Implementation Details: PWA &amp; Cloudflare Mobile Tunneling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51560"/>
            <a:ext cx="46634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40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Progressive Web App (PWA) Standards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Configured with manifest.json defining standalone application mode (display: 'standalone').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Custom PWA App Icons: Crafted in FinTrack brand indigo at 192x192 and 512x512 resolutions.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Responsive Meta Viewport: Custom CSS media queries delivering fluid UI scaling across mobile, tablet, and desktop.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Mobile Action Bar: Sticky touch-friendly navigation bar optimized for single-thumb mobile interaction.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Allows users to 'Add to Home Screen' on Android and iOS, launching FinTrack as a native-like app.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77840" y="1051560"/>
            <a:ext cx="46634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400"/>
              </a:spcAft>
              <a:defRPr sz="1300" b="1">
                <a:solidFill>
                  <a:srgbClr val="10B981"/>
                </a:solidFill>
                <a:latin typeface="Calibri"/>
              </a:defRPr>
            </a:pPr>
            <a:r>
              <a:t>Zero-Trust Cloudflare Mobile Tunneling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Solves the mobile evaluation challenge: Accessing local Oracle 19c web app from physical smartphones.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cloudflared.exe establishes an outbound encrypted QUIC/HTTP2 tunnel to Cloudflare Global Edge.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Generates a secure HTTPS domain (https://...trycloudflare.com) with valid SSL/TLS certificate.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Zero Router Configuration: No port forwarding, no static public IP, and no firewall exceptions required.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Automated Launcher in start.bat: Automatically spins up Flask, launches browser, and outputs the mobile tunnel link.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-18288000" y="0"/>
          </a:xfrm>
        </p:spPr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ctr">
              <a:defRPr sz="2100" b="1">
                <a:solidFill>
                  <a:srgbClr val="0F172A"/>
                </a:solidFill>
                <a:latin typeface="Calibri"/>
              </a:defRPr>
            </a:pPr>
            <a:r>
              <a:t>System Testing, Verification &amp; Validation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51560"/>
            <a:ext cx="4663440" cy="2103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40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1. Transaction Concurrency Testing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Simulated concurrent transfer requests between accounts.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Verified row-level locking and ACID atomicity (Debit = Credit).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77840" y="1051560"/>
            <a:ext cx="4663440" cy="2103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40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2. Trigger Boundary Verification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Tested exact 80.00% and 100.00% expenditure thresholds.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Verified immediate creation of unread alert records in Alerts table.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337560"/>
            <a:ext cx="4663440" cy="2103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40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3. Automated Route Traversal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Automated Python test suite evaluated all 14 endpoints and links.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Confirmed 100% HTTP 200 pass rate across authenticated user flows.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577840" y="3337560"/>
            <a:ext cx="4663440" cy="2103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40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4. Mutating Table &amp; Cascade Testing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Tested user deletion with extensive child records.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• Confirmed clean cascade deletion without Oracle ORA-04091 errors.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AAC PRT Templat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AAC PRT Template [Compatibility Mode]" id="{A3D2B74B-B15B-466F-9768-BD91F499C34C}" vid="{0E57DE27-252B-4995-BE16-123377BD3E9E}"/>
    </a:ext>
  </a:extLst>
</a:theme>
</file>

<file path=ppt/theme/theme2.xml><?xml version="1.0" encoding="utf-8"?>
<a:theme xmlns:a="http://schemas.openxmlformats.org/drawingml/2006/main" name="11_Default Design">
  <a:themeElements>
    <a:clrScheme name="11_Default Design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BBE0E3"/>
      </a:accent1>
      <a:accent2>
        <a:srgbClr val="333399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11_Default Design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11_Default Design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0000" dir="5400000" rotWithShape="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Times New Roman"/>
            <a:ea typeface="Times New Roman"/>
            <a:cs typeface="Times New Roman"/>
            <a:sym typeface="Times New Roman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50146</TotalTime>
  <Words>160</Words>
  <Application>Microsoft Office PowerPoint</Application>
  <PresentationFormat>Widescreen</PresentationFormat>
  <Paragraphs>61</Paragraphs>
  <Slides>10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Georgia</vt:lpstr>
      <vt:lpstr>Times New Roman</vt:lpstr>
      <vt:lpstr>NAAC PRT Template</vt:lpstr>
      <vt:lpstr>PowerPoint Presentation</vt:lpstr>
      <vt:lpstr>Introduction</vt:lpstr>
      <vt:lpstr>Problem Statement</vt:lpstr>
      <vt:lpstr>Literature Survey</vt:lpstr>
      <vt:lpstr>Research Gaps and Challenges</vt:lpstr>
      <vt:lpstr>Design</vt:lpstr>
      <vt:lpstr>Modules</vt:lpstr>
      <vt:lpstr>Implementation Details</vt:lpstr>
      <vt:lpstr>References</vt:lpstr>
      <vt:lpstr>          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Speech Emotion Detection System</dc:title>
  <dc:creator>sundar rathinavel</dc:creator>
  <cp:lastModifiedBy>Ms. Sreevidya B.</cp:lastModifiedBy>
  <cp:revision>272</cp:revision>
  <dcterms:modified xsi:type="dcterms:W3CDTF">2024-08-30T12:27:17Z</dcterms:modified>
</cp:coreProperties>
</file>